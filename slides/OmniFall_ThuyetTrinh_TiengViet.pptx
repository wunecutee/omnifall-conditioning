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24365C"/>
          </a:solidFill>
          <a:ln/>
        </p:spPr>
      </p:sp>
      <p:sp>
        <p:nvSpPr>
          <p:cNvPr id="3" name="Shape 1"/>
          <p:cNvSpPr/>
          <p:nvPr/>
        </p:nvSpPr>
        <p:spPr>
          <a:xfrm>
            <a:off x="10332720" y="4206240"/>
            <a:ext cx="3291840" cy="3291840"/>
          </a:xfrm>
          <a:prstGeom prst="ellipse">
            <a:avLst/>
          </a:prstGeom>
          <a:solidFill>
            <a:srgbClr val="24365C"/>
          </a:solidFill>
          <a:ln/>
        </p:spPr>
      </p:sp>
      <p:sp>
        <p:nvSpPr>
          <p:cNvPr id="4" name="Text 2"/>
          <p:cNvSpPr txBox="1"/>
          <p:nvPr/>
        </p:nvSpPr>
        <p:spPr>
          <a:xfrm>
            <a:off x="731520" y="1234440"/>
            <a:ext cx="9144000" cy="365760"/>
          </a:xfrm>
          <a:prstGeom prst="rect">
            <a:avLst/>
          </a:prstGeom>
          <a:noFill/>
          <a:ln/>
        </p:spPr>
        <p:txBody>
          <a:bodyPr wrap="square" lIns="0" tIns="0" rIns="0" bIns="0" rtlCol="0" anchor="ctr"/>
          <a:lstStyle/>
          <a:p>
            <a:pPr indent="0" marL="0">
              <a:buNone/>
            </a:pPr>
            <a:r>
              <a:rPr lang="en-US" sz="1400" b="1" spc="200" kern="0" dirty="0">
                <a:solidFill>
                  <a:srgbClr val="2E86AB"/>
                </a:solidFill>
                <a:latin typeface="Calibri" pitchFamily="34" charset="0"/>
                <a:ea typeface="Calibri" pitchFamily="34" charset="-122"/>
                <a:cs typeface="Calibri" pitchFamily="34" charset="-120"/>
              </a:rPr>
              <a:t>ĐỒ ÁN HỌC PHẦN · DEEP LEARNING</a:t>
            </a:r>
            <a:endParaRPr lang="en-US" sz="1400" dirty="0"/>
          </a:p>
        </p:txBody>
      </p:sp>
      <p:sp>
        <p:nvSpPr>
          <p:cNvPr id="5" name="Text 3"/>
          <p:cNvSpPr txBox="1"/>
          <p:nvPr/>
        </p:nvSpPr>
        <p:spPr>
          <a:xfrm>
            <a:off x="685800" y="1691640"/>
            <a:ext cx="10515600" cy="10058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Phân biệt “Ngã cần cấp cứu” và “Nằm nghỉ”</a:t>
            </a:r>
            <a:endParaRPr lang="en-US" sz="4000" dirty="0"/>
          </a:p>
        </p:txBody>
      </p:sp>
      <p:sp>
        <p:nvSpPr>
          <p:cNvPr id="6" name="Text 4"/>
          <p:cNvSpPr txBox="1"/>
          <p:nvPr/>
        </p:nvSpPr>
        <p:spPr>
          <a:xfrm>
            <a:off x="731520" y="2514600"/>
            <a:ext cx="10332720" cy="548640"/>
          </a:xfrm>
          <a:prstGeom prst="rect">
            <a:avLst/>
          </a:prstGeom>
          <a:noFill/>
          <a:ln/>
        </p:spPr>
        <p:txBody>
          <a:bodyPr wrap="square" lIns="0" tIns="0" rIns="0" bIns="0" rtlCol="0" anchor="ctr"/>
          <a:lstStyle/>
          <a:p>
            <a:pPr indent="0" marL="0">
              <a:buNone/>
            </a:pPr>
            <a:r>
              <a:rPr lang="en-US" sz="2400" b="1" dirty="0">
                <a:solidFill>
                  <a:srgbClr val="CADCFC"/>
                </a:solidFill>
                <a:latin typeface="Cambria" pitchFamily="34" charset="0"/>
                <a:ea typeface="Cambria" pitchFamily="34" charset="-122"/>
                <a:cs typeface="Cambria" pitchFamily="34" charset="-120"/>
              </a:rPr>
              <a:t>trong Hệ thống Phát hiện Té ngã bằng Thị giác Máy tính</a:t>
            </a:r>
            <a:endParaRPr lang="en-US" sz="2400" dirty="0"/>
          </a:p>
        </p:txBody>
      </p:sp>
      <p:sp>
        <p:nvSpPr>
          <p:cNvPr id="7" name="Text 5"/>
          <p:cNvSpPr txBox="1"/>
          <p:nvPr/>
        </p:nvSpPr>
        <p:spPr>
          <a:xfrm>
            <a:off x="731520" y="3200400"/>
            <a:ext cx="9692640" cy="640080"/>
          </a:xfrm>
          <a:prstGeom prst="rect">
            <a:avLst/>
          </a:prstGeom>
          <a:noFill/>
          <a:ln/>
        </p:spPr>
        <p:txBody>
          <a:bodyPr wrap="square" lIns="0" tIns="0" rIns="0" bIns="0"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Khai thác cấu trúc nhân quả trong taxonomy hành động (fall→fallen, lie_down→lying) để giải quyết một điểm mù trong benchmark OmniFall</a:t>
            </a:r>
            <a:endParaRPr lang="en-US" sz="1500" dirty="0"/>
          </a:p>
        </p:txBody>
      </p:sp>
      <p:sp>
        <p:nvSpPr>
          <p:cNvPr id="8" name="Shape 6"/>
          <p:cNvSpPr/>
          <p:nvPr/>
        </p:nvSpPr>
        <p:spPr>
          <a:xfrm>
            <a:off x="731520" y="4114800"/>
            <a:ext cx="2148840" cy="502920"/>
          </a:xfrm>
          <a:prstGeom prst="roundRect">
            <a:avLst>
              <a:gd name="adj" fmla="val 18182"/>
            </a:avLst>
          </a:prstGeom>
          <a:solidFill>
            <a:srgbClr val="24365C"/>
          </a:solidFill>
          <a:ln w="19050">
            <a:solidFill>
              <a:srgbClr val="D98E04"/>
            </a:solidFill>
            <a:prstDash val="solid"/>
          </a:ln>
        </p:spPr>
      </p:sp>
      <p:sp>
        <p:nvSpPr>
          <p:cNvPr id="9" name="Text 7"/>
          <p:cNvSpPr txBox="1"/>
          <p:nvPr/>
        </p:nvSpPr>
        <p:spPr>
          <a:xfrm>
            <a:off x="731520" y="4114800"/>
            <a:ext cx="2148840" cy="502920"/>
          </a:xfrm>
          <a:prstGeom prst="rect">
            <a:avLst/>
          </a:prstGeom>
          <a:noFill/>
          <a:ln/>
        </p:spPr>
        <p:txBody>
          <a:bodyPr wrap="square" lIns="0" tIns="0" rIns="0" bIns="0" rtlCol="0" anchor="ctr"/>
          <a:lstStyle/>
          <a:p>
            <a:pPr algn="ctr" indent="0" marL="0">
              <a:buNone/>
            </a:pPr>
            <a:r>
              <a:rPr lang="en-US" sz="1300" b="1" dirty="0">
                <a:solidFill>
                  <a:srgbClr val="D98E04"/>
                </a:solidFill>
                <a:latin typeface="Calibri" pitchFamily="34" charset="0"/>
                <a:ea typeface="Calibri" pitchFamily="34" charset="-122"/>
                <a:cs typeface="Calibri" pitchFamily="34" charset="-120"/>
              </a:rPr>
              <a:t>NGÃ (fall)</a:t>
            </a:r>
            <a:endParaRPr lang="en-US" sz="1300" dirty="0"/>
          </a:p>
        </p:txBody>
      </p:sp>
      <p:sp>
        <p:nvSpPr>
          <p:cNvPr id="10" name="Shape 8"/>
          <p:cNvSpPr/>
          <p:nvPr/>
        </p:nvSpPr>
        <p:spPr>
          <a:xfrm>
            <a:off x="3108960" y="4114800"/>
            <a:ext cx="2148840" cy="502920"/>
          </a:xfrm>
          <a:prstGeom prst="roundRect">
            <a:avLst>
              <a:gd name="adj" fmla="val 18182"/>
            </a:avLst>
          </a:prstGeom>
          <a:solidFill>
            <a:srgbClr val="24365C"/>
          </a:solidFill>
          <a:ln w="19050">
            <a:solidFill>
              <a:srgbClr val="C8213B"/>
            </a:solidFill>
            <a:prstDash val="solid"/>
          </a:ln>
        </p:spPr>
      </p:sp>
      <p:sp>
        <p:nvSpPr>
          <p:cNvPr id="11" name="Text 9"/>
          <p:cNvSpPr txBox="1"/>
          <p:nvPr/>
        </p:nvSpPr>
        <p:spPr>
          <a:xfrm>
            <a:off x="3108960" y="4114800"/>
            <a:ext cx="2148840" cy="502920"/>
          </a:xfrm>
          <a:prstGeom prst="rect">
            <a:avLst/>
          </a:prstGeom>
          <a:noFill/>
          <a:ln/>
        </p:spPr>
        <p:txBody>
          <a:bodyPr wrap="square" lIns="0" tIns="0" rIns="0" bIns="0" rtlCol="0" anchor="ctr"/>
          <a:lstStyle/>
          <a:p>
            <a:pPr algn="ctr" indent="0" marL="0">
              <a:buNone/>
            </a:pPr>
            <a:r>
              <a:rPr lang="en-US" sz="1300" b="1" dirty="0">
                <a:solidFill>
                  <a:srgbClr val="C8213B"/>
                </a:solidFill>
                <a:latin typeface="Calibri" pitchFamily="34" charset="0"/>
                <a:ea typeface="Calibri" pitchFamily="34" charset="-122"/>
                <a:cs typeface="Calibri" pitchFamily="34" charset="-120"/>
              </a:rPr>
              <a:t>FALLEN – khẩn cấp</a:t>
            </a:r>
            <a:endParaRPr lang="en-US" sz="1300" dirty="0"/>
          </a:p>
        </p:txBody>
      </p:sp>
      <p:sp>
        <p:nvSpPr>
          <p:cNvPr id="12" name="Shape 10"/>
          <p:cNvSpPr/>
          <p:nvPr/>
        </p:nvSpPr>
        <p:spPr>
          <a:xfrm>
            <a:off x="5486400" y="4114800"/>
            <a:ext cx="2148840" cy="502920"/>
          </a:xfrm>
          <a:prstGeom prst="roundRect">
            <a:avLst>
              <a:gd name="adj" fmla="val 18182"/>
            </a:avLst>
          </a:prstGeom>
          <a:solidFill>
            <a:srgbClr val="24365C"/>
          </a:solidFill>
          <a:ln w="19050">
            <a:solidFill>
              <a:srgbClr val="2F9E44"/>
            </a:solidFill>
            <a:prstDash val="solid"/>
          </a:ln>
        </p:spPr>
      </p:sp>
      <p:sp>
        <p:nvSpPr>
          <p:cNvPr id="13" name="Text 11"/>
          <p:cNvSpPr txBox="1"/>
          <p:nvPr/>
        </p:nvSpPr>
        <p:spPr>
          <a:xfrm>
            <a:off x="5486400" y="4114800"/>
            <a:ext cx="2148840" cy="502920"/>
          </a:xfrm>
          <a:prstGeom prst="rect">
            <a:avLst/>
          </a:prstGeom>
          <a:noFill/>
          <a:ln/>
        </p:spPr>
        <p:txBody>
          <a:bodyPr wrap="square" lIns="0" tIns="0" rIns="0" bIns="0" rtlCol="0" anchor="ctr"/>
          <a:lstStyle/>
          <a:p>
            <a:pPr algn="ctr" indent="0" marL="0">
              <a:buNone/>
            </a:pPr>
            <a:r>
              <a:rPr lang="en-US" sz="1300" b="1" dirty="0">
                <a:solidFill>
                  <a:srgbClr val="2F9E44"/>
                </a:solidFill>
                <a:latin typeface="Calibri" pitchFamily="34" charset="0"/>
                <a:ea typeface="Calibri" pitchFamily="34" charset="-122"/>
                <a:cs typeface="Calibri" pitchFamily="34" charset="-120"/>
              </a:rPr>
              <a:t>LYING – nghỉ ngơi</a:t>
            </a:r>
            <a:endParaRPr lang="en-US" sz="1300" dirty="0"/>
          </a:p>
        </p:txBody>
      </p:sp>
      <p:sp>
        <p:nvSpPr>
          <p:cNvPr id="14" name="Text 12"/>
          <p:cNvSpPr txBox="1"/>
          <p:nvPr/>
        </p:nvSpPr>
        <p:spPr>
          <a:xfrm>
            <a:off x="731520" y="5989320"/>
            <a:ext cx="10058400" cy="365760"/>
          </a:xfrm>
          <a:prstGeom prst="rect">
            <a:avLst/>
          </a:prstGeom>
          <a:noFill/>
          <a:ln/>
        </p:spPr>
        <p:txBody>
          <a:bodyPr wrap="square" lIns="0" tIns="0" rIns="0" bIns="0" rtlCol="0" anchor="ctr"/>
          <a:lstStyle/>
          <a:p>
            <a:pPr indent="0" marL="0">
              <a:buNone/>
            </a:pPr>
            <a:r>
              <a:rPr lang="en-US" sz="1200" i="1" dirty="0">
                <a:solidFill>
                  <a:srgbClr val="AEB9D4"/>
                </a:solidFill>
                <a:latin typeface="Calibri" pitchFamily="34" charset="0"/>
                <a:ea typeface="Calibri" pitchFamily="34" charset="-122"/>
                <a:cs typeface="Calibri" pitchFamily="34" charset="-120"/>
              </a:rPr>
              <a:t>Ý tưởng → Nghiên cứu liên quan → Quy trình thực hiện → Kết quả → Demo thực tế</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2E86AB"/>
                </a:solidFill>
                <a:latin typeface="Calibri" pitchFamily="34" charset="0"/>
                <a:ea typeface="Calibri" pitchFamily="34" charset="-122"/>
                <a:cs typeface="Calibri" pitchFamily="34" charset="-120"/>
              </a:rPr>
              <a:t>ĐẶT VẤN ĐỀ</a:t>
            </a:r>
            <a:endParaRPr lang="en-US" sz="1300" dirty="0"/>
          </a:p>
        </p:txBody>
      </p:sp>
      <p:sp>
        <p:nvSpPr>
          <p:cNvPr id="3" name="Text 1"/>
          <p:cNvSpPr txBox="1"/>
          <p:nvPr/>
        </p:nvSpPr>
        <p:spPr>
          <a:xfrm>
            <a:off x="548640" y="658368"/>
            <a:ext cx="11064240" cy="82296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Một lỗ hổng nguy hiểm trong hệ thống giám sát té ngã</a:t>
            </a:r>
            <a:endParaRPr lang="en-US" sz="3000" dirty="0"/>
          </a:p>
        </p:txBody>
      </p:sp>
      <p:sp>
        <p:nvSpPr>
          <p:cNvPr id="4" name="Text 2"/>
          <p:cNvSpPr txBox="1"/>
          <p:nvPr/>
        </p:nvSpPr>
        <p:spPr>
          <a:xfrm>
            <a:off x="548640" y="1554480"/>
            <a:ext cx="5303520" cy="640080"/>
          </a:xfrm>
          <a:prstGeom prst="rect">
            <a:avLst/>
          </a:prstGeom>
          <a:noFill/>
          <a:ln/>
        </p:spPr>
        <p:txBody>
          <a:bodyPr wrap="square" lIns="0" tIns="0" rIns="0" bIns="0" rtlCol="0" anchor="ctr"/>
          <a:lstStyle/>
          <a:p>
            <a:pPr indent="0" marL="0">
              <a:buNone/>
            </a:pPr>
            <a:r>
              <a:rPr lang="en-US" sz="2800" b="1" dirty="0">
                <a:solidFill>
                  <a:srgbClr val="2E86AB"/>
                </a:solidFill>
                <a:latin typeface="Cambria" pitchFamily="34" charset="0"/>
                <a:ea typeface="Cambria" pitchFamily="34" charset="-122"/>
                <a:cs typeface="Cambria" pitchFamily="34" charset="-120"/>
              </a:rPr>
              <a:t>727 triệu → 1,5 tỷ</a:t>
            </a:r>
            <a:endParaRPr lang="en-US" sz="2800" dirty="0"/>
          </a:p>
        </p:txBody>
      </p:sp>
      <p:sp>
        <p:nvSpPr>
          <p:cNvPr id="5" name="Text 3"/>
          <p:cNvSpPr txBox="1"/>
          <p:nvPr/>
        </p:nvSpPr>
        <p:spPr>
          <a:xfrm>
            <a:off x="548640" y="2194560"/>
            <a:ext cx="5303520" cy="822960"/>
          </a:xfrm>
          <a:prstGeom prst="rect">
            <a:avLst/>
          </a:prstGeom>
          <a:noFill/>
          <a:ln/>
        </p:spPr>
        <p:txBody>
          <a:bodyPr wrap="square" lIns="0" tIns="0" rIns="0" bIns="0" rtlCol="0" anchor="ctr"/>
          <a:lstStyle/>
          <a:p>
            <a:pPr indent="0" marL="0">
              <a:buNone/>
            </a:pPr>
            <a:r>
              <a:rPr lang="en-US" sz="1300" dirty="0">
                <a:solidFill>
                  <a:srgbClr val="44506B"/>
                </a:solidFill>
                <a:latin typeface="Calibri" pitchFamily="34" charset="0"/>
                <a:ea typeface="Calibri" pitchFamily="34" charset="-122"/>
                <a:cs typeface="Calibri" pitchFamily="34" charset="-120"/>
              </a:rPr>
              <a:t>người từ 65 tuổi trở lên trên toàn cầu, từ 2020 đến dự báo 2050</a:t>
            </a:r>
            <a:endParaRPr lang="en-US" sz="1300" dirty="0"/>
          </a:p>
        </p:txBody>
      </p:sp>
      <p:sp>
        <p:nvSpPr>
          <p:cNvPr id="6" name="Text 4"/>
          <p:cNvSpPr txBox="1"/>
          <p:nvPr/>
        </p:nvSpPr>
        <p:spPr>
          <a:xfrm>
            <a:off x="6126480" y="1554480"/>
            <a:ext cx="5303520" cy="640080"/>
          </a:xfrm>
          <a:prstGeom prst="rect">
            <a:avLst/>
          </a:prstGeom>
          <a:noFill/>
          <a:ln/>
        </p:spPr>
        <p:txBody>
          <a:bodyPr wrap="square" lIns="0" tIns="0" rIns="0" bIns="0" rtlCol="0" anchor="ctr"/>
          <a:lstStyle/>
          <a:p>
            <a:pPr indent="0" marL="0">
              <a:buNone/>
            </a:pPr>
            <a:r>
              <a:rPr lang="en-US" sz="2800" b="1" dirty="0">
                <a:solidFill>
                  <a:srgbClr val="2E86AB"/>
                </a:solidFill>
                <a:latin typeface="Cambria" pitchFamily="34" charset="0"/>
                <a:ea typeface="Cambria" pitchFamily="34" charset="-122"/>
                <a:cs typeface="Cambria" pitchFamily="34" charset="-120"/>
              </a:rPr>
              <a:t>Ngã</a:t>
            </a:r>
            <a:endParaRPr lang="en-US" sz="2800" dirty="0"/>
          </a:p>
        </p:txBody>
      </p:sp>
      <p:sp>
        <p:nvSpPr>
          <p:cNvPr id="7" name="Text 5"/>
          <p:cNvSpPr txBox="1"/>
          <p:nvPr/>
        </p:nvSpPr>
        <p:spPr>
          <a:xfrm>
            <a:off x="6126480" y="2194560"/>
            <a:ext cx="5303520" cy="822960"/>
          </a:xfrm>
          <a:prstGeom prst="rect">
            <a:avLst/>
          </a:prstGeom>
          <a:noFill/>
          <a:ln/>
        </p:spPr>
        <p:txBody>
          <a:bodyPr wrap="square" lIns="0" tIns="0" rIns="0" bIns="0" rtlCol="0" anchor="ctr"/>
          <a:lstStyle/>
          <a:p>
            <a:pPr indent="0" marL="0">
              <a:buNone/>
            </a:pPr>
            <a:r>
              <a:rPr lang="en-US" sz="1300" dirty="0">
                <a:solidFill>
                  <a:srgbClr val="44506B"/>
                </a:solidFill>
                <a:latin typeface="Calibri" pitchFamily="34" charset="0"/>
                <a:ea typeface="Calibri" pitchFamily="34" charset="-122"/>
                <a:cs typeface="Calibri" pitchFamily="34" charset="-120"/>
              </a:rPr>
              <a:t>là nguyên nhân hàng đầu gây chấn thương và tử vong ở người cao tuổi sống một mình</a:t>
            </a:r>
            <a:endParaRPr lang="en-US" sz="1300" dirty="0"/>
          </a:p>
        </p:txBody>
      </p:sp>
      <p:sp>
        <p:nvSpPr>
          <p:cNvPr id="8" name="Text 6"/>
          <p:cNvSpPr txBox="1"/>
          <p:nvPr/>
        </p:nvSpPr>
        <p:spPr>
          <a:xfrm>
            <a:off x="548640" y="3246120"/>
            <a:ext cx="11064240" cy="640080"/>
          </a:xfrm>
          <a:prstGeom prst="rect">
            <a:avLst/>
          </a:prstGeom>
          <a:noFill/>
          <a:ln/>
        </p:spPr>
        <p:txBody>
          <a:bodyPr wrap="square" lIns="0" tIns="0" rIns="0" bIns="0" rtlCol="0" anchor="ctr"/>
          <a:lstStyle/>
          <a:p>
            <a:pPr indent="0" marL="0">
              <a:buNone/>
            </a:pPr>
            <a:r>
              <a:rPr lang="en-US" sz="1450" dirty="0">
                <a:solidFill>
                  <a:srgbClr val="44506B"/>
                </a:solidFill>
                <a:latin typeface="Calibri" pitchFamily="34" charset="0"/>
                <a:ea typeface="Calibri" pitchFamily="34" charset="-122"/>
                <a:cs typeface="Calibri" pitchFamily="34" charset="-120"/>
              </a:rPr>
              <a:t>Hệ thống giám sát camera ngày càng phổ biến trong chăm sóc người cao tuổi — nhưng phần lớn hệ thống phân loại từng đoạn video (segment) MỘT CÁCH ĐỘC LẬP, bỏ qua bối cảnh vừa xảy ra trước đó. Hệ quả:</a:t>
            </a:r>
            <a:endParaRPr lang="en-US" sz="1450" dirty="0"/>
          </a:p>
        </p:txBody>
      </p:sp>
      <p:sp>
        <p:nvSpPr>
          <p:cNvPr id="9" name="Shape 7"/>
          <p:cNvSpPr/>
          <p:nvPr/>
        </p:nvSpPr>
        <p:spPr>
          <a:xfrm>
            <a:off x="548640" y="4069080"/>
            <a:ext cx="5349240" cy="2103120"/>
          </a:xfrm>
          <a:prstGeom prst="roundRect">
            <a:avLst>
              <a:gd name="adj" fmla="val 5217"/>
            </a:avLst>
          </a:prstGeom>
          <a:solidFill>
            <a:srgbClr val="FCEEF0"/>
          </a:solidFill>
          <a:ln/>
        </p:spPr>
      </p:sp>
      <p:sp>
        <p:nvSpPr>
          <p:cNvPr id="10" name="Shape 8"/>
          <p:cNvSpPr/>
          <p:nvPr/>
        </p:nvSpPr>
        <p:spPr>
          <a:xfrm>
            <a:off x="868680" y="4389120"/>
            <a:ext cx="822960" cy="822960"/>
          </a:xfrm>
          <a:prstGeom prst="ellipse">
            <a:avLst/>
          </a:prstGeom>
          <a:solidFill>
            <a:srgbClr val="C8213B"/>
          </a:solidFill>
          <a:ln/>
        </p:spPr>
      </p:sp>
      <p:sp>
        <p:nvSpPr>
          <p:cNvPr id="11" name="Text 9"/>
          <p:cNvSpPr txBox="1"/>
          <p:nvPr/>
        </p:nvSpPr>
        <p:spPr>
          <a:xfrm>
            <a:off x="868680" y="438912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12" name="Text 10"/>
          <p:cNvSpPr txBox="1"/>
          <p:nvPr/>
        </p:nvSpPr>
        <p:spPr>
          <a:xfrm>
            <a:off x="1874520" y="4343400"/>
            <a:ext cx="3840480" cy="365760"/>
          </a:xfrm>
          <a:prstGeom prst="rect">
            <a:avLst/>
          </a:prstGeom>
          <a:noFill/>
          <a:ln/>
        </p:spPr>
        <p:txBody>
          <a:bodyPr wrap="square" lIns="0" tIns="0" rIns="0" bIns="0" rtlCol="0" anchor="ctr"/>
          <a:lstStyle/>
          <a:p>
            <a:pPr indent="0" marL="0">
              <a:buNone/>
            </a:pPr>
            <a:r>
              <a:rPr lang="en-US" sz="1600" b="1" dirty="0">
                <a:solidFill>
                  <a:srgbClr val="C8213B"/>
                </a:solidFill>
                <a:latin typeface="Cambria" pitchFamily="34" charset="0"/>
                <a:ea typeface="Cambria" pitchFamily="34" charset="-122"/>
                <a:cs typeface="Cambria" pitchFamily="34" charset="-120"/>
              </a:rPr>
              <a:t>Bỏ sót “fallen” thật</a:t>
            </a:r>
            <a:endParaRPr lang="en-US" sz="1600" dirty="0"/>
          </a:p>
        </p:txBody>
      </p:sp>
      <p:sp>
        <p:nvSpPr>
          <p:cNvPr id="13" name="Text 11"/>
          <p:cNvSpPr txBox="1"/>
          <p:nvPr/>
        </p:nvSpPr>
        <p:spPr>
          <a:xfrm>
            <a:off x="1874520" y="4800600"/>
            <a:ext cx="3840480" cy="822960"/>
          </a:xfrm>
          <a:prstGeom prst="rect">
            <a:avLst/>
          </a:prstGeom>
          <a:noFill/>
          <a:ln/>
        </p:spPr>
        <p:txBody>
          <a:bodyPr wrap="square" lIns="0" tIns="0" rIns="0" bIns="0" rtlCol="0" anchor="ctr"/>
          <a:lstStyle/>
          <a:p>
            <a:pPr indent="0" marL="0">
              <a:buNone/>
            </a:pPr>
            <a:r>
              <a:rPr lang="en-US" sz="1300" dirty="0">
                <a:solidFill>
                  <a:srgbClr val="44506B"/>
                </a:solidFill>
                <a:latin typeface="Calibri" pitchFamily="34" charset="0"/>
                <a:ea typeface="Calibri" pitchFamily="34" charset="-122"/>
                <a:cs typeface="Calibri" pitchFamily="34" charset="-120"/>
              </a:rPr>
              <a:t>Nhầm người vừa ngã thành “đang nằm nghỉ” → bỏ lỡ thời gian vàng cấp cứu.</a:t>
            </a:r>
            <a:endParaRPr lang="en-US" sz="1300" dirty="0"/>
          </a:p>
        </p:txBody>
      </p:sp>
      <p:sp>
        <p:nvSpPr>
          <p:cNvPr id="14" name="Shape 12"/>
          <p:cNvSpPr/>
          <p:nvPr/>
        </p:nvSpPr>
        <p:spPr>
          <a:xfrm>
            <a:off x="6263640" y="4069080"/>
            <a:ext cx="5349240" cy="2103120"/>
          </a:xfrm>
          <a:prstGeom prst="roundRect">
            <a:avLst>
              <a:gd name="adj" fmla="val 5217"/>
            </a:avLst>
          </a:prstGeom>
          <a:solidFill>
            <a:srgbClr val="FFF6E5"/>
          </a:solidFill>
          <a:ln/>
        </p:spPr>
      </p:sp>
      <p:sp>
        <p:nvSpPr>
          <p:cNvPr id="15" name="Shape 13"/>
          <p:cNvSpPr/>
          <p:nvPr/>
        </p:nvSpPr>
        <p:spPr>
          <a:xfrm>
            <a:off x="6583680" y="4389120"/>
            <a:ext cx="822960" cy="822960"/>
          </a:xfrm>
          <a:prstGeom prst="ellipse">
            <a:avLst/>
          </a:prstGeom>
          <a:solidFill>
            <a:srgbClr val="D98E04"/>
          </a:solidFill>
          <a:ln/>
        </p:spPr>
      </p:sp>
      <p:sp>
        <p:nvSpPr>
          <p:cNvPr id="16" name="Text 14"/>
          <p:cNvSpPr txBox="1"/>
          <p:nvPr/>
        </p:nvSpPr>
        <p:spPr>
          <a:xfrm>
            <a:off x="6583680" y="438912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17" name="Text 15"/>
          <p:cNvSpPr txBox="1"/>
          <p:nvPr/>
        </p:nvSpPr>
        <p:spPr>
          <a:xfrm>
            <a:off x="7589520" y="4343400"/>
            <a:ext cx="3840480" cy="365760"/>
          </a:xfrm>
          <a:prstGeom prst="rect">
            <a:avLst/>
          </a:prstGeom>
          <a:noFill/>
          <a:ln/>
        </p:spPr>
        <p:txBody>
          <a:bodyPr wrap="square" lIns="0" tIns="0" rIns="0" bIns="0" rtlCol="0" anchor="ctr"/>
          <a:lstStyle/>
          <a:p>
            <a:pPr indent="0" marL="0">
              <a:buNone/>
            </a:pPr>
            <a:r>
              <a:rPr lang="en-US" sz="1600" b="1" dirty="0">
                <a:solidFill>
                  <a:srgbClr val="D98E04"/>
                </a:solidFill>
                <a:latin typeface="Cambria" pitchFamily="34" charset="0"/>
                <a:ea typeface="Cambria" pitchFamily="34" charset="-122"/>
                <a:cs typeface="Cambria" pitchFamily="34" charset="-120"/>
              </a:rPr>
              <a:t>Báo động giả liên tục</a:t>
            </a:r>
            <a:endParaRPr lang="en-US" sz="1600" dirty="0"/>
          </a:p>
        </p:txBody>
      </p:sp>
      <p:sp>
        <p:nvSpPr>
          <p:cNvPr id="18" name="Text 16"/>
          <p:cNvSpPr txBox="1"/>
          <p:nvPr/>
        </p:nvSpPr>
        <p:spPr>
          <a:xfrm>
            <a:off x="7589520" y="4800600"/>
            <a:ext cx="3840480" cy="822960"/>
          </a:xfrm>
          <a:prstGeom prst="rect">
            <a:avLst/>
          </a:prstGeom>
          <a:noFill/>
          <a:ln/>
        </p:spPr>
        <p:txBody>
          <a:bodyPr wrap="square" lIns="0" tIns="0" rIns="0" bIns="0" rtlCol="0" anchor="ctr"/>
          <a:lstStyle/>
          <a:p>
            <a:pPr indent="0" marL="0">
              <a:buNone/>
            </a:pPr>
            <a:r>
              <a:rPr lang="en-US" sz="1300" dirty="0">
                <a:solidFill>
                  <a:srgbClr val="44506B"/>
                </a:solidFill>
                <a:latin typeface="Calibri" pitchFamily="34" charset="0"/>
                <a:ea typeface="Calibri" pitchFamily="34" charset="-122"/>
                <a:cs typeface="Calibri" pitchFamily="34" charset="-120"/>
              </a:rPr>
              <a:t>Nhầm người đang nằm nghỉ bình thường thành “fallen” → người dùng mất niềm tin, tắt hệ thống.</a:t>
            </a:r>
            <a:endParaRPr lang="en-US" sz="1300" dirty="0"/>
          </a:p>
        </p:txBody>
      </p:sp>
      <p:sp>
        <p:nvSpPr>
          <p:cNvPr id="19" name="Text 17"/>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A0A8BD"/>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2E86AB"/>
                </a:solidFill>
                <a:latin typeface="Calibri" pitchFamily="34" charset="0"/>
                <a:ea typeface="Calibri" pitchFamily="34" charset="-122"/>
                <a:cs typeface="Calibri" pitchFamily="34" charset="-120"/>
              </a:rPr>
              <a:t>Ý TƯỞNG</a:t>
            </a:r>
            <a:endParaRPr lang="en-US" sz="1300" dirty="0"/>
          </a:p>
        </p:txBody>
      </p:sp>
      <p:sp>
        <p:nvSpPr>
          <p:cNvPr id="3" name="Text 1"/>
          <p:cNvSpPr txBox="1"/>
          <p:nvPr/>
        </p:nvSpPr>
        <p:spPr>
          <a:xfrm>
            <a:off x="548640" y="658368"/>
            <a:ext cx="11064240" cy="82296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Trạng thái tĩnh “thừa hưởng” ý nghĩa từ hành động trước đó</a:t>
            </a:r>
            <a:endParaRPr lang="en-US" sz="3000" dirty="0"/>
          </a:p>
        </p:txBody>
      </p:sp>
      <p:sp>
        <p:nvSpPr>
          <p:cNvPr id="4" name="Text 2"/>
          <p:cNvSpPr txBox="1"/>
          <p:nvPr/>
        </p:nvSpPr>
        <p:spPr>
          <a:xfrm>
            <a:off x="548640" y="1463040"/>
            <a:ext cx="10789920" cy="594360"/>
          </a:xfrm>
          <a:prstGeom prst="rect">
            <a:avLst/>
          </a:prstGeom>
          <a:noFill/>
          <a:ln/>
        </p:spPr>
        <p:txBody>
          <a:bodyPr wrap="square" lIns="0" tIns="0" rIns="0" bIns="0" rtlCol="0" anchor="ctr"/>
          <a:lstStyle/>
          <a:p>
            <a:pPr indent="0" marL="0">
              <a:buNone/>
            </a:pPr>
            <a:r>
              <a:rPr lang="en-US" sz="1500" dirty="0">
                <a:solidFill>
                  <a:srgbClr val="44506B"/>
                </a:solidFill>
                <a:latin typeface="Calibri" pitchFamily="34" charset="0"/>
                <a:ea typeface="Calibri" pitchFamily="34" charset="-122"/>
                <a:cs typeface="Calibri" pitchFamily="34" charset="-120"/>
              </a:rPr>
              <a:t>Quan sát: bản thân taxonomy 10 lớp của OmniFall đã mã hoá sẵn mối liên hệ nhân quả — một hành động chuyển tiếp (transient) luôn xảy ra NGAY TRƯỚC trạng thái tĩnh (static) tương ứng của nó.</a:t>
            </a:r>
            <a:endParaRPr lang="en-US" sz="1500" dirty="0"/>
          </a:p>
        </p:txBody>
      </p:sp>
      <p:sp>
        <p:nvSpPr>
          <p:cNvPr id="5" name="Shape 3"/>
          <p:cNvSpPr/>
          <p:nvPr/>
        </p:nvSpPr>
        <p:spPr>
          <a:xfrm>
            <a:off x="1097280" y="2331720"/>
            <a:ext cx="2103120" cy="777240"/>
          </a:xfrm>
          <a:prstGeom prst="roundRect">
            <a:avLst>
              <a:gd name="adj" fmla="val 11765"/>
            </a:avLst>
          </a:prstGeom>
          <a:solidFill>
            <a:srgbClr val="E8EDF7"/>
          </a:solidFill>
          <a:ln w="12700">
            <a:solidFill>
              <a:srgbClr val="2E86AB"/>
            </a:solidFill>
            <a:prstDash val="solid"/>
          </a:ln>
        </p:spPr>
      </p:sp>
      <p:sp>
        <p:nvSpPr>
          <p:cNvPr id="6" name="Text 4"/>
          <p:cNvSpPr txBox="1"/>
          <p:nvPr/>
        </p:nvSpPr>
        <p:spPr>
          <a:xfrm>
            <a:off x="1097280" y="2331720"/>
            <a:ext cx="2103120" cy="777240"/>
          </a:xfrm>
          <a:prstGeom prst="rect">
            <a:avLst/>
          </a:prstGeom>
          <a:noFill/>
          <a:ln/>
        </p:spPr>
        <p:txBody>
          <a:bodyPr wrap="square" lIns="0" tIns="0" rIns="0" bIns="0" rtlCol="0" anchor="ctr"/>
          <a:lstStyle/>
          <a:p>
            <a:pPr algn="ctr" indent="0" marL="0">
              <a:buNone/>
            </a:pPr>
            <a:r>
              <a:rPr lang="en-US" sz="1500" b="1" dirty="0">
                <a:solidFill>
                  <a:srgbClr val="1B2A4A"/>
                </a:solidFill>
                <a:latin typeface="Calibri" pitchFamily="34" charset="0"/>
                <a:ea typeface="Calibri" pitchFamily="34" charset="-122"/>
                <a:cs typeface="Calibri" pitchFamily="34" charset="-120"/>
              </a:rPr>
              <a:t>fall (ngã)</a:t>
            </a:r>
            <a:endParaRPr lang="en-US" sz="1500" dirty="0"/>
          </a:p>
        </p:txBody>
      </p:sp>
      <p:sp>
        <p:nvSpPr>
          <p:cNvPr id="7" name="Text 5"/>
          <p:cNvSpPr txBox="1"/>
          <p:nvPr/>
        </p:nvSpPr>
        <p:spPr>
          <a:xfrm>
            <a:off x="1097280" y="3136392"/>
            <a:ext cx="2103120" cy="274320"/>
          </a:xfrm>
          <a:prstGeom prst="rect">
            <a:avLst/>
          </a:prstGeom>
          <a:noFill/>
          <a:ln/>
        </p:spPr>
        <p:txBody>
          <a:bodyPr wrap="square" lIns="0" tIns="0" rIns="0" bIns="0" rtlCol="0" anchor="ctr"/>
          <a:lstStyle/>
          <a:p>
            <a:pPr algn="ctr" indent="0" marL="0">
              <a:buNone/>
            </a:pPr>
            <a:r>
              <a:rPr lang="en-US" sz="1050" i="1" dirty="0">
                <a:solidFill>
                  <a:srgbClr val="44506B"/>
                </a:solidFill>
                <a:latin typeface="Calibri" pitchFamily="34" charset="0"/>
                <a:ea typeface="Calibri" pitchFamily="34" charset="-122"/>
                <a:cs typeface="Calibri" pitchFamily="34" charset="-120"/>
              </a:rPr>
              <a:t>hành động chuyển tiếp</a:t>
            </a:r>
            <a:endParaRPr lang="en-US" sz="1050" dirty="0"/>
          </a:p>
        </p:txBody>
      </p:sp>
      <p:sp>
        <p:nvSpPr>
          <p:cNvPr id="8" name="Shape 6"/>
          <p:cNvSpPr/>
          <p:nvPr/>
        </p:nvSpPr>
        <p:spPr>
          <a:xfrm>
            <a:off x="3337560" y="2592324"/>
            <a:ext cx="1188720" cy="256032"/>
          </a:xfrm>
          <a:prstGeom prst="rightArrow">
            <a:avLst/>
          </a:prstGeom>
          <a:solidFill>
            <a:srgbClr val="C8213B"/>
          </a:solidFill>
          <a:ln/>
        </p:spPr>
      </p:sp>
      <p:sp>
        <p:nvSpPr>
          <p:cNvPr id="9" name="Shape 7"/>
          <p:cNvSpPr/>
          <p:nvPr/>
        </p:nvSpPr>
        <p:spPr>
          <a:xfrm>
            <a:off x="4663440" y="2331720"/>
            <a:ext cx="2103120" cy="777240"/>
          </a:xfrm>
          <a:prstGeom prst="roundRect">
            <a:avLst>
              <a:gd name="adj" fmla="val 11765"/>
            </a:avLst>
          </a:prstGeom>
          <a:solidFill>
            <a:srgbClr val="C8213B"/>
          </a:solidFill>
          <a:ln/>
        </p:spPr>
      </p:sp>
      <p:sp>
        <p:nvSpPr>
          <p:cNvPr id="10" name="Text 8"/>
          <p:cNvSpPr txBox="1"/>
          <p:nvPr/>
        </p:nvSpPr>
        <p:spPr>
          <a:xfrm>
            <a:off x="4663440" y="2331720"/>
            <a:ext cx="2103120" cy="7772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fallen</a:t>
            </a:r>
            <a:endParaRPr lang="en-US" sz="1500" dirty="0"/>
          </a:p>
        </p:txBody>
      </p:sp>
      <p:sp>
        <p:nvSpPr>
          <p:cNvPr id="11" name="Text 9"/>
          <p:cNvSpPr txBox="1"/>
          <p:nvPr/>
        </p:nvSpPr>
        <p:spPr>
          <a:xfrm>
            <a:off x="4663440" y="3136392"/>
            <a:ext cx="2103120" cy="274320"/>
          </a:xfrm>
          <a:prstGeom prst="rect">
            <a:avLst/>
          </a:prstGeom>
          <a:noFill/>
          <a:ln/>
        </p:spPr>
        <p:txBody>
          <a:bodyPr wrap="square" lIns="0" tIns="0" rIns="0" bIns="0" rtlCol="0" anchor="ctr"/>
          <a:lstStyle/>
          <a:p>
            <a:pPr algn="ctr" indent="0" marL="0">
              <a:buNone/>
            </a:pPr>
            <a:r>
              <a:rPr lang="en-US" sz="1050" i="1" dirty="0">
                <a:solidFill>
                  <a:srgbClr val="44506B"/>
                </a:solidFill>
                <a:latin typeface="Calibri" pitchFamily="34" charset="0"/>
                <a:ea typeface="Calibri" pitchFamily="34" charset="-122"/>
                <a:cs typeface="Calibri" pitchFamily="34" charset="-120"/>
              </a:rPr>
              <a:t>trạng thái tĩnh (được boost)</a:t>
            </a:r>
            <a:endParaRPr lang="en-US" sz="1050" dirty="0"/>
          </a:p>
        </p:txBody>
      </p:sp>
      <p:sp>
        <p:nvSpPr>
          <p:cNvPr id="12" name="Text 10"/>
          <p:cNvSpPr txBox="1"/>
          <p:nvPr/>
        </p:nvSpPr>
        <p:spPr>
          <a:xfrm>
            <a:off x="7040880" y="2537460"/>
            <a:ext cx="3840480" cy="457200"/>
          </a:xfrm>
          <a:prstGeom prst="rect">
            <a:avLst/>
          </a:prstGeom>
          <a:noFill/>
          <a:ln/>
        </p:spPr>
        <p:txBody>
          <a:bodyPr wrap="square" lIns="0" tIns="0" rIns="0" bIns="0" rtlCol="0" anchor="ctr"/>
          <a:lstStyle/>
          <a:p>
            <a:pPr indent="0" marL="0">
              <a:buNone/>
            </a:pPr>
            <a:r>
              <a:rPr lang="en-US" sz="1250" dirty="0">
                <a:solidFill>
                  <a:srgbClr val="44506B"/>
                </a:solidFill>
                <a:latin typeface="Calibri" pitchFamily="34" charset="0"/>
                <a:ea typeface="Calibri" pitchFamily="34" charset="-122"/>
                <a:cs typeface="Calibri" pitchFamily="34" charset="-120"/>
              </a:rPr>
              <a:t>xác suất tăng dần rồi suy giảm theo thời gian (~10s)</a:t>
            </a:r>
            <a:endParaRPr lang="en-US" sz="1250" dirty="0"/>
          </a:p>
        </p:txBody>
      </p:sp>
      <p:sp>
        <p:nvSpPr>
          <p:cNvPr id="13" name="Shape 11"/>
          <p:cNvSpPr/>
          <p:nvPr/>
        </p:nvSpPr>
        <p:spPr>
          <a:xfrm>
            <a:off x="1097280" y="3794760"/>
            <a:ext cx="2103120" cy="777240"/>
          </a:xfrm>
          <a:prstGeom prst="roundRect">
            <a:avLst>
              <a:gd name="adj" fmla="val 11765"/>
            </a:avLst>
          </a:prstGeom>
          <a:solidFill>
            <a:srgbClr val="E8EDF7"/>
          </a:solidFill>
          <a:ln w="12700">
            <a:solidFill>
              <a:srgbClr val="2E86AB"/>
            </a:solidFill>
            <a:prstDash val="solid"/>
          </a:ln>
        </p:spPr>
      </p:sp>
      <p:sp>
        <p:nvSpPr>
          <p:cNvPr id="14" name="Text 12"/>
          <p:cNvSpPr txBox="1"/>
          <p:nvPr/>
        </p:nvSpPr>
        <p:spPr>
          <a:xfrm>
            <a:off x="1097280" y="3794760"/>
            <a:ext cx="2103120" cy="777240"/>
          </a:xfrm>
          <a:prstGeom prst="rect">
            <a:avLst/>
          </a:prstGeom>
          <a:noFill/>
          <a:ln/>
        </p:spPr>
        <p:txBody>
          <a:bodyPr wrap="square" lIns="0" tIns="0" rIns="0" bIns="0" rtlCol="0" anchor="ctr"/>
          <a:lstStyle/>
          <a:p>
            <a:pPr algn="ctr" indent="0" marL="0">
              <a:buNone/>
            </a:pPr>
            <a:r>
              <a:rPr lang="en-US" sz="1500" b="1" dirty="0">
                <a:solidFill>
                  <a:srgbClr val="1B2A4A"/>
                </a:solidFill>
                <a:latin typeface="Calibri" pitchFamily="34" charset="0"/>
                <a:ea typeface="Calibri" pitchFamily="34" charset="-122"/>
                <a:cs typeface="Calibri" pitchFamily="34" charset="-120"/>
              </a:rPr>
              <a:t>lie_down (nằm xuống)</a:t>
            </a:r>
            <a:endParaRPr lang="en-US" sz="1500" dirty="0"/>
          </a:p>
        </p:txBody>
      </p:sp>
      <p:sp>
        <p:nvSpPr>
          <p:cNvPr id="15" name="Text 13"/>
          <p:cNvSpPr txBox="1"/>
          <p:nvPr/>
        </p:nvSpPr>
        <p:spPr>
          <a:xfrm>
            <a:off x="1097280" y="4599432"/>
            <a:ext cx="2103120" cy="274320"/>
          </a:xfrm>
          <a:prstGeom prst="rect">
            <a:avLst/>
          </a:prstGeom>
          <a:noFill/>
          <a:ln/>
        </p:spPr>
        <p:txBody>
          <a:bodyPr wrap="square" lIns="0" tIns="0" rIns="0" bIns="0" rtlCol="0" anchor="ctr"/>
          <a:lstStyle/>
          <a:p>
            <a:pPr algn="ctr" indent="0" marL="0">
              <a:buNone/>
            </a:pPr>
            <a:r>
              <a:rPr lang="en-US" sz="1050" i="1" dirty="0">
                <a:solidFill>
                  <a:srgbClr val="44506B"/>
                </a:solidFill>
                <a:latin typeface="Calibri" pitchFamily="34" charset="0"/>
                <a:ea typeface="Calibri" pitchFamily="34" charset="-122"/>
                <a:cs typeface="Calibri" pitchFamily="34" charset="-120"/>
              </a:rPr>
              <a:t>hành động chuyển tiếp</a:t>
            </a:r>
            <a:endParaRPr lang="en-US" sz="1050" dirty="0"/>
          </a:p>
        </p:txBody>
      </p:sp>
      <p:sp>
        <p:nvSpPr>
          <p:cNvPr id="16" name="Shape 14"/>
          <p:cNvSpPr/>
          <p:nvPr/>
        </p:nvSpPr>
        <p:spPr>
          <a:xfrm>
            <a:off x="3337560" y="4055364"/>
            <a:ext cx="1188720" cy="256032"/>
          </a:xfrm>
          <a:prstGeom prst="rightArrow">
            <a:avLst/>
          </a:prstGeom>
          <a:solidFill>
            <a:srgbClr val="2F9E44"/>
          </a:solidFill>
          <a:ln/>
        </p:spPr>
      </p:sp>
      <p:sp>
        <p:nvSpPr>
          <p:cNvPr id="17" name="Shape 15"/>
          <p:cNvSpPr/>
          <p:nvPr/>
        </p:nvSpPr>
        <p:spPr>
          <a:xfrm>
            <a:off x="4663440" y="3794760"/>
            <a:ext cx="2103120" cy="777240"/>
          </a:xfrm>
          <a:prstGeom prst="roundRect">
            <a:avLst>
              <a:gd name="adj" fmla="val 11765"/>
            </a:avLst>
          </a:prstGeom>
          <a:solidFill>
            <a:srgbClr val="2F9E44"/>
          </a:solidFill>
          <a:ln/>
        </p:spPr>
      </p:sp>
      <p:sp>
        <p:nvSpPr>
          <p:cNvPr id="18" name="Text 16"/>
          <p:cNvSpPr txBox="1"/>
          <p:nvPr/>
        </p:nvSpPr>
        <p:spPr>
          <a:xfrm>
            <a:off x="4663440" y="3794760"/>
            <a:ext cx="2103120" cy="7772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lying (nằm nghỉ)</a:t>
            </a:r>
            <a:endParaRPr lang="en-US" sz="1500" dirty="0"/>
          </a:p>
        </p:txBody>
      </p:sp>
      <p:sp>
        <p:nvSpPr>
          <p:cNvPr id="19" name="Text 17"/>
          <p:cNvSpPr txBox="1"/>
          <p:nvPr/>
        </p:nvSpPr>
        <p:spPr>
          <a:xfrm>
            <a:off x="4663440" y="4599432"/>
            <a:ext cx="2103120" cy="274320"/>
          </a:xfrm>
          <a:prstGeom prst="rect">
            <a:avLst/>
          </a:prstGeom>
          <a:noFill/>
          <a:ln/>
        </p:spPr>
        <p:txBody>
          <a:bodyPr wrap="square" lIns="0" tIns="0" rIns="0" bIns="0" rtlCol="0" anchor="ctr"/>
          <a:lstStyle/>
          <a:p>
            <a:pPr algn="ctr" indent="0" marL="0">
              <a:buNone/>
            </a:pPr>
            <a:r>
              <a:rPr lang="en-US" sz="1050" i="1" dirty="0">
                <a:solidFill>
                  <a:srgbClr val="44506B"/>
                </a:solidFill>
                <a:latin typeface="Calibri" pitchFamily="34" charset="0"/>
                <a:ea typeface="Calibri" pitchFamily="34" charset="-122"/>
                <a:cs typeface="Calibri" pitchFamily="34" charset="-120"/>
              </a:rPr>
              <a:t>trạng thái tĩnh (được boost)</a:t>
            </a:r>
            <a:endParaRPr lang="en-US" sz="1050" dirty="0"/>
          </a:p>
        </p:txBody>
      </p:sp>
      <p:sp>
        <p:nvSpPr>
          <p:cNvPr id="20" name="Text 18"/>
          <p:cNvSpPr txBox="1"/>
          <p:nvPr/>
        </p:nvSpPr>
        <p:spPr>
          <a:xfrm>
            <a:off x="7040880" y="4000500"/>
            <a:ext cx="3840480" cy="457200"/>
          </a:xfrm>
          <a:prstGeom prst="rect">
            <a:avLst/>
          </a:prstGeom>
          <a:noFill/>
          <a:ln/>
        </p:spPr>
        <p:txBody>
          <a:bodyPr wrap="square" lIns="0" tIns="0" rIns="0" bIns="0" rtlCol="0" anchor="ctr"/>
          <a:lstStyle/>
          <a:p>
            <a:pPr indent="0" marL="0">
              <a:buNone/>
            </a:pPr>
            <a:r>
              <a:rPr lang="en-US" sz="1250" dirty="0">
                <a:solidFill>
                  <a:srgbClr val="44506B"/>
                </a:solidFill>
                <a:latin typeface="Calibri" pitchFamily="34" charset="0"/>
                <a:ea typeface="Calibri" pitchFamily="34" charset="-122"/>
                <a:cs typeface="Calibri" pitchFamily="34" charset="-120"/>
              </a:rPr>
              <a:t>xác suất tăng dần rồi suy giảm theo thời gian (~10s)</a:t>
            </a:r>
            <a:endParaRPr lang="en-US" sz="1250" dirty="0"/>
          </a:p>
        </p:txBody>
      </p:sp>
      <p:sp>
        <p:nvSpPr>
          <p:cNvPr id="21" name="Shape 19"/>
          <p:cNvSpPr/>
          <p:nvPr/>
        </p:nvSpPr>
        <p:spPr>
          <a:xfrm>
            <a:off x="1097280" y="5212080"/>
            <a:ext cx="9966960" cy="960120"/>
          </a:xfrm>
          <a:prstGeom prst="roundRect">
            <a:avLst>
              <a:gd name="adj" fmla="val 9524"/>
            </a:avLst>
          </a:prstGeom>
          <a:solidFill>
            <a:srgbClr val="1B2A4A"/>
          </a:solidFill>
          <a:ln/>
        </p:spPr>
      </p:sp>
      <p:sp>
        <p:nvSpPr>
          <p:cNvPr id="22" name="Text 20"/>
          <p:cNvSpPr txBox="1"/>
          <p:nvPr/>
        </p:nvSpPr>
        <p:spPr>
          <a:xfrm>
            <a:off x="1417320" y="5212080"/>
            <a:ext cx="9326880" cy="960120"/>
          </a:xfrm>
          <a:prstGeom prst="rect">
            <a:avLst/>
          </a:prstGeom>
          <a:noFill/>
          <a:ln/>
        </p:spPr>
        <p:txBody>
          <a:bodyPr wrap="square" lIns="0" tIns="0" rIns="0" bIns="0" rtlCol="0" anchor="ctr"/>
          <a:lstStyle/>
          <a:p>
            <a:pPr indent="0" marL="0">
              <a:buNone/>
            </a:pPr>
            <a:r>
              <a:rPr lang="en-US" sz="1450" b="1" dirty="0">
                <a:solidFill>
                  <a:srgbClr val="2E86AB"/>
                </a:solidFill>
                <a:latin typeface="Calibri" pitchFamily="34" charset="0"/>
                <a:ea typeface="Calibri" pitchFamily="34" charset="-122"/>
                <a:cs typeface="Calibri" pitchFamily="34" charset="-120"/>
              </a:rPr>
              <a:t>Ý tưởng cốt lõi:  </a:t>
            </a:r>
            <a:pPr indent="0" marL="0">
              <a:buNone/>
            </a:pPr>
            <a:r>
              <a:rPr lang="en-US" sz="1450" dirty="0">
                <a:solidFill>
                  <a:srgbClr val="FFFFFF"/>
                </a:solidFill>
                <a:latin typeface="Calibri" pitchFamily="34" charset="0"/>
                <a:ea typeface="Calibri" pitchFamily="34" charset="-122"/>
                <a:cs typeface="Calibri" pitchFamily="34" charset="-120"/>
              </a:rPr>
              <a:t>thay vì phân loại từng segment độc lập, hãy điều kiện hoá (condition) dự đoán của trạng thái tĩnh dựa trên hành động chuyển tiếp gần nhất đã xảy ra trước đó.</a:t>
            </a:r>
            <a:endParaRPr lang="en-US" sz="1450" dirty="0"/>
          </a:p>
        </p:txBody>
      </p:sp>
      <p:sp>
        <p:nvSpPr>
          <p:cNvPr id="23" name="Text 21"/>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A0A8BD"/>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2E86AB"/>
                </a:solidFill>
                <a:latin typeface="Calibri" pitchFamily="34" charset="0"/>
                <a:ea typeface="Calibri" pitchFamily="34" charset="-122"/>
                <a:cs typeface="Calibri" pitchFamily="34" charset="-120"/>
              </a:rPr>
              <a:t>NGHIÊN CỨU LIÊN QUAN</a:t>
            </a:r>
            <a:endParaRPr lang="en-US" sz="1300" dirty="0"/>
          </a:p>
        </p:txBody>
      </p:sp>
      <p:sp>
        <p:nvSpPr>
          <p:cNvPr id="3" name="Text 1"/>
          <p:cNvSpPr txBox="1"/>
          <p:nvPr/>
        </p:nvSpPr>
        <p:spPr>
          <a:xfrm>
            <a:off x="548640" y="658368"/>
            <a:ext cx="11064240" cy="822960"/>
          </a:xfrm>
          <a:prstGeom prst="rect">
            <a:avLst/>
          </a:prstGeom>
          <a:noFill/>
          <a:ln/>
        </p:spPr>
        <p:txBody>
          <a:bodyPr wrap="square" lIns="0" tIns="0" rIns="0" bIns="0" rtlCol="0" anchor="ctr"/>
          <a:lstStyle/>
          <a:p>
            <a:pPr indent="0" marL="0">
              <a:buNone/>
            </a:pPr>
            <a:r>
              <a:rPr lang="en-US" sz="2800" b="1" dirty="0">
                <a:solidFill>
                  <a:srgbClr val="1B2A4A"/>
                </a:solidFill>
                <a:latin typeface="Cambria" pitchFamily="34" charset="0"/>
                <a:ea typeface="Cambria" pitchFamily="34" charset="-122"/>
                <a:cs typeface="Cambria" pitchFamily="34" charset="-120"/>
              </a:rPr>
              <a:t>Đề tài đứng ở đâu trong bức tranh nghiên cứu hiện có</a:t>
            </a:r>
            <a:endParaRPr lang="en-US" sz="2800" dirty="0"/>
          </a:p>
        </p:txBody>
      </p:sp>
      <p:sp>
        <p:nvSpPr>
          <p:cNvPr id="4" name="Shape 2"/>
          <p:cNvSpPr/>
          <p:nvPr/>
        </p:nvSpPr>
        <p:spPr>
          <a:xfrm>
            <a:off x="548640" y="1600200"/>
            <a:ext cx="73152" cy="1051560"/>
          </a:xfrm>
          <a:prstGeom prst="rect">
            <a:avLst/>
          </a:prstGeom>
          <a:solidFill>
            <a:srgbClr val="2E86AB"/>
          </a:solidFill>
          <a:ln/>
        </p:spPr>
      </p:sp>
      <p:sp>
        <p:nvSpPr>
          <p:cNvPr id="5" name="Text 3"/>
          <p:cNvSpPr txBox="1"/>
          <p:nvPr/>
        </p:nvSpPr>
        <p:spPr>
          <a:xfrm>
            <a:off x="868680" y="1600200"/>
            <a:ext cx="2834640" cy="1051560"/>
          </a:xfrm>
          <a:prstGeom prst="rect">
            <a:avLst/>
          </a:prstGeom>
          <a:noFill/>
          <a:ln/>
        </p:spPr>
        <p:txBody>
          <a:bodyPr wrap="square" lIns="0" tIns="0" rIns="0" bIns="0" rtlCol="0" anchor="t"/>
          <a:lstStyle/>
          <a:p>
            <a:pPr indent="0" marL="0">
              <a:buNone/>
            </a:pPr>
            <a:r>
              <a:rPr lang="en-US" sz="1450" b="1" dirty="0">
                <a:solidFill>
                  <a:srgbClr val="1B2A4A"/>
                </a:solidFill>
                <a:latin typeface="Cambria" pitchFamily="34" charset="0"/>
                <a:ea typeface="Cambria" pitchFamily="34" charset="-122"/>
                <a:cs typeface="Cambria" pitchFamily="34" charset="-120"/>
              </a:rPr>
              <a:t>Bộ dữ liệu &amp; bài toán nền</a:t>
            </a:r>
            <a:endParaRPr lang="en-US" sz="1450" dirty="0"/>
          </a:p>
        </p:txBody>
      </p:sp>
      <p:sp>
        <p:nvSpPr>
          <p:cNvPr id="6" name="Text 4"/>
          <p:cNvSpPr txBox="1"/>
          <p:nvPr/>
        </p:nvSpPr>
        <p:spPr>
          <a:xfrm>
            <a:off x="3886200" y="1600200"/>
            <a:ext cx="7772400" cy="1051560"/>
          </a:xfrm>
          <a:prstGeom prst="rect">
            <a:avLst/>
          </a:prstGeom>
          <a:noFill/>
          <a:ln/>
        </p:spPr>
        <p:txBody>
          <a:bodyPr wrap="square" lIns="0" tIns="0" rIns="0" bIns="0" rtlCol="0" anchor="t"/>
          <a:lstStyle/>
          <a:p>
            <a:pPr indent="0" marL="0">
              <a:buNone/>
            </a:pPr>
            <a:r>
              <a:rPr lang="en-US" sz="1200" dirty="0">
                <a:solidFill>
                  <a:srgbClr val="44506B"/>
                </a:solidFill>
                <a:latin typeface="Calibri" pitchFamily="34" charset="0"/>
                <a:ea typeface="Calibri" pitchFamily="34" charset="-122"/>
                <a:cs typeface="Calibri" pitchFamily="34" charset="-120"/>
              </a:rPr>
              <a:t>OmniFall (Schneider et al., 2025) — benchmark hợp nhất 3 miền dữ liệu (staged / synthetic / in-the-wild), 80 giờ video, taxonomy 16 lớp thống nhất. Đây là nền tảng benchmark mà đề tài kế thừa và mở rộng.</a:t>
            </a:r>
            <a:endParaRPr lang="en-US" sz="1200" dirty="0"/>
          </a:p>
        </p:txBody>
      </p:sp>
      <p:sp>
        <p:nvSpPr>
          <p:cNvPr id="7" name="Shape 5"/>
          <p:cNvSpPr/>
          <p:nvPr/>
        </p:nvSpPr>
        <p:spPr>
          <a:xfrm>
            <a:off x="548640" y="2770632"/>
            <a:ext cx="73152" cy="1051560"/>
          </a:xfrm>
          <a:prstGeom prst="rect">
            <a:avLst/>
          </a:prstGeom>
          <a:solidFill>
            <a:srgbClr val="2E86AB"/>
          </a:solidFill>
          <a:ln/>
        </p:spPr>
      </p:sp>
      <p:sp>
        <p:nvSpPr>
          <p:cNvPr id="8" name="Text 6"/>
          <p:cNvSpPr txBox="1"/>
          <p:nvPr/>
        </p:nvSpPr>
        <p:spPr>
          <a:xfrm>
            <a:off x="868680" y="2770632"/>
            <a:ext cx="2834640" cy="1051560"/>
          </a:xfrm>
          <a:prstGeom prst="rect">
            <a:avLst/>
          </a:prstGeom>
          <a:noFill/>
          <a:ln/>
        </p:spPr>
        <p:txBody>
          <a:bodyPr wrap="square" lIns="0" tIns="0" rIns="0" bIns="0" rtlCol="0" anchor="t"/>
          <a:lstStyle/>
          <a:p>
            <a:pPr indent="0" marL="0">
              <a:buNone/>
            </a:pPr>
            <a:r>
              <a:rPr lang="en-US" sz="1450" b="1" dirty="0">
                <a:solidFill>
                  <a:srgbClr val="1B2A4A"/>
                </a:solidFill>
                <a:latin typeface="Cambria" pitchFamily="34" charset="0"/>
                <a:ea typeface="Cambria" pitchFamily="34" charset="-122"/>
                <a:cs typeface="Cambria" pitchFamily="34" charset="-120"/>
              </a:rPr>
              <a:t>Backbone trích đặc trưng video</a:t>
            </a:r>
            <a:endParaRPr lang="en-US" sz="1450" dirty="0"/>
          </a:p>
        </p:txBody>
      </p:sp>
      <p:sp>
        <p:nvSpPr>
          <p:cNvPr id="9" name="Text 7"/>
          <p:cNvSpPr txBox="1"/>
          <p:nvPr/>
        </p:nvSpPr>
        <p:spPr>
          <a:xfrm>
            <a:off x="3886200" y="2770632"/>
            <a:ext cx="7772400" cy="1051560"/>
          </a:xfrm>
          <a:prstGeom prst="rect">
            <a:avLst/>
          </a:prstGeom>
          <a:noFill/>
          <a:ln/>
        </p:spPr>
        <p:txBody>
          <a:bodyPr wrap="square" lIns="0" tIns="0" rIns="0" bIns="0" rtlCol="0" anchor="t"/>
          <a:lstStyle/>
          <a:p>
            <a:pPr indent="0" marL="0">
              <a:buNone/>
            </a:pPr>
            <a:r>
              <a:rPr lang="en-US" sz="1200" dirty="0">
                <a:solidFill>
                  <a:srgbClr val="44506B"/>
                </a:solidFill>
                <a:latin typeface="Calibri" pitchFamily="34" charset="0"/>
                <a:ea typeface="Calibri" pitchFamily="34" charset="-122"/>
                <a:cs typeface="Calibri" pitchFamily="34" charset="-120"/>
              </a:rPr>
              <a:t>VideoMAE (Tong et al., NeurIPS 2022) — pretraining tự giám sát hiệu quả với ít dữ liệu; I3D (Carreira &amp; Zisserman, CVPR 2017) — backbone 3D-CNN kinh điển cho nhận diện hành động. Đề tài dùng VideoMAE-K400 làm backbone chính.</a:t>
            </a:r>
            <a:endParaRPr lang="en-US" sz="1200" dirty="0"/>
          </a:p>
        </p:txBody>
      </p:sp>
      <p:sp>
        <p:nvSpPr>
          <p:cNvPr id="10" name="Shape 8"/>
          <p:cNvSpPr/>
          <p:nvPr/>
        </p:nvSpPr>
        <p:spPr>
          <a:xfrm>
            <a:off x="548640" y="3941064"/>
            <a:ext cx="73152" cy="1051560"/>
          </a:xfrm>
          <a:prstGeom prst="rect">
            <a:avLst/>
          </a:prstGeom>
          <a:solidFill>
            <a:srgbClr val="D98E04"/>
          </a:solidFill>
          <a:ln/>
        </p:spPr>
      </p:sp>
      <p:sp>
        <p:nvSpPr>
          <p:cNvPr id="11" name="Text 9"/>
          <p:cNvSpPr txBox="1"/>
          <p:nvPr/>
        </p:nvSpPr>
        <p:spPr>
          <a:xfrm>
            <a:off x="868680" y="3941064"/>
            <a:ext cx="2834640" cy="1051560"/>
          </a:xfrm>
          <a:prstGeom prst="rect">
            <a:avLst/>
          </a:prstGeom>
          <a:noFill/>
          <a:ln/>
        </p:spPr>
        <p:txBody>
          <a:bodyPr wrap="square" lIns="0" tIns="0" rIns="0" bIns="0" rtlCol="0" anchor="t"/>
          <a:lstStyle/>
          <a:p>
            <a:pPr indent="0" marL="0">
              <a:buNone/>
            </a:pPr>
            <a:r>
              <a:rPr lang="en-US" sz="1450" b="1" dirty="0">
                <a:solidFill>
                  <a:srgbClr val="1B2A4A"/>
                </a:solidFill>
                <a:latin typeface="Cambria" pitchFamily="34" charset="0"/>
                <a:ea typeface="Cambria" pitchFamily="34" charset="-122"/>
                <a:cs typeface="Cambria" pitchFamily="34" charset="-120"/>
              </a:rPr>
              <a:t>Làm mượt theo thời gian (temporal smoothing)</a:t>
            </a:r>
            <a:endParaRPr lang="en-US" sz="1450" dirty="0"/>
          </a:p>
        </p:txBody>
      </p:sp>
      <p:sp>
        <p:nvSpPr>
          <p:cNvPr id="12" name="Text 10"/>
          <p:cNvSpPr txBox="1"/>
          <p:nvPr/>
        </p:nvSpPr>
        <p:spPr>
          <a:xfrm>
            <a:off x="3886200" y="3941064"/>
            <a:ext cx="7772400" cy="1051560"/>
          </a:xfrm>
          <a:prstGeom prst="rect">
            <a:avLst/>
          </a:prstGeom>
          <a:noFill/>
          <a:ln/>
        </p:spPr>
        <p:txBody>
          <a:bodyPr wrap="square" lIns="0" tIns="0" rIns="0" bIns="0" rtlCol="0" anchor="t"/>
          <a:lstStyle/>
          <a:p>
            <a:pPr indent="0" marL="0">
              <a:buNone/>
            </a:pPr>
            <a:r>
              <a:rPr lang="en-US" sz="1200" dirty="0">
                <a:solidFill>
                  <a:srgbClr val="44506B"/>
                </a:solidFill>
                <a:latin typeface="Calibri" pitchFamily="34" charset="0"/>
                <a:ea typeface="Calibri" pitchFamily="34" charset="-122"/>
                <a:cs typeface="Calibri" pitchFamily="34" charset="-120"/>
              </a:rPr>
              <a:t>Các hướng Temporal Action Segmentation tổng quát (vd. các kỹ thuật hậu xử lý giảm “over-segmentation”) làm mượt dự đoán liên tiếp, nhưng KHÔNG khai thác cấu trúc nhân quả cụ thể giữa từng CẶP hành động — đây chính là khoảng trống đề tài lấp vào.</a:t>
            </a:r>
            <a:endParaRPr lang="en-US" sz="1200" dirty="0"/>
          </a:p>
        </p:txBody>
      </p:sp>
      <p:sp>
        <p:nvSpPr>
          <p:cNvPr id="13" name="Shape 11"/>
          <p:cNvSpPr/>
          <p:nvPr/>
        </p:nvSpPr>
        <p:spPr>
          <a:xfrm>
            <a:off x="548640" y="5111496"/>
            <a:ext cx="73152" cy="1051560"/>
          </a:xfrm>
          <a:prstGeom prst="rect">
            <a:avLst/>
          </a:prstGeom>
          <a:solidFill>
            <a:srgbClr val="2F9E44"/>
          </a:solidFill>
          <a:ln/>
        </p:spPr>
      </p:sp>
      <p:sp>
        <p:nvSpPr>
          <p:cNvPr id="14" name="Text 12"/>
          <p:cNvSpPr txBox="1"/>
          <p:nvPr/>
        </p:nvSpPr>
        <p:spPr>
          <a:xfrm>
            <a:off x="868680" y="5111496"/>
            <a:ext cx="2834640" cy="1051560"/>
          </a:xfrm>
          <a:prstGeom prst="rect">
            <a:avLst/>
          </a:prstGeom>
          <a:noFill/>
          <a:ln/>
        </p:spPr>
        <p:txBody>
          <a:bodyPr wrap="square" lIns="0" tIns="0" rIns="0" bIns="0" rtlCol="0" anchor="t"/>
          <a:lstStyle/>
          <a:p>
            <a:pPr indent="0" marL="0">
              <a:buNone/>
            </a:pPr>
            <a:r>
              <a:rPr lang="en-US" sz="1450" b="1" dirty="0">
                <a:solidFill>
                  <a:srgbClr val="1B2A4A"/>
                </a:solidFill>
                <a:latin typeface="Cambria" pitchFamily="34" charset="0"/>
                <a:ea typeface="Cambria" pitchFamily="34" charset="-122"/>
                <a:cs typeface="Cambria" pitchFamily="34" charset="-120"/>
              </a:rPr>
              <a:t>Khảo sát phát hiện té ngã bằng thị giác máy tính</a:t>
            </a:r>
            <a:endParaRPr lang="en-US" sz="1450" dirty="0"/>
          </a:p>
        </p:txBody>
      </p:sp>
      <p:sp>
        <p:nvSpPr>
          <p:cNvPr id="15" name="Text 13"/>
          <p:cNvSpPr txBox="1"/>
          <p:nvPr/>
        </p:nvSpPr>
        <p:spPr>
          <a:xfrm>
            <a:off x="3886200" y="5111496"/>
            <a:ext cx="7772400" cy="1051560"/>
          </a:xfrm>
          <a:prstGeom prst="rect">
            <a:avLst/>
          </a:prstGeom>
          <a:noFill/>
          <a:ln/>
        </p:spPr>
        <p:txBody>
          <a:bodyPr wrap="square" lIns="0" tIns="0" rIns="0" bIns="0" rtlCol="0" anchor="t"/>
          <a:lstStyle/>
          <a:p>
            <a:pPr indent="0" marL="0">
              <a:buNone/>
            </a:pPr>
            <a:r>
              <a:rPr lang="en-US" sz="1200" dirty="0">
                <a:solidFill>
                  <a:srgbClr val="44506B"/>
                </a:solidFill>
                <a:latin typeface="Calibri" pitchFamily="34" charset="0"/>
                <a:ea typeface="Calibri" pitchFamily="34" charset="-122"/>
                <a:cs typeface="Calibri" pitchFamily="34" charset="-120"/>
              </a:rPr>
              <a:t>Các bài khảo sát (vd. Computers in Biology and Medicine, 2022; systematic review 2024) xác nhận: phân biệt các tư thế tĩnh tương tự nhau vẫn là thách thức mở của lĩnh vực — đúng như vấn đề đề tài giải quyết.</a:t>
            </a:r>
            <a:endParaRPr lang="en-US" sz="1200" dirty="0"/>
          </a:p>
        </p:txBody>
      </p:sp>
      <p:sp>
        <p:nvSpPr>
          <p:cNvPr id="16" name="Text 14"/>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A0A8BD"/>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2E86AB"/>
                </a:solidFill>
                <a:latin typeface="Calibri" pitchFamily="34" charset="0"/>
                <a:ea typeface="Calibri" pitchFamily="34" charset="-122"/>
                <a:cs typeface="Calibri" pitchFamily="34" charset="-120"/>
              </a:rPr>
              <a:t>KHOẢNG TRỐNG NGHIÊN CỨU &amp; MỤC TIÊU</a:t>
            </a:r>
            <a:endParaRPr lang="en-US" sz="1300" dirty="0"/>
          </a:p>
        </p:txBody>
      </p:sp>
      <p:sp>
        <p:nvSpPr>
          <p:cNvPr id="3" name="Text 1"/>
          <p:cNvSpPr txBox="1"/>
          <p:nvPr/>
        </p:nvSpPr>
        <p:spPr>
          <a:xfrm>
            <a:off x="548640" y="658368"/>
            <a:ext cx="11064240" cy="82296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Chưa ai khai thác trực tiếp cấu trúc nhân quả này</a:t>
            </a:r>
            <a:endParaRPr lang="en-US" sz="3000" dirty="0"/>
          </a:p>
        </p:txBody>
      </p:sp>
      <p:sp>
        <p:nvSpPr>
          <p:cNvPr id="4" name="Shape 2"/>
          <p:cNvSpPr/>
          <p:nvPr/>
        </p:nvSpPr>
        <p:spPr>
          <a:xfrm>
            <a:off x="548640" y="1554480"/>
            <a:ext cx="11064240" cy="1097280"/>
          </a:xfrm>
          <a:prstGeom prst="roundRect">
            <a:avLst>
              <a:gd name="adj" fmla="val 8333"/>
            </a:avLst>
          </a:prstGeom>
          <a:solidFill>
            <a:srgbClr val="1B2A4A"/>
          </a:solidFill>
          <a:ln/>
        </p:spPr>
      </p:sp>
      <p:sp>
        <p:nvSpPr>
          <p:cNvPr id="5" name="Text 3"/>
          <p:cNvSpPr txBox="1"/>
          <p:nvPr/>
        </p:nvSpPr>
        <p:spPr>
          <a:xfrm>
            <a:off x="868680" y="1554480"/>
            <a:ext cx="10424160" cy="1097280"/>
          </a:xfrm>
          <a:prstGeom prst="rect">
            <a:avLst/>
          </a:prstGeom>
          <a:noFill/>
          <a:ln/>
        </p:spPr>
        <p:txBody>
          <a:bodyPr wrap="square" lIns="0" tIns="0" rIns="0" bIns="0" rtlCol="0" anchor="ctr"/>
          <a:lstStyle/>
          <a:p>
            <a:pPr indent="0" marL="0">
              <a:buNone/>
            </a:pPr>
            <a:r>
              <a:rPr lang="en-US" sz="1400" b="1" dirty="0">
                <a:solidFill>
                  <a:srgbClr val="2E86AB"/>
                </a:solidFill>
                <a:latin typeface="Calibri" pitchFamily="34" charset="0"/>
                <a:ea typeface="Calibri" pitchFamily="34" charset="-122"/>
                <a:cs typeface="Calibri" pitchFamily="34" charset="-120"/>
              </a:rPr>
              <a:t>Khoảng trống:  </a:t>
            </a:r>
            <a:pPr indent="0" marL="0">
              <a:buNone/>
            </a:pPr>
            <a:r>
              <a:rPr lang="en-US" sz="1400" dirty="0">
                <a:solidFill>
                  <a:srgbClr val="E4E9F5"/>
                </a:solidFill>
                <a:latin typeface="Calibri" pitchFamily="34" charset="0"/>
                <a:ea typeface="Calibri" pitchFamily="34" charset="-122"/>
                <a:cs typeface="Calibri" pitchFamily="34" charset="-120"/>
              </a:rPr>
              <a:t>OmniFall công bố taxonomy có cấu trúc nhân quả (fall→fallen, lie_down→lying), nhưng baseline chính thức của benchmark vẫn phân loại từng segment độc lập, không tận dụng thông tin thời gian giữa các hành động liên quan.</a:t>
            </a:r>
            <a:endParaRPr lang="en-US" sz="1400" dirty="0"/>
          </a:p>
        </p:txBody>
      </p:sp>
      <p:sp>
        <p:nvSpPr>
          <p:cNvPr id="6" name="Text 4"/>
          <p:cNvSpPr txBox="1"/>
          <p:nvPr/>
        </p:nvSpPr>
        <p:spPr>
          <a:xfrm>
            <a:off x="548640" y="2880360"/>
            <a:ext cx="5486400" cy="365760"/>
          </a:xfrm>
          <a:prstGeom prst="rect">
            <a:avLst/>
          </a:prstGeom>
          <a:noFill/>
          <a:ln/>
        </p:spPr>
        <p:txBody>
          <a:bodyPr wrap="square" lIns="0" tIns="0" rIns="0" bIns="0" rtlCol="0" anchor="ctr"/>
          <a:lstStyle/>
          <a:p>
            <a:pPr indent="0" marL="0">
              <a:buNone/>
            </a:pPr>
            <a:r>
              <a:rPr lang="en-US" sz="1700" b="1" dirty="0">
                <a:solidFill>
                  <a:srgbClr val="1B2A4A"/>
                </a:solidFill>
                <a:latin typeface="Cambria" pitchFamily="34" charset="0"/>
                <a:ea typeface="Cambria" pitchFamily="34" charset="-122"/>
                <a:cs typeface="Cambria" pitchFamily="34" charset="-120"/>
              </a:rPr>
              <a:t>4 mục tiêu cụ thể</a:t>
            </a:r>
            <a:endParaRPr lang="en-US" sz="1700" dirty="0"/>
          </a:p>
        </p:txBody>
      </p:sp>
      <p:sp>
        <p:nvSpPr>
          <p:cNvPr id="7" name="Shape 5"/>
          <p:cNvSpPr/>
          <p:nvPr/>
        </p:nvSpPr>
        <p:spPr>
          <a:xfrm>
            <a:off x="548640" y="3383280"/>
            <a:ext cx="5394960" cy="1417320"/>
          </a:xfrm>
          <a:prstGeom prst="roundRect">
            <a:avLst>
              <a:gd name="adj" fmla="val 6452"/>
            </a:avLst>
          </a:prstGeom>
          <a:solidFill>
            <a:srgbClr val="E8EDF7"/>
          </a:solidFill>
          <a:ln/>
        </p:spPr>
      </p:sp>
      <p:sp>
        <p:nvSpPr>
          <p:cNvPr id="8" name="Text 6"/>
          <p:cNvSpPr txBox="1"/>
          <p:nvPr/>
        </p:nvSpPr>
        <p:spPr>
          <a:xfrm>
            <a:off x="777240" y="3547872"/>
            <a:ext cx="640080" cy="640080"/>
          </a:xfrm>
          <a:prstGeom prst="rect">
            <a:avLst/>
          </a:prstGeom>
          <a:noFill/>
          <a:ln/>
        </p:spPr>
        <p:txBody>
          <a:bodyPr wrap="square" lIns="0" tIns="0" rIns="0" bIns="0" rtlCol="0" anchor="ctr"/>
          <a:lstStyle/>
          <a:p>
            <a:pPr indent="0" marL="0">
              <a:buNone/>
            </a:pPr>
            <a:r>
              <a:rPr lang="en-US" sz="2800" b="1" dirty="0">
                <a:solidFill>
                  <a:srgbClr val="2E86AB"/>
                </a:solidFill>
                <a:latin typeface="Cambria" pitchFamily="34" charset="0"/>
                <a:ea typeface="Cambria" pitchFamily="34" charset="-122"/>
                <a:cs typeface="Cambria" pitchFamily="34" charset="-120"/>
              </a:rPr>
              <a:t>1</a:t>
            </a:r>
            <a:endParaRPr lang="en-US" sz="2800" dirty="0"/>
          </a:p>
        </p:txBody>
      </p:sp>
      <p:sp>
        <p:nvSpPr>
          <p:cNvPr id="9" name="Text 7"/>
          <p:cNvSpPr txBox="1"/>
          <p:nvPr/>
        </p:nvSpPr>
        <p:spPr>
          <a:xfrm>
            <a:off x="1508760" y="3520440"/>
            <a:ext cx="4206240" cy="365760"/>
          </a:xfrm>
          <a:prstGeom prst="rect">
            <a:avLst/>
          </a:prstGeom>
          <a:noFill/>
          <a:ln/>
        </p:spPr>
        <p:txBody>
          <a:bodyPr wrap="square" lIns="0" tIns="0" rIns="0" bIns="0" rtlCol="0" anchor="ctr"/>
          <a:lstStyle/>
          <a:p>
            <a:pPr indent="0" marL="0">
              <a:buNone/>
            </a:pPr>
            <a:r>
              <a:rPr lang="en-US" sz="1400" b="1" dirty="0">
                <a:solidFill>
                  <a:srgbClr val="1B2A4A"/>
                </a:solidFill>
                <a:latin typeface="Cambria" pitchFamily="34" charset="0"/>
                <a:ea typeface="Cambria" pitchFamily="34" charset="-122"/>
                <a:cs typeface="Cambria" pitchFamily="34" charset="-120"/>
              </a:rPr>
              <a:t>Tái lập baseline chính thức</a:t>
            </a:r>
            <a:endParaRPr lang="en-US" sz="1400" dirty="0"/>
          </a:p>
        </p:txBody>
      </p:sp>
      <p:sp>
        <p:nvSpPr>
          <p:cNvPr id="10" name="Text 8"/>
          <p:cNvSpPr txBox="1"/>
          <p:nvPr/>
        </p:nvSpPr>
        <p:spPr>
          <a:xfrm>
            <a:off x="1508760" y="3913632"/>
            <a:ext cx="4206240" cy="822960"/>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Dùng đúng repo omnifall-experiments gốc, không tự viết lại — đảm bảo độ tin cậy để so sánh.</a:t>
            </a:r>
            <a:endParaRPr lang="en-US" sz="1150" dirty="0"/>
          </a:p>
        </p:txBody>
      </p:sp>
      <p:sp>
        <p:nvSpPr>
          <p:cNvPr id="11" name="Shape 9"/>
          <p:cNvSpPr/>
          <p:nvPr/>
        </p:nvSpPr>
        <p:spPr>
          <a:xfrm>
            <a:off x="6217920" y="3383280"/>
            <a:ext cx="5394960" cy="1417320"/>
          </a:xfrm>
          <a:prstGeom prst="roundRect">
            <a:avLst>
              <a:gd name="adj" fmla="val 6452"/>
            </a:avLst>
          </a:prstGeom>
          <a:solidFill>
            <a:srgbClr val="E8EDF7"/>
          </a:solidFill>
          <a:ln/>
        </p:spPr>
      </p:sp>
      <p:sp>
        <p:nvSpPr>
          <p:cNvPr id="12" name="Text 10"/>
          <p:cNvSpPr txBox="1"/>
          <p:nvPr/>
        </p:nvSpPr>
        <p:spPr>
          <a:xfrm>
            <a:off x="6446520" y="3547872"/>
            <a:ext cx="640080" cy="640080"/>
          </a:xfrm>
          <a:prstGeom prst="rect">
            <a:avLst/>
          </a:prstGeom>
          <a:noFill/>
          <a:ln/>
        </p:spPr>
        <p:txBody>
          <a:bodyPr wrap="square" lIns="0" tIns="0" rIns="0" bIns="0" rtlCol="0" anchor="ctr"/>
          <a:lstStyle/>
          <a:p>
            <a:pPr indent="0" marL="0">
              <a:buNone/>
            </a:pPr>
            <a:r>
              <a:rPr lang="en-US" sz="2800" b="1" dirty="0">
                <a:solidFill>
                  <a:srgbClr val="2E86AB"/>
                </a:solidFill>
                <a:latin typeface="Cambria" pitchFamily="34" charset="0"/>
                <a:ea typeface="Cambria" pitchFamily="34" charset="-122"/>
                <a:cs typeface="Cambria" pitchFamily="34" charset="-120"/>
              </a:rPr>
              <a:t>2</a:t>
            </a:r>
            <a:endParaRPr lang="en-US" sz="2800" dirty="0"/>
          </a:p>
        </p:txBody>
      </p:sp>
      <p:sp>
        <p:nvSpPr>
          <p:cNvPr id="13" name="Text 11"/>
          <p:cNvSpPr txBox="1"/>
          <p:nvPr/>
        </p:nvSpPr>
        <p:spPr>
          <a:xfrm>
            <a:off x="7178040" y="3520440"/>
            <a:ext cx="4206240" cy="365760"/>
          </a:xfrm>
          <a:prstGeom prst="rect">
            <a:avLst/>
          </a:prstGeom>
          <a:noFill/>
          <a:ln/>
        </p:spPr>
        <p:txBody>
          <a:bodyPr wrap="square" lIns="0" tIns="0" rIns="0" bIns="0" rtlCol="0" anchor="ctr"/>
          <a:lstStyle/>
          <a:p>
            <a:pPr indent="0" marL="0">
              <a:buNone/>
            </a:pPr>
            <a:r>
              <a:rPr lang="en-US" sz="1400" b="1" dirty="0">
                <a:solidFill>
                  <a:srgbClr val="1B2A4A"/>
                </a:solidFill>
                <a:latin typeface="Cambria" pitchFamily="34" charset="0"/>
                <a:ea typeface="Cambria" pitchFamily="34" charset="-122"/>
                <a:cs typeface="Cambria" pitchFamily="34" charset="-120"/>
              </a:rPr>
              <a:t>Xây module “Conditioning” hậu xử lý</a:t>
            </a:r>
            <a:endParaRPr lang="en-US" sz="1400" dirty="0"/>
          </a:p>
        </p:txBody>
      </p:sp>
      <p:sp>
        <p:nvSpPr>
          <p:cNvPr id="14" name="Text 12"/>
          <p:cNvSpPr txBox="1"/>
          <p:nvPr/>
        </p:nvSpPr>
        <p:spPr>
          <a:xfrm>
            <a:off x="7178040" y="3913632"/>
            <a:ext cx="4206240" cy="822960"/>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Rule-based (minh bạch) và Learnable/Hybrid (self-attention theo thời gian).</a:t>
            </a:r>
            <a:endParaRPr lang="en-US" sz="1150" dirty="0"/>
          </a:p>
        </p:txBody>
      </p:sp>
      <p:sp>
        <p:nvSpPr>
          <p:cNvPr id="15" name="Shape 13"/>
          <p:cNvSpPr/>
          <p:nvPr/>
        </p:nvSpPr>
        <p:spPr>
          <a:xfrm>
            <a:off x="548640" y="5029200"/>
            <a:ext cx="5394960" cy="1417320"/>
          </a:xfrm>
          <a:prstGeom prst="roundRect">
            <a:avLst>
              <a:gd name="adj" fmla="val 6452"/>
            </a:avLst>
          </a:prstGeom>
          <a:solidFill>
            <a:srgbClr val="E8EDF7"/>
          </a:solidFill>
          <a:ln/>
        </p:spPr>
      </p:sp>
      <p:sp>
        <p:nvSpPr>
          <p:cNvPr id="16" name="Text 14"/>
          <p:cNvSpPr txBox="1"/>
          <p:nvPr/>
        </p:nvSpPr>
        <p:spPr>
          <a:xfrm>
            <a:off x="777240" y="5193792"/>
            <a:ext cx="640080" cy="640080"/>
          </a:xfrm>
          <a:prstGeom prst="rect">
            <a:avLst/>
          </a:prstGeom>
          <a:noFill/>
          <a:ln/>
        </p:spPr>
        <p:txBody>
          <a:bodyPr wrap="square" lIns="0" tIns="0" rIns="0" bIns="0" rtlCol="0" anchor="ctr"/>
          <a:lstStyle/>
          <a:p>
            <a:pPr indent="0" marL="0">
              <a:buNone/>
            </a:pPr>
            <a:r>
              <a:rPr lang="en-US" sz="2800" b="1" dirty="0">
                <a:solidFill>
                  <a:srgbClr val="2E86AB"/>
                </a:solidFill>
                <a:latin typeface="Cambria" pitchFamily="34" charset="0"/>
                <a:ea typeface="Cambria" pitchFamily="34" charset="-122"/>
                <a:cs typeface="Cambria" pitchFamily="34" charset="-120"/>
              </a:rPr>
              <a:t>3</a:t>
            </a:r>
            <a:endParaRPr lang="en-US" sz="2800" dirty="0"/>
          </a:p>
        </p:txBody>
      </p:sp>
      <p:sp>
        <p:nvSpPr>
          <p:cNvPr id="17" name="Text 15"/>
          <p:cNvSpPr txBox="1"/>
          <p:nvPr/>
        </p:nvSpPr>
        <p:spPr>
          <a:xfrm>
            <a:off x="1508760" y="5166360"/>
            <a:ext cx="4206240" cy="365760"/>
          </a:xfrm>
          <a:prstGeom prst="rect">
            <a:avLst/>
          </a:prstGeom>
          <a:noFill/>
          <a:ln/>
        </p:spPr>
        <p:txBody>
          <a:bodyPr wrap="square" lIns="0" tIns="0" rIns="0" bIns="0" rtlCol="0" anchor="ctr"/>
          <a:lstStyle/>
          <a:p>
            <a:pPr indent="0" marL="0">
              <a:buNone/>
            </a:pPr>
            <a:r>
              <a:rPr lang="en-US" sz="1400" b="1" dirty="0">
                <a:solidFill>
                  <a:srgbClr val="1B2A4A"/>
                </a:solidFill>
                <a:latin typeface="Cambria" pitchFamily="34" charset="0"/>
                <a:ea typeface="Cambria" pitchFamily="34" charset="-122"/>
                <a:cs typeface="Cambria" pitchFamily="34" charset="-120"/>
              </a:rPr>
              <a:t>Kiểm định thống kê nghiêm ngặt</a:t>
            </a:r>
            <a:endParaRPr lang="en-US" sz="1400" dirty="0"/>
          </a:p>
        </p:txBody>
      </p:sp>
      <p:sp>
        <p:nvSpPr>
          <p:cNvPr id="18" name="Text 16"/>
          <p:cNvSpPr txBox="1"/>
          <p:nvPr/>
        </p:nvSpPr>
        <p:spPr>
          <a:xfrm>
            <a:off x="1508760" y="5559552"/>
            <a:ext cx="4206240" cy="822960"/>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Bootstrap CI, McNemar test, nhiều seed — tránh kết luận vội vàng từ 1 lần chạy.</a:t>
            </a:r>
            <a:endParaRPr lang="en-US" sz="1150" dirty="0"/>
          </a:p>
        </p:txBody>
      </p:sp>
      <p:sp>
        <p:nvSpPr>
          <p:cNvPr id="19" name="Shape 17"/>
          <p:cNvSpPr/>
          <p:nvPr/>
        </p:nvSpPr>
        <p:spPr>
          <a:xfrm>
            <a:off x="6217920" y="5029200"/>
            <a:ext cx="5394960" cy="1417320"/>
          </a:xfrm>
          <a:prstGeom prst="roundRect">
            <a:avLst>
              <a:gd name="adj" fmla="val 6452"/>
            </a:avLst>
          </a:prstGeom>
          <a:solidFill>
            <a:srgbClr val="E8EDF7"/>
          </a:solidFill>
          <a:ln/>
        </p:spPr>
      </p:sp>
      <p:sp>
        <p:nvSpPr>
          <p:cNvPr id="20" name="Text 18"/>
          <p:cNvSpPr txBox="1"/>
          <p:nvPr/>
        </p:nvSpPr>
        <p:spPr>
          <a:xfrm>
            <a:off x="6446520" y="5193792"/>
            <a:ext cx="640080" cy="640080"/>
          </a:xfrm>
          <a:prstGeom prst="rect">
            <a:avLst/>
          </a:prstGeom>
          <a:noFill/>
          <a:ln/>
        </p:spPr>
        <p:txBody>
          <a:bodyPr wrap="square" lIns="0" tIns="0" rIns="0" bIns="0" rtlCol="0" anchor="ctr"/>
          <a:lstStyle/>
          <a:p>
            <a:pPr indent="0" marL="0">
              <a:buNone/>
            </a:pPr>
            <a:r>
              <a:rPr lang="en-US" sz="2800" b="1" dirty="0">
                <a:solidFill>
                  <a:srgbClr val="2E86AB"/>
                </a:solidFill>
                <a:latin typeface="Cambria" pitchFamily="34" charset="0"/>
                <a:ea typeface="Cambria" pitchFamily="34" charset="-122"/>
                <a:cs typeface="Cambria" pitchFamily="34" charset="-120"/>
              </a:rPr>
              <a:t>4</a:t>
            </a:r>
            <a:endParaRPr lang="en-US" sz="2800" dirty="0"/>
          </a:p>
        </p:txBody>
      </p:sp>
      <p:sp>
        <p:nvSpPr>
          <p:cNvPr id="21" name="Text 19"/>
          <p:cNvSpPr txBox="1"/>
          <p:nvPr/>
        </p:nvSpPr>
        <p:spPr>
          <a:xfrm>
            <a:off x="7178040" y="5166360"/>
            <a:ext cx="4206240" cy="365760"/>
          </a:xfrm>
          <a:prstGeom prst="rect">
            <a:avLst/>
          </a:prstGeom>
          <a:noFill/>
          <a:ln/>
        </p:spPr>
        <p:txBody>
          <a:bodyPr wrap="square" lIns="0" tIns="0" rIns="0" bIns="0" rtlCol="0" anchor="ctr"/>
          <a:lstStyle/>
          <a:p>
            <a:pPr indent="0" marL="0">
              <a:buNone/>
            </a:pPr>
            <a:r>
              <a:rPr lang="en-US" sz="1400" b="1" dirty="0">
                <a:solidFill>
                  <a:srgbClr val="1B2A4A"/>
                </a:solidFill>
                <a:latin typeface="Cambria" pitchFamily="34" charset="0"/>
                <a:ea typeface="Cambria" pitchFamily="34" charset="-122"/>
                <a:cs typeface="Cambria" pitchFamily="34" charset="-120"/>
              </a:rPr>
              <a:t>Triển khai hệ thống chạy thật</a:t>
            </a:r>
            <a:endParaRPr lang="en-US" sz="1400" dirty="0"/>
          </a:p>
        </p:txBody>
      </p:sp>
      <p:sp>
        <p:nvSpPr>
          <p:cNvPr id="22" name="Text 20"/>
          <p:cNvSpPr txBox="1"/>
          <p:nvPr/>
        </p:nvSpPr>
        <p:spPr>
          <a:xfrm>
            <a:off x="7178040" y="5559552"/>
            <a:ext cx="4206240" cy="822960"/>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Demo real-time qua webcam, kiểm chứng trên video thật (OOPS), không chỉ dừng ở bảng số liệu.</a:t>
            </a:r>
            <a:endParaRPr lang="en-US" sz="1150" dirty="0"/>
          </a:p>
        </p:txBody>
      </p:sp>
      <p:sp>
        <p:nvSpPr>
          <p:cNvPr id="23" name="Text 21"/>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A0A8BD"/>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2A4A"/>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2E86AB"/>
                </a:solidFill>
                <a:latin typeface="Calibri" pitchFamily="34" charset="0"/>
                <a:ea typeface="Calibri" pitchFamily="34" charset="-122"/>
                <a:cs typeface="Calibri" pitchFamily="34" charset="-120"/>
              </a:rPr>
              <a:t>QUY TRÌNH THỰC HIỆN</a:t>
            </a:r>
            <a:endParaRPr lang="en-US" sz="1300" dirty="0"/>
          </a:p>
        </p:txBody>
      </p:sp>
      <p:sp>
        <p:nvSpPr>
          <p:cNvPr id="3" name="Text 1"/>
          <p:cNvSpPr txBox="1"/>
          <p:nvPr/>
        </p:nvSpPr>
        <p:spPr>
          <a:xfrm>
            <a:off x="548640" y="658368"/>
            <a:ext cx="11064240" cy="8229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Hành trình 5 bước — không đi thẳng, có rẽ hướng khi cần</a:t>
            </a:r>
            <a:endParaRPr lang="en-US" sz="2800" dirty="0"/>
          </a:p>
        </p:txBody>
      </p:sp>
      <p:sp>
        <p:nvSpPr>
          <p:cNvPr id="4" name="Text 2"/>
          <p:cNvSpPr txBox="1"/>
          <p:nvPr/>
        </p:nvSpPr>
        <p:spPr>
          <a:xfrm>
            <a:off x="548640" y="1600200"/>
            <a:ext cx="822960" cy="941832"/>
          </a:xfrm>
          <a:prstGeom prst="rect">
            <a:avLst/>
          </a:prstGeom>
          <a:noFill/>
          <a:ln/>
        </p:spPr>
        <p:txBody>
          <a:bodyPr wrap="square" lIns="0" tIns="0" rIns="0" bIns="0" rtlCol="0" anchor="ctr"/>
          <a:lstStyle/>
          <a:p>
            <a:pPr indent="0" marL="0">
              <a:buNone/>
            </a:pPr>
            <a:r>
              <a:rPr lang="en-US" sz="3000" b="1" dirty="0">
                <a:solidFill>
                  <a:srgbClr val="24365C"/>
                </a:solidFill>
                <a:latin typeface="Cambria" pitchFamily="34" charset="0"/>
                <a:ea typeface="Cambria" pitchFamily="34" charset="-122"/>
                <a:cs typeface="Cambria" pitchFamily="34" charset="-120"/>
              </a:rPr>
              <a:t>01</a:t>
            </a:r>
            <a:endParaRPr lang="en-US" sz="3000" dirty="0"/>
          </a:p>
        </p:txBody>
      </p:sp>
      <p:sp>
        <p:nvSpPr>
          <p:cNvPr id="5" name="Shape 3"/>
          <p:cNvSpPr/>
          <p:nvPr/>
        </p:nvSpPr>
        <p:spPr>
          <a:xfrm>
            <a:off x="566928" y="1673352"/>
            <a:ext cx="109728" cy="109728"/>
          </a:xfrm>
          <a:prstGeom prst="ellipse">
            <a:avLst/>
          </a:prstGeom>
          <a:solidFill>
            <a:srgbClr val="2E86AB"/>
          </a:solidFill>
          <a:ln/>
        </p:spPr>
      </p:sp>
      <p:sp>
        <p:nvSpPr>
          <p:cNvPr id="6" name="Text 4"/>
          <p:cNvSpPr txBox="1"/>
          <p:nvPr/>
        </p:nvSpPr>
        <p:spPr>
          <a:xfrm>
            <a:off x="1463040" y="1600200"/>
            <a:ext cx="3291840" cy="941832"/>
          </a:xfrm>
          <a:prstGeom prst="rect">
            <a:avLst/>
          </a:prstGeom>
          <a:noFill/>
          <a:ln/>
        </p:spPr>
        <p:txBody>
          <a:bodyPr wrap="square" lIns="0" tIns="0" rIns="0" bIns="0" rtlCol="0" anchor="t"/>
          <a:lstStyle/>
          <a:p>
            <a:pPr indent="0" marL="0">
              <a:buNone/>
            </a:pPr>
            <a:r>
              <a:rPr lang="en-US" sz="1350" b="1" dirty="0">
                <a:solidFill>
                  <a:srgbClr val="FFFFFF"/>
                </a:solidFill>
                <a:latin typeface="Cambria" pitchFamily="34" charset="0"/>
                <a:ea typeface="Cambria" pitchFamily="34" charset="-122"/>
                <a:cs typeface="Cambria" pitchFamily="34" charset="-120"/>
              </a:rPr>
              <a:t>Tái lập baseline chính thức</a:t>
            </a:r>
            <a:endParaRPr lang="en-US" sz="1350" dirty="0"/>
          </a:p>
        </p:txBody>
      </p:sp>
      <p:sp>
        <p:nvSpPr>
          <p:cNvPr id="7" name="Text 5"/>
          <p:cNvSpPr txBox="1"/>
          <p:nvPr/>
        </p:nvSpPr>
        <p:spPr>
          <a:xfrm>
            <a:off x="4892040" y="1600200"/>
            <a:ext cx="6766560" cy="941832"/>
          </a:xfrm>
          <a:prstGeom prst="rect">
            <a:avLst/>
          </a:prstGeom>
          <a:noFill/>
          <a:ln/>
        </p:spPr>
        <p:txBody>
          <a:bodyPr wrap="square" lIns="0" tIns="0" rIns="0" bIns="0" rtlCol="0" anchor="t"/>
          <a:lstStyle/>
          <a:p>
            <a:pPr indent="0" marL="0">
              <a:buNone/>
            </a:pPr>
            <a:r>
              <a:rPr lang="en-US" sz="1150" dirty="0">
                <a:solidFill>
                  <a:srgbClr val="CADCFC"/>
                </a:solidFill>
                <a:latin typeface="Calibri" pitchFamily="34" charset="0"/>
                <a:ea typeface="Calibri" pitchFamily="34" charset="-122"/>
                <a:cs typeface="Calibri" pitchFamily="34" charset="-120"/>
              </a:rPr>
              <a:t>Chạy đúng repo omnifall-experiments (VideoMAE-K400 + FeatureTransformer), vá vài lỗi tương thích Python — không viết lại từ đầu để giữ độ tin cậy.</a:t>
            </a:r>
            <a:endParaRPr lang="en-US" sz="1150" dirty="0"/>
          </a:p>
        </p:txBody>
      </p:sp>
      <p:sp>
        <p:nvSpPr>
          <p:cNvPr id="8" name="Text 6"/>
          <p:cNvSpPr txBox="1"/>
          <p:nvPr/>
        </p:nvSpPr>
        <p:spPr>
          <a:xfrm>
            <a:off x="548640" y="2651760"/>
            <a:ext cx="822960" cy="941832"/>
          </a:xfrm>
          <a:prstGeom prst="rect">
            <a:avLst/>
          </a:prstGeom>
          <a:noFill/>
          <a:ln/>
        </p:spPr>
        <p:txBody>
          <a:bodyPr wrap="square" lIns="0" tIns="0" rIns="0" bIns="0" rtlCol="0" anchor="ctr"/>
          <a:lstStyle/>
          <a:p>
            <a:pPr indent="0" marL="0">
              <a:buNone/>
            </a:pPr>
            <a:r>
              <a:rPr lang="en-US" sz="3000" b="1" dirty="0">
                <a:solidFill>
                  <a:srgbClr val="24365C"/>
                </a:solidFill>
                <a:latin typeface="Cambria" pitchFamily="34" charset="0"/>
                <a:ea typeface="Cambria" pitchFamily="34" charset="-122"/>
                <a:cs typeface="Cambria" pitchFamily="34" charset="-120"/>
              </a:rPr>
              <a:t>02</a:t>
            </a:r>
            <a:endParaRPr lang="en-US" sz="3000" dirty="0"/>
          </a:p>
        </p:txBody>
      </p:sp>
      <p:sp>
        <p:nvSpPr>
          <p:cNvPr id="9" name="Shape 7"/>
          <p:cNvSpPr/>
          <p:nvPr/>
        </p:nvSpPr>
        <p:spPr>
          <a:xfrm>
            <a:off x="566928" y="2724912"/>
            <a:ext cx="109728" cy="109728"/>
          </a:xfrm>
          <a:prstGeom prst="ellipse">
            <a:avLst/>
          </a:prstGeom>
          <a:solidFill>
            <a:srgbClr val="2E86AB"/>
          </a:solidFill>
          <a:ln/>
        </p:spPr>
      </p:sp>
      <p:sp>
        <p:nvSpPr>
          <p:cNvPr id="10" name="Text 8"/>
          <p:cNvSpPr txBox="1"/>
          <p:nvPr/>
        </p:nvSpPr>
        <p:spPr>
          <a:xfrm>
            <a:off x="1463040" y="2651760"/>
            <a:ext cx="3291840" cy="941832"/>
          </a:xfrm>
          <a:prstGeom prst="rect">
            <a:avLst/>
          </a:prstGeom>
          <a:noFill/>
          <a:ln/>
        </p:spPr>
        <p:txBody>
          <a:bodyPr wrap="square" lIns="0" tIns="0" rIns="0" bIns="0" rtlCol="0" anchor="t"/>
          <a:lstStyle/>
          <a:p>
            <a:pPr indent="0" marL="0">
              <a:buNone/>
            </a:pPr>
            <a:r>
              <a:rPr lang="en-US" sz="1350" b="1" dirty="0">
                <a:solidFill>
                  <a:srgbClr val="FFFFFF"/>
                </a:solidFill>
                <a:latin typeface="Cambria" pitchFamily="34" charset="0"/>
                <a:ea typeface="Cambria" pitchFamily="34" charset="-122"/>
                <a:cs typeface="Cambria" pitchFamily="34" charset="-120"/>
              </a:rPr>
              <a:t>Rule-Based Conditioner (thử nghiệm ban đầu)</a:t>
            </a:r>
            <a:endParaRPr lang="en-US" sz="1350" dirty="0"/>
          </a:p>
        </p:txBody>
      </p:sp>
      <p:sp>
        <p:nvSpPr>
          <p:cNvPr id="11" name="Text 9"/>
          <p:cNvSpPr txBox="1"/>
          <p:nvPr/>
        </p:nvSpPr>
        <p:spPr>
          <a:xfrm>
            <a:off x="4892040" y="2651760"/>
            <a:ext cx="6766560" cy="941832"/>
          </a:xfrm>
          <a:prstGeom prst="rect">
            <a:avLst/>
          </a:prstGeom>
          <a:noFill/>
          <a:ln/>
        </p:spPr>
        <p:txBody>
          <a:bodyPr wrap="square" lIns="0" tIns="0" rIns="0" bIns="0" rtlCol="0" anchor="t"/>
          <a:lstStyle/>
          <a:p>
            <a:pPr indent="0" marL="0">
              <a:buNone/>
            </a:pPr>
            <a:r>
              <a:rPr lang="en-US" sz="1150" dirty="0">
                <a:solidFill>
                  <a:srgbClr val="CADCFC"/>
                </a:solidFill>
                <a:latin typeface="Calibri" pitchFamily="34" charset="0"/>
                <a:ea typeface="Calibri" pitchFamily="34" charset="-122"/>
                <a:cs typeface="Calibri" pitchFamily="34" charset="-120"/>
              </a:rPr>
              <a:t>Boost xác suất theo hàm suy giảm mũ. Phát hiện &amp; sửa 2 bug tinh vi (tự ghi đè tại t=0; ghi đè sai các segment “fall” liên tiếp) — Fall-F1 phục hồi về đúng mức baseline.</a:t>
            </a:r>
            <a:endParaRPr lang="en-US" sz="1150" dirty="0"/>
          </a:p>
        </p:txBody>
      </p:sp>
      <p:sp>
        <p:nvSpPr>
          <p:cNvPr id="12" name="Text 10"/>
          <p:cNvSpPr txBox="1"/>
          <p:nvPr/>
        </p:nvSpPr>
        <p:spPr>
          <a:xfrm>
            <a:off x="548640" y="3703320"/>
            <a:ext cx="822960" cy="941832"/>
          </a:xfrm>
          <a:prstGeom prst="rect">
            <a:avLst/>
          </a:prstGeom>
          <a:noFill/>
          <a:ln/>
        </p:spPr>
        <p:txBody>
          <a:bodyPr wrap="square" lIns="0" tIns="0" rIns="0" bIns="0" rtlCol="0" anchor="ctr"/>
          <a:lstStyle/>
          <a:p>
            <a:pPr indent="0" marL="0">
              <a:buNone/>
            </a:pPr>
            <a:r>
              <a:rPr lang="en-US" sz="3000" b="1" dirty="0">
                <a:solidFill>
                  <a:srgbClr val="24365C"/>
                </a:solidFill>
                <a:latin typeface="Cambria" pitchFamily="34" charset="0"/>
                <a:ea typeface="Cambria" pitchFamily="34" charset="-122"/>
                <a:cs typeface="Cambria" pitchFamily="34" charset="-120"/>
              </a:rPr>
              <a:t>03</a:t>
            </a:r>
            <a:endParaRPr lang="en-US" sz="3000" dirty="0"/>
          </a:p>
        </p:txBody>
      </p:sp>
      <p:sp>
        <p:nvSpPr>
          <p:cNvPr id="13" name="Shape 11"/>
          <p:cNvSpPr/>
          <p:nvPr/>
        </p:nvSpPr>
        <p:spPr>
          <a:xfrm>
            <a:off x="566928" y="3776472"/>
            <a:ext cx="109728" cy="109728"/>
          </a:xfrm>
          <a:prstGeom prst="ellipse">
            <a:avLst/>
          </a:prstGeom>
          <a:solidFill>
            <a:srgbClr val="2E86AB"/>
          </a:solidFill>
          <a:ln/>
        </p:spPr>
      </p:sp>
      <p:sp>
        <p:nvSpPr>
          <p:cNvPr id="14" name="Text 12"/>
          <p:cNvSpPr txBox="1"/>
          <p:nvPr/>
        </p:nvSpPr>
        <p:spPr>
          <a:xfrm>
            <a:off x="1463040" y="3703320"/>
            <a:ext cx="3291840" cy="941832"/>
          </a:xfrm>
          <a:prstGeom prst="rect">
            <a:avLst/>
          </a:prstGeom>
          <a:noFill/>
          <a:ln/>
        </p:spPr>
        <p:txBody>
          <a:bodyPr wrap="square" lIns="0" tIns="0" rIns="0" bIns="0" rtlCol="0" anchor="t"/>
          <a:lstStyle/>
          <a:p>
            <a:pPr indent="0" marL="0">
              <a:buNone/>
            </a:pPr>
            <a:r>
              <a:rPr lang="en-US" sz="1350" b="1" dirty="0">
                <a:solidFill>
                  <a:srgbClr val="FFFFFF"/>
                </a:solidFill>
                <a:latin typeface="Cambria" pitchFamily="34" charset="0"/>
                <a:ea typeface="Cambria" pitchFamily="34" charset="-122"/>
                <a:cs typeface="Cambria" pitchFamily="34" charset="-120"/>
              </a:rPr>
              <a:t>Learnable Conditioner — lặp qua nhiều phiên bản (v2 → v8)</a:t>
            </a:r>
            <a:endParaRPr lang="en-US" sz="1350" dirty="0"/>
          </a:p>
        </p:txBody>
      </p:sp>
      <p:sp>
        <p:nvSpPr>
          <p:cNvPr id="15" name="Text 13"/>
          <p:cNvSpPr txBox="1"/>
          <p:nvPr/>
        </p:nvSpPr>
        <p:spPr>
          <a:xfrm>
            <a:off x="4892040" y="3703320"/>
            <a:ext cx="6766560" cy="941832"/>
          </a:xfrm>
          <a:prstGeom prst="rect">
            <a:avLst/>
          </a:prstGeom>
          <a:noFill/>
          <a:ln/>
        </p:spPr>
        <p:txBody>
          <a:bodyPr wrap="square" lIns="0" tIns="0" rIns="0" bIns="0" rtlCol="0" anchor="t"/>
          <a:lstStyle/>
          <a:p>
            <a:pPr indent="0" marL="0">
              <a:buNone/>
            </a:pPr>
            <a:r>
              <a:rPr lang="en-US" sz="1150" dirty="0">
                <a:solidFill>
                  <a:srgbClr val="CADCFC"/>
                </a:solidFill>
                <a:latin typeface="Calibri" pitchFamily="34" charset="0"/>
                <a:ea typeface="Calibri" pitchFamily="34" charset="-122"/>
                <a:cs typeface="Calibri" pitchFamily="34" charset="-120"/>
              </a:rPr>
              <a:t>Từ self-attention cơ bản đến residual init, class-balanced loss, KL-anchor regularization, và đổi tiêu chí chọn checkpoint sang Fall∪Fallen F1 để tránh đánh đổi ngầm.</a:t>
            </a:r>
            <a:endParaRPr lang="en-US" sz="1150" dirty="0"/>
          </a:p>
        </p:txBody>
      </p:sp>
      <p:sp>
        <p:nvSpPr>
          <p:cNvPr id="16" name="Text 14"/>
          <p:cNvSpPr txBox="1"/>
          <p:nvPr/>
        </p:nvSpPr>
        <p:spPr>
          <a:xfrm>
            <a:off x="548640" y="4754880"/>
            <a:ext cx="822960" cy="941832"/>
          </a:xfrm>
          <a:prstGeom prst="rect">
            <a:avLst/>
          </a:prstGeom>
          <a:noFill/>
          <a:ln/>
        </p:spPr>
        <p:txBody>
          <a:bodyPr wrap="square" lIns="0" tIns="0" rIns="0" bIns="0" rtlCol="0" anchor="ctr"/>
          <a:lstStyle/>
          <a:p>
            <a:pPr indent="0" marL="0">
              <a:buNone/>
            </a:pPr>
            <a:r>
              <a:rPr lang="en-US" sz="3000" b="1" dirty="0">
                <a:solidFill>
                  <a:srgbClr val="24365C"/>
                </a:solidFill>
                <a:latin typeface="Cambria" pitchFamily="34" charset="0"/>
                <a:ea typeface="Cambria" pitchFamily="34" charset="-122"/>
                <a:cs typeface="Cambria" pitchFamily="34" charset="-120"/>
              </a:rPr>
              <a:t>04</a:t>
            </a:r>
            <a:endParaRPr lang="en-US" sz="3000" dirty="0"/>
          </a:p>
        </p:txBody>
      </p:sp>
      <p:sp>
        <p:nvSpPr>
          <p:cNvPr id="17" name="Shape 15"/>
          <p:cNvSpPr/>
          <p:nvPr/>
        </p:nvSpPr>
        <p:spPr>
          <a:xfrm>
            <a:off x="566928" y="4828032"/>
            <a:ext cx="109728" cy="109728"/>
          </a:xfrm>
          <a:prstGeom prst="ellipse">
            <a:avLst/>
          </a:prstGeom>
          <a:solidFill>
            <a:srgbClr val="2E86AB"/>
          </a:solidFill>
          <a:ln/>
        </p:spPr>
      </p:sp>
      <p:sp>
        <p:nvSpPr>
          <p:cNvPr id="18" name="Text 16"/>
          <p:cNvSpPr txBox="1"/>
          <p:nvPr/>
        </p:nvSpPr>
        <p:spPr>
          <a:xfrm>
            <a:off x="1463040" y="4754880"/>
            <a:ext cx="3291840" cy="941832"/>
          </a:xfrm>
          <a:prstGeom prst="rect">
            <a:avLst/>
          </a:prstGeom>
          <a:noFill/>
          <a:ln/>
        </p:spPr>
        <p:txBody>
          <a:bodyPr wrap="square" lIns="0" tIns="0" rIns="0" bIns="0" rtlCol="0" anchor="t"/>
          <a:lstStyle/>
          <a:p>
            <a:pPr indent="0" marL="0">
              <a:buNone/>
            </a:pPr>
            <a:r>
              <a:rPr lang="en-US" sz="1350" b="1" dirty="0">
                <a:solidFill>
                  <a:srgbClr val="FFFFFF"/>
                </a:solidFill>
                <a:latin typeface="Cambria" pitchFamily="34" charset="0"/>
                <a:ea typeface="Cambria" pitchFamily="34" charset="-122"/>
                <a:cs typeface="Cambria" pitchFamily="34" charset="-120"/>
              </a:rPr>
              <a:t>Kiểm định thống kê nghiêm ngặt</a:t>
            </a:r>
            <a:endParaRPr lang="en-US" sz="1350" dirty="0"/>
          </a:p>
        </p:txBody>
      </p:sp>
      <p:sp>
        <p:nvSpPr>
          <p:cNvPr id="19" name="Text 17"/>
          <p:cNvSpPr txBox="1"/>
          <p:nvPr/>
        </p:nvSpPr>
        <p:spPr>
          <a:xfrm>
            <a:off x="4892040" y="4754880"/>
            <a:ext cx="6766560" cy="941832"/>
          </a:xfrm>
          <a:prstGeom prst="rect">
            <a:avLst/>
          </a:prstGeom>
          <a:noFill/>
          <a:ln/>
        </p:spPr>
        <p:txBody>
          <a:bodyPr wrap="square" lIns="0" tIns="0" rIns="0" bIns="0" rtlCol="0" anchor="t"/>
          <a:lstStyle/>
          <a:p>
            <a:pPr indent="0" marL="0">
              <a:buNone/>
            </a:pPr>
            <a:r>
              <a:rPr lang="en-US" sz="1150" dirty="0">
                <a:solidFill>
                  <a:srgbClr val="CADCFC"/>
                </a:solidFill>
                <a:latin typeface="Calibri" pitchFamily="34" charset="0"/>
                <a:ea typeface="Calibri" pitchFamily="34" charset="-122"/>
                <a:cs typeface="Calibri" pitchFamily="34" charset="-120"/>
              </a:rPr>
              <a:t>Bootstrap CI (10.000 lần, resample theo video) + McNemar test trên 3 seed độc lập — báo cáo trung thực cả phần CHƯA đạt ý nghĩa thống kê.</a:t>
            </a:r>
            <a:endParaRPr lang="en-US" sz="1150" dirty="0"/>
          </a:p>
        </p:txBody>
      </p:sp>
      <p:sp>
        <p:nvSpPr>
          <p:cNvPr id="20" name="Text 18"/>
          <p:cNvSpPr txBox="1"/>
          <p:nvPr/>
        </p:nvSpPr>
        <p:spPr>
          <a:xfrm>
            <a:off x="548640" y="5806440"/>
            <a:ext cx="822960" cy="941832"/>
          </a:xfrm>
          <a:prstGeom prst="rect">
            <a:avLst/>
          </a:prstGeom>
          <a:noFill/>
          <a:ln/>
        </p:spPr>
        <p:txBody>
          <a:bodyPr wrap="square" lIns="0" tIns="0" rIns="0" bIns="0" rtlCol="0" anchor="ctr"/>
          <a:lstStyle/>
          <a:p>
            <a:pPr indent="0" marL="0">
              <a:buNone/>
            </a:pPr>
            <a:r>
              <a:rPr lang="en-US" sz="3000" b="1" dirty="0">
                <a:solidFill>
                  <a:srgbClr val="24365C"/>
                </a:solidFill>
                <a:latin typeface="Cambria" pitchFamily="34" charset="0"/>
                <a:ea typeface="Cambria" pitchFamily="34" charset="-122"/>
                <a:cs typeface="Cambria" pitchFamily="34" charset="-120"/>
              </a:rPr>
              <a:t>05</a:t>
            </a:r>
            <a:endParaRPr lang="en-US" sz="3000" dirty="0"/>
          </a:p>
        </p:txBody>
      </p:sp>
      <p:sp>
        <p:nvSpPr>
          <p:cNvPr id="21" name="Shape 19"/>
          <p:cNvSpPr/>
          <p:nvPr/>
        </p:nvSpPr>
        <p:spPr>
          <a:xfrm>
            <a:off x="566928" y="5879592"/>
            <a:ext cx="109728" cy="109728"/>
          </a:xfrm>
          <a:prstGeom prst="ellipse">
            <a:avLst/>
          </a:prstGeom>
          <a:solidFill>
            <a:srgbClr val="2E86AB"/>
          </a:solidFill>
          <a:ln/>
        </p:spPr>
      </p:sp>
      <p:sp>
        <p:nvSpPr>
          <p:cNvPr id="22" name="Text 20"/>
          <p:cNvSpPr txBox="1"/>
          <p:nvPr/>
        </p:nvSpPr>
        <p:spPr>
          <a:xfrm>
            <a:off x="1463040" y="5806440"/>
            <a:ext cx="3291840" cy="941832"/>
          </a:xfrm>
          <a:prstGeom prst="rect">
            <a:avLst/>
          </a:prstGeom>
          <a:noFill/>
          <a:ln/>
        </p:spPr>
        <p:txBody>
          <a:bodyPr wrap="square" lIns="0" tIns="0" rIns="0" bIns="0" rtlCol="0" anchor="t"/>
          <a:lstStyle/>
          <a:p>
            <a:pPr indent="0" marL="0">
              <a:buNone/>
            </a:pPr>
            <a:r>
              <a:rPr lang="en-US" sz="1350" b="1" dirty="0">
                <a:solidFill>
                  <a:srgbClr val="FFFFFF"/>
                </a:solidFill>
                <a:latin typeface="Cambria" pitchFamily="34" charset="0"/>
                <a:ea typeface="Cambria" pitchFamily="34" charset="-122"/>
                <a:cs typeface="Cambria" pitchFamily="34" charset="-120"/>
              </a:rPr>
              <a:t>Mở rộng dữ liệu thật &amp; triển khai demo</a:t>
            </a:r>
            <a:endParaRPr lang="en-US" sz="1350" dirty="0"/>
          </a:p>
        </p:txBody>
      </p:sp>
      <p:sp>
        <p:nvSpPr>
          <p:cNvPr id="23" name="Text 21"/>
          <p:cNvSpPr txBox="1"/>
          <p:nvPr/>
        </p:nvSpPr>
        <p:spPr>
          <a:xfrm>
            <a:off x="4892040" y="5806440"/>
            <a:ext cx="6766560" cy="941832"/>
          </a:xfrm>
          <a:prstGeom prst="rect">
            <a:avLst/>
          </a:prstGeom>
          <a:noFill/>
          <a:ln/>
        </p:spPr>
        <p:txBody>
          <a:bodyPr wrap="square" lIns="0" tIns="0" rIns="0" bIns="0" rtlCol="0" anchor="t"/>
          <a:lstStyle/>
          <a:p>
            <a:pPr indent="0" marL="0">
              <a:buNone/>
            </a:pPr>
            <a:r>
              <a:rPr lang="en-US" sz="1150" dirty="0">
                <a:solidFill>
                  <a:srgbClr val="CADCFC"/>
                </a:solidFill>
                <a:latin typeface="Calibri" pitchFamily="34" charset="0"/>
                <a:ea typeface="Calibri" pitchFamily="34" charset="-122"/>
                <a:cs typeface="Calibri" pitchFamily="34" charset="-120"/>
              </a:rPr>
              <a:t>Tải 818 video thật từ OOPS, xây dựng scripts/realtime_demo.py chạy qua webcam/video thật, kiểm chứng trực tiếp trên footage chưa từng thấy.</a:t>
            </a:r>
            <a:endParaRPr lang="en-US" sz="1150" dirty="0"/>
          </a:p>
        </p:txBody>
      </p:sp>
      <p:sp>
        <p:nvSpPr>
          <p:cNvPr id="24" name="Text 22"/>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AEB9D4"/>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2E86AB"/>
                </a:solidFill>
                <a:latin typeface="Calibri" pitchFamily="34" charset="0"/>
                <a:ea typeface="Calibri" pitchFamily="34" charset="-122"/>
                <a:cs typeface="Calibri" pitchFamily="34" charset="-120"/>
              </a:rPr>
              <a:t>PHƯƠNG PHÁP</a:t>
            </a:r>
            <a:endParaRPr lang="en-US" sz="1300" dirty="0"/>
          </a:p>
        </p:txBody>
      </p:sp>
      <p:sp>
        <p:nvSpPr>
          <p:cNvPr id="3" name="Text 1"/>
          <p:cNvSpPr txBox="1"/>
          <p:nvPr/>
        </p:nvSpPr>
        <p:spPr>
          <a:xfrm>
            <a:off x="548640" y="658368"/>
            <a:ext cx="11064240" cy="82296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Hai bộ điều kiện hoá, xây trên baseline đáng tin cậy</a:t>
            </a:r>
            <a:endParaRPr lang="en-US" sz="3000" dirty="0"/>
          </a:p>
        </p:txBody>
      </p:sp>
      <p:sp>
        <p:nvSpPr>
          <p:cNvPr id="4" name="Shape 2"/>
          <p:cNvSpPr/>
          <p:nvPr/>
        </p:nvSpPr>
        <p:spPr>
          <a:xfrm>
            <a:off x="548640" y="2011680"/>
            <a:ext cx="2331720" cy="1463040"/>
          </a:xfrm>
          <a:prstGeom prst="roundRect">
            <a:avLst>
              <a:gd name="adj" fmla="val 7500"/>
            </a:avLst>
          </a:prstGeom>
          <a:solidFill>
            <a:srgbClr val="E8EDF7"/>
          </a:solidFill>
          <a:ln/>
        </p:spPr>
      </p:sp>
      <p:sp>
        <p:nvSpPr>
          <p:cNvPr id="5" name="Text 3"/>
          <p:cNvSpPr txBox="1"/>
          <p:nvPr/>
        </p:nvSpPr>
        <p:spPr>
          <a:xfrm>
            <a:off x="685800" y="2148840"/>
            <a:ext cx="2057400" cy="594360"/>
          </a:xfrm>
          <a:prstGeom prst="rect">
            <a:avLst/>
          </a:prstGeom>
          <a:noFill/>
          <a:ln/>
        </p:spPr>
        <p:txBody>
          <a:bodyPr wrap="square" lIns="0" tIns="0" rIns="0" bIns="0" rtlCol="0" anchor="ctr"/>
          <a:lstStyle/>
          <a:p>
            <a:pPr algn="ctr" indent="0" marL="0">
              <a:buNone/>
            </a:pPr>
            <a:r>
              <a:rPr lang="en-US" sz="1400" b="1" dirty="0">
                <a:solidFill>
                  <a:srgbClr val="1B2A4A"/>
                </a:solidFill>
                <a:latin typeface="Cambria" pitchFamily="34" charset="0"/>
                <a:ea typeface="Cambria" pitchFamily="34" charset="-122"/>
                <a:cs typeface="Cambria" pitchFamily="34" charset="-120"/>
              </a:rPr>
              <a:t>Đoạn video</a:t>
            </a:r>
            <a:endParaRPr lang="en-US" sz="1400" dirty="0"/>
          </a:p>
        </p:txBody>
      </p:sp>
      <p:sp>
        <p:nvSpPr>
          <p:cNvPr id="6" name="Text 4"/>
          <p:cNvSpPr txBox="1"/>
          <p:nvPr/>
        </p:nvSpPr>
        <p:spPr>
          <a:xfrm>
            <a:off x="685800" y="2743200"/>
            <a:ext cx="2057400" cy="640080"/>
          </a:xfrm>
          <a:prstGeom prst="rect">
            <a:avLst/>
          </a:prstGeom>
          <a:noFill/>
          <a:ln/>
        </p:spPr>
        <p:txBody>
          <a:bodyPr wrap="square" lIns="0" tIns="0" rIns="0" bIns="0" rtlCol="0" anchor="ctr"/>
          <a:lstStyle/>
          <a:p>
            <a:pPr algn="ctr" indent="0" marL="0">
              <a:buNone/>
            </a:pPr>
            <a:r>
              <a:rPr lang="en-US" sz="1000" dirty="0">
                <a:solidFill>
                  <a:srgbClr val="1B2A4A"/>
                </a:solidFill>
                <a:latin typeface="Calibri" pitchFamily="34" charset="0"/>
                <a:ea typeface="Calibri" pitchFamily="34" charset="-122"/>
                <a:cs typeface="Calibri" pitchFamily="34" charset="-120"/>
              </a:rPr>
              <a:t>cửa sổ 16 khung hình, 7.5 fps</a:t>
            </a:r>
            <a:endParaRPr lang="en-US" sz="1000" dirty="0"/>
          </a:p>
        </p:txBody>
      </p:sp>
      <p:sp>
        <p:nvSpPr>
          <p:cNvPr id="7" name="Shape 5"/>
          <p:cNvSpPr/>
          <p:nvPr/>
        </p:nvSpPr>
        <p:spPr>
          <a:xfrm>
            <a:off x="2935224" y="2606040"/>
            <a:ext cx="457200" cy="274320"/>
          </a:xfrm>
          <a:prstGeom prst="rightArrow">
            <a:avLst/>
          </a:prstGeom>
          <a:solidFill>
            <a:srgbClr val="C7CEDD"/>
          </a:solidFill>
          <a:ln/>
        </p:spPr>
      </p:sp>
      <p:sp>
        <p:nvSpPr>
          <p:cNvPr id="8" name="Shape 6"/>
          <p:cNvSpPr/>
          <p:nvPr/>
        </p:nvSpPr>
        <p:spPr>
          <a:xfrm>
            <a:off x="3447288" y="2011680"/>
            <a:ext cx="2331720" cy="1463040"/>
          </a:xfrm>
          <a:prstGeom prst="roundRect">
            <a:avLst>
              <a:gd name="adj" fmla="val 7500"/>
            </a:avLst>
          </a:prstGeom>
          <a:solidFill>
            <a:srgbClr val="2E86AB"/>
          </a:solidFill>
          <a:ln/>
        </p:spPr>
      </p:sp>
      <p:sp>
        <p:nvSpPr>
          <p:cNvPr id="9" name="Text 7"/>
          <p:cNvSpPr txBox="1"/>
          <p:nvPr/>
        </p:nvSpPr>
        <p:spPr>
          <a:xfrm>
            <a:off x="3584448" y="2148840"/>
            <a:ext cx="205740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Baseline</a:t>
            </a:r>
            <a:endParaRPr lang="en-US" sz="1400" dirty="0"/>
          </a:p>
          <a:p>
            <a:pPr algn="ctr" indent="0" marL="0">
              <a:buNone/>
            </a:pPr>
            <a:r>
              <a:rPr lang="en-US" sz="1400" b="1" dirty="0">
                <a:solidFill>
                  <a:srgbClr val="FFFFFF"/>
                </a:solidFill>
                <a:latin typeface="Cambria" pitchFamily="34" charset="0"/>
                <a:ea typeface="Cambria" pitchFamily="34" charset="-122"/>
                <a:cs typeface="Cambria" pitchFamily="34" charset="-120"/>
              </a:rPr>
              <a:t>VideoMAE-K400</a:t>
            </a:r>
            <a:endParaRPr lang="en-US" sz="1400" dirty="0"/>
          </a:p>
        </p:txBody>
      </p:sp>
      <p:sp>
        <p:nvSpPr>
          <p:cNvPr id="10" name="Text 8"/>
          <p:cNvSpPr txBox="1"/>
          <p:nvPr/>
        </p:nvSpPr>
        <p:spPr>
          <a:xfrm>
            <a:off x="3584448" y="2743200"/>
            <a:ext cx="2057400" cy="64008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FeatureTransformer</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từ repo chính thức</a:t>
            </a:r>
            <a:endParaRPr lang="en-US" sz="1000" dirty="0"/>
          </a:p>
        </p:txBody>
      </p:sp>
      <p:sp>
        <p:nvSpPr>
          <p:cNvPr id="11" name="Shape 9"/>
          <p:cNvSpPr/>
          <p:nvPr/>
        </p:nvSpPr>
        <p:spPr>
          <a:xfrm>
            <a:off x="5833872" y="2606040"/>
            <a:ext cx="457200" cy="274320"/>
          </a:xfrm>
          <a:prstGeom prst="rightArrow">
            <a:avLst/>
          </a:prstGeom>
          <a:solidFill>
            <a:srgbClr val="C7CEDD"/>
          </a:solidFill>
          <a:ln/>
        </p:spPr>
      </p:sp>
      <p:sp>
        <p:nvSpPr>
          <p:cNvPr id="12" name="Shape 10"/>
          <p:cNvSpPr/>
          <p:nvPr/>
        </p:nvSpPr>
        <p:spPr>
          <a:xfrm>
            <a:off x="6345936" y="2011680"/>
            <a:ext cx="2331720" cy="1463040"/>
          </a:xfrm>
          <a:prstGeom prst="roundRect">
            <a:avLst>
              <a:gd name="adj" fmla="val 7500"/>
            </a:avLst>
          </a:prstGeom>
          <a:solidFill>
            <a:srgbClr val="C8213B"/>
          </a:solidFill>
          <a:ln/>
        </p:spPr>
      </p:sp>
      <p:sp>
        <p:nvSpPr>
          <p:cNvPr id="13" name="Text 11"/>
          <p:cNvSpPr txBox="1"/>
          <p:nvPr/>
        </p:nvSpPr>
        <p:spPr>
          <a:xfrm>
            <a:off x="6483096" y="2148840"/>
            <a:ext cx="205740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Conditioner</a:t>
            </a:r>
            <a:endParaRPr lang="en-US" sz="1400" dirty="0"/>
          </a:p>
        </p:txBody>
      </p:sp>
      <p:sp>
        <p:nvSpPr>
          <p:cNvPr id="14" name="Text 12"/>
          <p:cNvSpPr txBox="1"/>
          <p:nvPr/>
        </p:nvSpPr>
        <p:spPr>
          <a:xfrm>
            <a:off x="6483096" y="2743200"/>
            <a:ext cx="2057400" cy="64008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Rule-Based  HOẶC  Hybrid v8</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(đóng góp của đề tài)</a:t>
            </a:r>
            <a:endParaRPr lang="en-US" sz="1000" dirty="0"/>
          </a:p>
        </p:txBody>
      </p:sp>
      <p:sp>
        <p:nvSpPr>
          <p:cNvPr id="15" name="Shape 13"/>
          <p:cNvSpPr/>
          <p:nvPr/>
        </p:nvSpPr>
        <p:spPr>
          <a:xfrm>
            <a:off x="8732520" y="2606040"/>
            <a:ext cx="457200" cy="274320"/>
          </a:xfrm>
          <a:prstGeom prst="rightArrow">
            <a:avLst/>
          </a:prstGeom>
          <a:solidFill>
            <a:srgbClr val="C7CEDD"/>
          </a:solidFill>
          <a:ln/>
        </p:spPr>
      </p:sp>
      <p:sp>
        <p:nvSpPr>
          <p:cNvPr id="16" name="Shape 14"/>
          <p:cNvSpPr/>
          <p:nvPr/>
        </p:nvSpPr>
        <p:spPr>
          <a:xfrm>
            <a:off x="9244584" y="2011680"/>
            <a:ext cx="2331720" cy="1463040"/>
          </a:xfrm>
          <a:prstGeom prst="roundRect">
            <a:avLst>
              <a:gd name="adj" fmla="val 7500"/>
            </a:avLst>
          </a:prstGeom>
          <a:solidFill>
            <a:srgbClr val="2F9E44"/>
          </a:solidFill>
          <a:ln/>
        </p:spPr>
      </p:sp>
      <p:sp>
        <p:nvSpPr>
          <p:cNvPr id="17" name="Text 15"/>
          <p:cNvSpPr txBox="1"/>
          <p:nvPr/>
        </p:nvSpPr>
        <p:spPr>
          <a:xfrm>
            <a:off x="9381744" y="2148840"/>
            <a:ext cx="205740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Nhãn cuối cùng</a:t>
            </a:r>
            <a:endParaRPr lang="en-US" sz="1400" dirty="0"/>
          </a:p>
        </p:txBody>
      </p:sp>
      <p:sp>
        <p:nvSpPr>
          <p:cNvPr id="18" name="Text 16"/>
          <p:cNvSpPr txBox="1"/>
          <p:nvPr/>
        </p:nvSpPr>
        <p:spPr>
          <a:xfrm>
            <a:off x="9381744" y="2743200"/>
            <a:ext cx="2057400" cy="64008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1 trong 10 lớp,</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fallen được làm nổi bật</a:t>
            </a:r>
            <a:endParaRPr lang="en-US" sz="1000" dirty="0"/>
          </a:p>
        </p:txBody>
      </p:sp>
      <p:sp>
        <p:nvSpPr>
          <p:cNvPr id="19" name="Shape 17"/>
          <p:cNvSpPr/>
          <p:nvPr/>
        </p:nvSpPr>
        <p:spPr>
          <a:xfrm>
            <a:off x="548640" y="3977640"/>
            <a:ext cx="5029200" cy="2331720"/>
          </a:xfrm>
          <a:prstGeom prst="roundRect">
            <a:avLst>
              <a:gd name="adj" fmla="val 4706"/>
            </a:avLst>
          </a:prstGeom>
          <a:solidFill>
            <a:srgbClr val="E8EDF7"/>
          </a:solidFill>
          <a:ln/>
        </p:spPr>
      </p:sp>
      <p:sp>
        <p:nvSpPr>
          <p:cNvPr id="20" name="Text 18"/>
          <p:cNvSpPr txBox="1"/>
          <p:nvPr/>
        </p:nvSpPr>
        <p:spPr>
          <a:xfrm>
            <a:off x="822960" y="4206240"/>
            <a:ext cx="4480560" cy="365760"/>
          </a:xfrm>
          <a:prstGeom prst="rect">
            <a:avLst/>
          </a:prstGeom>
          <a:noFill/>
          <a:ln/>
        </p:spPr>
        <p:txBody>
          <a:bodyPr wrap="square" lIns="0" tIns="0" rIns="0" bIns="0" rtlCol="0" anchor="ctr"/>
          <a:lstStyle/>
          <a:p>
            <a:pPr indent="0" marL="0">
              <a:buNone/>
            </a:pPr>
            <a:r>
              <a:rPr lang="en-US" sz="1600" b="1" dirty="0">
                <a:solidFill>
                  <a:srgbClr val="1B2A4A"/>
                </a:solidFill>
                <a:latin typeface="Cambria" pitchFamily="34" charset="0"/>
                <a:ea typeface="Cambria" pitchFamily="34" charset="-122"/>
                <a:cs typeface="Cambria" pitchFamily="34" charset="-120"/>
              </a:rPr>
              <a:t>Rule-Based Conditioner</a:t>
            </a:r>
            <a:endParaRPr lang="en-US" sz="1600" dirty="0"/>
          </a:p>
        </p:txBody>
      </p:sp>
      <p:sp>
        <p:nvSpPr>
          <p:cNvPr id="21" name="Text 19"/>
          <p:cNvSpPr txBox="1"/>
          <p:nvPr/>
        </p:nvSpPr>
        <p:spPr>
          <a:xfrm>
            <a:off x="822960" y="4617720"/>
            <a:ext cx="4480560" cy="1508760"/>
          </a:xfrm>
          <a:prstGeom prst="rect">
            <a:avLst/>
          </a:prstGeom>
          <a:noFill/>
          <a:ln/>
        </p:spPr>
        <p:txBody>
          <a:bodyPr wrap="square" lIns="0" tIns="0" rIns="0" bIns="0" rtlCol="0" anchor="ctr"/>
          <a:lstStyle/>
          <a:p>
            <a:pPr indent="0" marL="0">
              <a:spcAft>
                <a:spcPts val="400"/>
              </a:spcAft>
              <a:buNone/>
            </a:pPr>
            <a:r>
              <a:rPr lang="en-US" sz="1250" b="1" dirty="0">
                <a:solidFill>
                  <a:srgbClr val="44506B"/>
                </a:solidFill>
                <a:latin typeface="Calibri" pitchFamily="34" charset="0"/>
                <a:ea typeface="Calibri" pitchFamily="34" charset="-122"/>
                <a:cs typeface="Calibri" pitchFamily="34" charset="-120"/>
              </a:rPr>
              <a:t>Hàm suy giảm mũ theo thời gian</a:t>
            </a:r>
            <a:endParaRPr lang="en-US" sz="1250" dirty="0"/>
          </a:p>
          <a:p>
            <a:pPr indent="0" marL="0">
              <a:spcAft>
                <a:spcPts val="600"/>
              </a:spcAft>
              <a:buNone/>
            </a:pPr>
            <a:r>
              <a:rPr lang="en-US" sz="1250" dirty="0">
                <a:solidFill>
                  <a:srgbClr val="44506B"/>
                </a:solidFill>
                <a:latin typeface="Calibri" pitchFamily="34" charset="0"/>
                <a:ea typeface="Calibri" pitchFamily="34" charset="-122"/>
                <a:cs typeface="Calibri" pitchFamily="34" charset="-120"/>
              </a:rPr>
              <a:t>Không có tham số học được — minh bạch, dễ kiểm chứng.</a:t>
            </a:r>
            <a:endParaRPr lang="en-US" sz="1250" dirty="0"/>
          </a:p>
          <a:p>
            <a:pPr indent="0" marL="0">
              <a:spcAft>
                <a:spcPts val="400"/>
              </a:spcAft>
              <a:buNone/>
            </a:pPr>
            <a:r>
              <a:rPr lang="en-US" sz="1250" dirty="0">
                <a:solidFill>
                  <a:srgbClr val="44506B"/>
                </a:solidFill>
                <a:latin typeface="Calibri" pitchFamily="34" charset="0"/>
                <a:ea typeface="Calibri" pitchFamily="34" charset="-122"/>
                <a:cs typeface="Calibri" pitchFamily="34" charset="-120"/>
              </a:rPr>
              <a:t>Phát hiện &amp; sửa 2 bug tinh vi trong quá trình phát triển (xem Quy trình, bước 2).</a:t>
            </a:r>
            <a:endParaRPr lang="en-US" sz="1250" dirty="0"/>
          </a:p>
        </p:txBody>
      </p:sp>
      <p:sp>
        <p:nvSpPr>
          <p:cNvPr id="22" name="Shape 20"/>
          <p:cNvSpPr/>
          <p:nvPr/>
        </p:nvSpPr>
        <p:spPr>
          <a:xfrm>
            <a:off x="6172200" y="3977640"/>
            <a:ext cx="5029200" cy="2331720"/>
          </a:xfrm>
          <a:prstGeom prst="roundRect">
            <a:avLst>
              <a:gd name="adj" fmla="val 4706"/>
            </a:avLst>
          </a:prstGeom>
          <a:solidFill>
            <a:srgbClr val="1B2A4A"/>
          </a:solidFill>
          <a:ln/>
        </p:spPr>
      </p:sp>
      <p:sp>
        <p:nvSpPr>
          <p:cNvPr id="23" name="Text 21"/>
          <p:cNvSpPr txBox="1"/>
          <p:nvPr/>
        </p:nvSpPr>
        <p:spPr>
          <a:xfrm>
            <a:off x="6446520" y="4206240"/>
            <a:ext cx="448056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Hybrid v8 (Learnable)</a:t>
            </a:r>
            <a:endParaRPr lang="en-US" sz="1600" dirty="0"/>
          </a:p>
        </p:txBody>
      </p:sp>
      <p:sp>
        <p:nvSpPr>
          <p:cNvPr id="24" name="Text 22"/>
          <p:cNvSpPr txBox="1"/>
          <p:nvPr/>
        </p:nvSpPr>
        <p:spPr>
          <a:xfrm>
            <a:off x="6446520" y="4617720"/>
            <a:ext cx="4480560" cy="1508760"/>
          </a:xfrm>
          <a:prstGeom prst="rect">
            <a:avLst/>
          </a:prstGeom>
          <a:noFill/>
          <a:ln/>
        </p:spPr>
        <p:txBody>
          <a:bodyPr wrap="square" lIns="0" tIns="0" rIns="0" bIns="0" rtlCol="0" anchor="ctr"/>
          <a:lstStyle/>
          <a:p>
            <a:pPr indent="0" marL="0">
              <a:spcAft>
                <a:spcPts val="400"/>
              </a:spcAft>
              <a:buNone/>
            </a:pPr>
            <a:r>
              <a:rPr lang="en-US" sz="1250" b="1" dirty="0">
                <a:solidFill>
                  <a:srgbClr val="2E86AB"/>
                </a:solidFill>
                <a:latin typeface="Calibri" pitchFamily="34" charset="0"/>
                <a:ea typeface="Calibri" pitchFamily="34" charset="-122"/>
                <a:cs typeface="Calibri" pitchFamily="34" charset="-120"/>
              </a:rPr>
              <a:t>Self-attention theo thời gian + KL-anchor</a:t>
            </a:r>
            <a:endParaRPr lang="en-US" sz="1250" dirty="0"/>
          </a:p>
          <a:p>
            <a:pPr indent="0" marL="0">
              <a:spcAft>
                <a:spcPts val="600"/>
              </a:spcAft>
              <a:buNone/>
            </a:pPr>
            <a:r>
              <a:rPr lang="en-US" sz="1250" dirty="0">
                <a:solidFill>
                  <a:srgbClr val="CADCFC"/>
                </a:solidFill>
                <a:latin typeface="Calibri" pitchFamily="34" charset="0"/>
                <a:ea typeface="Calibri" pitchFamily="34" charset="-122"/>
                <a:cs typeface="Calibri" pitchFamily="34" charset="-120"/>
              </a:rPr>
              <a:t>Tự học cách trọng số hoá các segment trước đó thay vì hàm suy giảm cố định; neo về phân phối rule-based để ổn định.</a:t>
            </a:r>
            <a:endParaRPr lang="en-US" sz="1250" dirty="0"/>
          </a:p>
          <a:p>
            <a:pPr indent="0" marL="0">
              <a:spcAft>
                <a:spcPts val="400"/>
              </a:spcAft>
              <a:buNone/>
            </a:pPr>
            <a:r>
              <a:rPr lang="en-US" sz="1250" dirty="0">
                <a:solidFill>
                  <a:srgbClr val="CADCFC"/>
                </a:solidFill>
                <a:latin typeface="Calibri" pitchFamily="34" charset="0"/>
                <a:ea typeface="Calibri" pitchFamily="34" charset="-122"/>
                <a:cs typeface="Calibri" pitchFamily="34" charset="-120"/>
              </a:rPr>
              <a:t>Chọn checkpoint theo Fall∪Fallen F1 (không chỉ Fallen-F1) để tránh đánh đổi ngầm với Fall-F1.</a:t>
            </a:r>
            <a:endParaRPr lang="en-US" sz="1250" dirty="0"/>
          </a:p>
        </p:txBody>
      </p:sp>
      <p:sp>
        <p:nvSpPr>
          <p:cNvPr id="25" name="Text 23"/>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A0A8BD"/>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2E86AB"/>
                </a:solidFill>
                <a:latin typeface="Calibri" pitchFamily="34" charset="0"/>
                <a:ea typeface="Calibri" pitchFamily="34" charset="-122"/>
                <a:cs typeface="Calibri" pitchFamily="34" charset="-120"/>
              </a:rPr>
              <a:t>THỰC NGHIỆM</a:t>
            </a:r>
            <a:endParaRPr lang="en-US" sz="1300" dirty="0"/>
          </a:p>
        </p:txBody>
      </p:sp>
      <p:sp>
        <p:nvSpPr>
          <p:cNvPr id="3" name="Text 1"/>
          <p:cNvSpPr txBox="1"/>
          <p:nvPr/>
        </p:nvSpPr>
        <p:spPr>
          <a:xfrm>
            <a:off x="548640" y="658368"/>
            <a:ext cx="11064240" cy="82296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Dữ liệu thật + tổng hợp + trong-tự-nhiên, baseline đáng tin cậy</a:t>
            </a:r>
            <a:endParaRPr lang="en-US" sz="3000" dirty="0"/>
          </a:p>
        </p:txBody>
      </p:sp>
      <p:sp>
        <p:nvSpPr>
          <p:cNvPr id="4" name="Text 2"/>
          <p:cNvSpPr txBox="1"/>
          <p:nvPr/>
        </p:nvSpPr>
        <p:spPr>
          <a:xfrm>
            <a:off x="548640" y="1600200"/>
            <a:ext cx="5303520" cy="365760"/>
          </a:xfrm>
          <a:prstGeom prst="rect">
            <a:avLst/>
          </a:prstGeom>
          <a:noFill/>
          <a:ln/>
        </p:spPr>
        <p:txBody>
          <a:bodyPr wrap="square" lIns="0" tIns="0" rIns="0" bIns="0" rtlCol="0" anchor="ctr"/>
          <a:lstStyle/>
          <a:p>
            <a:pPr indent="0" marL="0">
              <a:buNone/>
            </a:pPr>
            <a:r>
              <a:rPr lang="en-US" sz="1600" b="1" dirty="0">
                <a:solidFill>
                  <a:srgbClr val="1B2A4A"/>
                </a:solidFill>
                <a:latin typeface="Cambria" pitchFamily="34" charset="0"/>
                <a:ea typeface="Cambria" pitchFamily="34" charset="-122"/>
                <a:cs typeface="Cambria" pitchFamily="34" charset="-120"/>
              </a:rPr>
              <a:t>Huấn luyện (St + Sy)</a:t>
            </a:r>
            <a:endParaRPr lang="en-US" sz="1600" dirty="0"/>
          </a:p>
        </p:txBody>
      </p:sp>
      <p:sp>
        <p:nvSpPr>
          <p:cNvPr id="5" name="Text 3"/>
          <p:cNvSpPr txBox="1"/>
          <p:nvPr/>
        </p:nvSpPr>
        <p:spPr>
          <a:xfrm>
            <a:off x="548640" y="2011680"/>
            <a:ext cx="5303520" cy="1463040"/>
          </a:xfrm>
          <a:prstGeom prst="rect">
            <a:avLst/>
          </a:prstGeom>
          <a:noFill/>
          <a:ln/>
        </p:spPr>
        <p:txBody>
          <a:bodyPr wrap="square" lIns="0" tIns="0" rIns="0" bIns="0" rtlCol="0" anchor="ctr"/>
          <a:lstStyle/>
          <a:p>
            <a:pPr marL="342900" indent="-342900">
              <a:spcAft>
                <a:spcPts val="600"/>
              </a:spcAft>
              <a:buSzPct val="100000"/>
              <a:buChar char="•"/>
            </a:pPr>
            <a:r>
              <a:rPr lang="en-US" sz="1350" dirty="0">
                <a:solidFill>
                  <a:srgbClr val="44506B"/>
                </a:solidFill>
                <a:latin typeface="Calibri" pitchFamily="34" charset="0"/>
                <a:ea typeface="Calibri" pitchFamily="34" charset="-122"/>
                <a:cs typeface="Calibri" pitchFamily="34" charset="-120"/>
              </a:rPr>
              <a:t>GMDCSA24 (staged)</a:t>
            </a:r>
            <a:endParaRPr lang="en-US" sz="1350" dirty="0"/>
          </a:p>
          <a:p>
            <a:pPr marL="342900" indent="-342900">
              <a:spcAft>
                <a:spcPts val="600"/>
              </a:spcAft>
              <a:buSzPct val="100000"/>
              <a:buChar char="•"/>
            </a:pPr>
            <a:r>
              <a:rPr lang="en-US" sz="1350" dirty="0">
                <a:solidFill>
                  <a:srgbClr val="44506B"/>
                </a:solidFill>
                <a:latin typeface="Calibri" pitchFamily="34" charset="0"/>
                <a:ea typeface="Calibri" pitchFamily="34" charset="-122"/>
                <a:cs typeface="Calibri" pitchFamily="34" charset="-120"/>
              </a:rPr>
              <a:t>Le2i (staged)</a:t>
            </a:r>
            <a:endParaRPr lang="en-US" sz="1350" dirty="0"/>
          </a:p>
          <a:p>
            <a:pPr marL="342900" indent="-342900">
              <a:spcAft>
                <a:spcPts val="600"/>
              </a:spcAft>
              <a:buSzPct val="100000"/>
              <a:buChar char="•"/>
            </a:pPr>
            <a:r>
              <a:rPr lang="en-US" sz="1350" dirty="0">
                <a:solidFill>
                  <a:srgbClr val="44506B"/>
                </a:solidFill>
                <a:latin typeface="Calibri" pitchFamily="34" charset="0"/>
                <a:ea typeface="Calibri" pitchFamily="34" charset="-122"/>
                <a:cs typeface="Calibri" pitchFamily="34" charset="-120"/>
              </a:rPr>
              <a:t>CAUCAFall (staged)</a:t>
            </a:r>
            <a:endParaRPr lang="en-US" sz="1350" dirty="0"/>
          </a:p>
          <a:p>
            <a:pPr marL="342900" indent="-342900">
              <a:spcAft>
                <a:spcPts val="600"/>
              </a:spcAft>
              <a:buSzPct val="100000"/>
              <a:buChar char="•"/>
            </a:pPr>
            <a:r>
              <a:rPr lang="en-US" sz="1350" dirty="0">
                <a:solidFill>
                  <a:srgbClr val="44506B"/>
                </a:solidFill>
                <a:latin typeface="Calibri" pitchFamily="34" charset="0"/>
                <a:ea typeface="Calibri" pitchFamily="34" charset="-122"/>
                <a:cs typeface="Calibri" pitchFamily="34" charset="-120"/>
              </a:rPr>
              <a:t>OF-Synthetic (12.000 video tổng hợp)</a:t>
            </a:r>
            <a:endParaRPr lang="en-US" sz="1350" dirty="0"/>
          </a:p>
        </p:txBody>
      </p:sp>
      <p:sp>
        <p:nvSpPr>
          <p:cNvPr id="6" name="Text 4"/>
          <p:cNvSpPr txBox="1"/>
          <p:nvPr/>
        </p:nvSpPr>
        <p:spPr>
          <a:xfrm>
            <a:off x="548640" y="3657600"/>
            <a:ext cx="5303520" cy="365760"/>
          </a:xfrm>
          <a:prstGeom prst="rect">
            <a:avLst/>
          </a:prstGeom>
          <a:noFill/>
          <a:ln/>
        </p:spPr>
        <p:txBody>
          <a:bodyPr wrap="square" lIns="0" tIns="0" rIns="0" bIns="0" rtlCol="0" anchor="ctr"/>
          <a:lstStyle/>
          <a:p>
            <a:pPr indent="0" marL="0">
              <a:buNone/>
            </a:pPr>
            <a:r>
              <a:rPr lang="en-US" sz="1600" b="1" dirty="0">
                <a:solidFill>
                  <a:srgbClr val="1B2A4A"/>
                </a:solidFill>
                <a:latin typeface="Cambria" pitchFamily="34" charset="0"/>
                <a:ea typeface="Cambria" pitchFamily="34" charset="-122"/>
                <a:cs typeface="Cambria" pitchFamily="34" charset="-120"/>
              </a:rPr>
              <a:t>Kiểm thử — OF-ItW (trong tự nhiên)</a:t>
            </a:r>
            <a:endParaRPr lang="en-US" sz="1600" dirty="0"/>
          </a:p>
        </p:txBody>
      </p:sp>
      <p:sp>
        <p:nvSpPr>
          <p:cNvPr id="7" name="Text 5"/>
          <p:cNvSpPr txBox="1"/>
          <p:nvPr/>
        </p:nvSpPr>
        <p:spPr>
          <a:xfrm>
            <a:off x="548640" y="4069080"/>
            <a:ext cx="5303520" cy="1463040"/>
          </a:xfrm>
          <a:prstGeom prst="rect">
            <a:avLst/>
          </a:prstGeom>
          <a:noFill/>
          <a:ln/>
        </p:spPr>
        <p:txBody>
          <a:bodyPr wrap="square" lIns="0" tIns="0" rIns="0" bIns="0" rtlCol="0" anchor="ctr"/>
          <a:lstStyle/>
          <a:p>
            <a:pPr marL="342900" indent="-342900">
              <a:spcAft>
                <a:spcPts val="600"/>
              </a:spcAft>
              <a:buSzPct val="100000"/>
              <a:buChar char="•"/>
            </a:pPr>
            <a:r>
              <a:rPr lang="en-US" sz="1350" dirty="0">
                <a:solidFill>
                  <a:srgbClr val="44506B"/>
                </a:solidFill>
                <a:latin typeface="Calibri" pitchFamily="34" charset="0"/>
                <a:ea typeface="Calibri" pitchFamily="34" charset="-122"/>
                <a:cs typeface="Calibri" pitchFamily="34" charset="-120"/>
              </a:rPr>
              <a:t>Video tai nạn thật OOPS — footage không kiểm soát</a:t>
            </a:r>
            <a:endParaRPr lang="en-US" sz="1350" dirty="0"/>
          </a:p>
          <a:p>
            <a:pPr marL="342900" indent="-342900">
              <a:spcAft>
                <a:spcPts val="600"/>
              </a:spcAft>
              <a:buSzPct val="100000"/>
              <a:buChar char="•"/>
            </a:pPr>
            <a:r>
              <a:rPr lang="en-US" sz="1350" dirty="0">
                <a:solidFill>
                  <a:srgbClr val="44506B"/>
                </a:solidFill>
                <a:latin typeface="Calibri" pitchFamily="34" charset="0"/>
                <a:ea typeface="Calibri" pitchFamily="34" charset="-122"/>
                <a:cs typeface="Calibri" pitchFamily="34" charset="-120"/>
              </a:rPr>
              <a:t>2.804 segment kiểm thử trên 572 video</a:t>
            </a:r>
            <a:endParaRPr lang="en-US" sz="1350" dirty="0"/>
          </a:p>
          <a:p>
            <a:pPr marL="342900" indent="-342900">
              <a:spcAft>
                <a:spcPts val="600"/>
              </a:spcAft>
              <a:buSzPct val="100000"/>
              <a:buChar char="•"/>
            </a:pPr>
            <a:r>
              <a:rPr lang="en-US" sz="1350" dirty="0">
                <a:solidFill>
                  <a:srgbClr val="44506B"/>
                </a:solidFill>
                <a:latin typeface="Calibri" pitchFamily="34" charset="0"/>
                <a:ea typeface="Calibri" pitchFamily="34" charset="-122"/>
                <a:cs typeface="Calibri" pitchFamily="34" charset="-120"/>
              </a:rPr>
              <a:t>Taxonomy 10 lớp OmniFall (lớp mở rộng gộp vào “other”)</a:t>
            </a:r>
            <a:endParaRPr lang="en-US" sz="1350" dirty="0"/>
          </a:p>
        </p:txBody>
      </p:sp>
      <p:sp>
        <p:nvSpPr>
          <p:cNvPr id="8" name="Shape 6"/>
          <p:cNvSpPr/>
          <p:nvPr/>
        </p:nvSpPr>
        <p:spPr>
          <a:xfrm>
            <a:off x="6492240" y="1600200"/>
            <a:ext cx="5120640" cy="4206240"/>
          </a:xfrm>
          <a:prstGeom prst="roundRect">
            <a:avLst>
              <a:gd name="adj" fmla="val 2609"/>
            </a:avLst>
          </a:prstGeom>
          <a:solidFill>
            <a:srgbClr val="1B2A4A"/>
          </a:solidFill>
          <a:ln/>
        </p:spPr>
      </p:sp>
      <p:sp>
        <p:nvSpPr>
          <p:cNvPr id="9" name="Text 7"/>
          <p:cNvSpPr txBox="1"/>
          <p:nvPr/>
        </p:nvSpPr>
        <p:spPr>
          <a:xfrm>
            <a:off x="6812280" y="1874520"/>
            <a:ext cx="4480560" cy="457200"/>
          </a:xfrm>
          <a:prstGeom prst="rect">
            <a:avLst/>
          </a:prstGeom>
          <a:noFill/>
          <a:ln/>
        </p:spPr>
        <p:txBody>
          <a:bodyPr wrap="square" lIns="0" tIns="0" rIns="0" bIns="0" rtlCol="0" anchor="ctr"/>
          <a:lstStyle/>
          <a:p>
            <a:pPr indent="0" marL="0">
              <a:buNone/>
            </a:pPr>
            <a:r>
              <a:rPr lang="en-US" sz="1700" b="1" dirty="0">
                <a:solidFill>
                  <a:srgbClr val="2E86AB"/>
                </a:solidFill>
                <a:latin typeface="Cambria" pitchFamily="34" charset="0"/>
                <a:ea typeface="Cambria" pitchFamily="34" charset="-122"/>
                <a:cs typeface="Cambria" pitchFamily="34" charset="-120"/>
              </a:rPr>
              <a:t>Vì sao baseline đáng tin cậy</a:t>
            </a:r>
            <a:endParaRPr lang="en-US" sz="1700" dirty="0"/>
          </a:p>
        </p:txBody>
      </p:sp>
      <p:sp>
        <p:nvSpPr>
          <p:cNvPr id="10" name="Text 8"/>
          <p:cNvSpPr txBox="1"/>
          <p:nvPr/>
        </p:nvSpPr>
        <p:spPr>
          <a:xfrm>
            <a:off x="6812280" y="2468880"/>
            <a:ext cx="4480560" cy="3017520"/>
          </a:xfrm>
          <a:prstGeom prst="rect">
            <a:avLst/>
          </a:prstGeom>
          <a:noFill/>
          <a:ln/>
        </p:spPr>
        <p:txBody>
          <a:bodyPr wrap="square" lIns="0" tIns="0" rIns="0" bIns="0" rtlCol="0" anchor="ctr"/>
          <a:lstStyle/>
          <a:p>
            <a:pPr marL="342900" indent="-342900">
              <a:spcAft>
                <a:spcPts val="1000"/>
              </a:spcAft>
              <a:buSzPct val="100000"/>
              <a:buChar char="•"/>
            </a:pPr>
            <a:r>
              <a:rPr lang="en-US" sz="1350" dirty="0">
                <a:solidFill>
                  <a:srgbClr val="E4E9F5"/>
                </a:solidFill>
                <a:latin typeface="Calibri" pitchFamily="34" charset="0"/>
                <a:ea typeface="Calibri" pitchFamily="34" charset="-122"/>
                <a:cs typeface="Calibri" pitchFamily="34" charset="-120"/>
              </a:rPr>
              <a:t>Dùng đúng repo chính thức omnifall-experiments (không tự viết lại)</a:t>
            </a:r>
            <a:endParaRPr lang="en-US" sz="1350" dirty="0"/>
          </a:p>
          <a:p>
            <a:pPr marL="342900" indent="-342900">
              <a:spcAft>
                <a:spcPts val="1000"/>
              </a:spcAft>
              <a:buSzPct val="100000"/>
              <a:buChar char="•"/>
            </a:pPr>
            <a:r>
              <a:rPr lang="en-US" sz="1350" dirty="0">
                <a:solidFill>
                  <a:srgbClr val="E4E9F5"/>
                </a:solidFill>
                <a:latin typeface="Calibri" pitchFamily="34" charset="0"/>
                <a:ea typeface="Calibri" pitchFamily="34" charset="-122"/>
                <a:cs typeface="Calibri" pitchFamily="34" charset="-120"/>
              </a:rPr>
              <a:t>Đặc trưng VideoMAE-K400: 7.5 fps, 16 khung hình/cửa sổ, stride 2/15s — khớp Table 12 của paper gốc</a:t>
            </a:r>
            <a:endParaRPr lang="en-US" sz="1350" dirty="0"/>
          </a:p>
          <a:p>
            <a:pPr marL="342900" indent="-342900">
              <a:spcAft>
                <a:spcPts val="1000"/>
              </a:spcAft>
              <a:buSzPct val="100000"/>
              <a:buChar char="•"/>
            </a:pPr>
            <a:r>
              <a:rPr lang="en-US" sz="1350" dirty="0">
                <a:solidFill>
                  <a:srgbClr val="E4E9F5"/>
                </a:solidFill>
                <a:latin typeface="Calibri" pitchFamily="34" charset="0"/>
                <a:ea typeface="Calibri" pitchFamily="34" charset="-122"/>
                <a:cs typeface="Calibri" pitchFamily="34" charset="-120"/>
              </a:rPr>
              <a:t>Baseline FeatureTransformer, 2 lớp, huấn luyện tới hội tụ (checkpoint-7000)</a:t>
            </a:r>
            <a:endParaRPr lang="en-US" sz="1350" dirty="0"/>
          </a:p>
          <a:p>
            <a:pPr marL="342900" indent="-342900">
              <a:spcAft>
                <a:spcPts val="1000"/>
              </a:spcAft>
              <a:buSzPct val="100000"/>
              <a:buChar char="•"/>
            </a:pPr>
            <a:r>
              <a:rPr lang="en-US" sz="1350" dirty="0">
                <a:solidFill>
                  <a:srgbClr val="E4E9F5"/>
                </a:solidFill>
                <a:latin typeface="Calibri" pitchFamily="34" charset="0"/>
                <a:ea typeface="Calibri" pitchFamily="34" charset="-122"/>
                <a:cs typeface="Calibri" pitchFamily="34" charset="-120"/>
              </a:rPr>
              <a:t>Các conditioner chỉ áp dụng hậu xử lý (post-hoc) lên logits baseline đã đóng băng</a:t>
            </a:r>
            <a:endParaRPr lang="en-US" sz="1350" dirty="0"/>
          </a:p>
        </p:txBody>
      </p:sp>
      <p:sp>
        <p:nvSpPr>
          <p:cNvPr id="11" name="Text 9"/>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A0A8BD"/>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2E86AB"/>
                </a:solidFill>
                <a:latin typeface="Calibri" pitchFamily="34" charset="0"/>
                <a:ea typeface="Calibri" pitchFamily="34" charset="-122"/>
                <a:cs typeface="Calibri" pitchFamily="34" charset="-120"/>
              </a:rPr>
              <a:t>KẾT QUẢ</a:t>
            </a:r>
            <a:endParaRPr lang="en-US" sz="1300" dirty="0"/>
          </a:p>
        </p:txBody>
      </p:sp>
      <p:sp>
        <p:nvSpPr>
          <p:cNvPr id="3" name="Text 1"/>
          <p:cNvSpPr txBox="1"/>
          <p:nvPr/>
        </p:nvSpPr>
        <p:spPr>
          <a:xfrm>
            <a:off x="548640" y="658368"/>
            <a:ext cx="11064240" cy="82296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Hybrid v8 thắng ở mọi chỉ số quan trọng</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7863840" cy="2377440"/>
        </p:xfrm>
        <a:graphic>
          <a:graphicData uri="http://schemas.openxmlformats.org/drawingml/2006/table">
            <a:tbl>
              <a:tblPr/>
              <a:tblGrid>
                <a:gridCol w="2926080"/>
                <a:gridCol w="1645920"/>
                <a:gridCol w="1645920"/>
                <a:gridCol w="1645920"/>
              </a:tblGrid>
              <a:tr h="59436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Phương pháp</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B2A4A"/>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Fallen-F1 (%)</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B2A4A"/>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Fall-F1 (%)</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B2A4A"/>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Fall∪Fallen F1 (%)</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B2A4A"/>
                    </a:solidFill>
                  </a:tcPr>
                </a:tc>
              </a:tr>
              <a:tr h="594360">
                <a:tc>
                  <a:txBody>
                    <a:bodyPr/>
                    <a:lstStyle/>
                    <a:p>
                      <a:pPr indent="0" marL="0">
                        <a:buNone/>
                      </a:pPr>
                      <a:r>
                        <a:rPr lang="en-US" sz="1500" dirty="0">
                          <a:solidFill>
                            <a:srgbClr val="44506B"/>
                          </a:solidFill>
                          <a:latin typeface="Calibri" pitchFamily="34" charset="0"/>
                          <a:ea typeface="Calibri" pitchFamily="34" charset="-122"/>
                          <a:cs typeface="Calibri" pitchFamily="34" charset="-120"/>
                        </a:rPr>
                        <a:t>Baseline (St+Sy)</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00" dirty="0">
                          <a:solidFill>
                            <a:srgbClr val="44506B"/>
                          </a:solidFill>
                          <a:latin typeface="Calibri" pitchFamily="34" charset="0"/>
                          <a:ea typeface="Calibri" pitchFamily="34" charset="-122"/>
                          <a:cs typeface="Calibri" pitchFamily="34" charset="-120"/>
                        </a:rPr>
                        <a:t>26.6</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00" dirty="0">
                          <a:solidFill>
                            <a:srgbClr val="44506B"/>
                          </a:solidFill>
                          <a:latin typeface="Calibri" pitchFamily="34" charset="0"/>
                          <a:ea typeface="Calibri" pitchFamily="34" charset="-122"/>
                          <a:cs typeface="Calibri" pitchFamily="34" charset="-120"/>
                        </a:rPr>
                        <a:t>45.3</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00" dirty="0">
                          <a:solidFill>
                            <a:srgbClr val="44506B"/>
                          </a:solidFill>
                          <a:latin typeface="Calibri" pitchFamily="34" charset="0"/>
                          <a:ea typeface="Calibri" pitchFamily="34" charset="-122"/>
                          <a:cs typeface="Calibri" pitchFamily="34" charset="-120"/>
                        </a:rPr>
                        <a:t>55.5</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594360">
                <a:tc>
                  <a:txBody>
                    <a:bodyPr/>
                    <a:lstStyle/>
                    <a:p>
                      <a:pPr indent="0" marL="0">
                        <a:buNone/>
                      </a:pPr>
                      <a:r>
                        <a:rPr lang="en-US" sz="1500" dirty="0">
                          <a:solidFill>
                            <a:srgbClr val="44506B"/>
                          </a:solidFill>
                          <a:latin typeface="Calibri" pitchFamily="34" charset="0"/>
                          <a:ea typeface="Calibri" pitchFamily="34" charset="-122"/>
                          <a:cs typeface="Calibri" pitchFamily="34" charset="-120"/>
                        </a:rPr>
                        <a:t>Rule-Based Conditioner</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8EDF7"/>
                    </a:solidFill>
                  </a:tcPr>
                </a:tc>
                <a:tc>
                  <a:txBody>
                    <a:bodyPr/>
                    <a:lstStyle/>
                    <a:p>
                      <a:pPr algn="ctr" indent="0" marL="0">
                        <a:buNone/>
                      </a:pPr>
                      <a:r>
                        <a:rPr lang="en-US" sz="1500" dirty="0">
                          <a:solidFill>
                            <a:srgbClr val="44506B"/>
                          </a:solidFill>
                          <a:latin typeface="Calibri" pitchFamily="34" charset="0"/>
                          <a:ea typeface="Calibri" pitchFamily="34" charset="-122"/>
                          <a:cs typeface="Calibri" pitchFamily="34" charset="-120"/>
                        </a:rPr>
                        <a:t>30.0</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8EDF7"/>
                    </a:solidFill>
                  </a:tcPr>
                </a:tc>
                <a:tc>
                  <a:txBody>
                    <a:bodyPr/>
                    <a:lstStyle/>
                    <a:p>
                      <a:pPr algn="ctr" indent="0" marL="0">
                        <a:buNone/>
                      </a:pPr>
                      <a:r>
                        <a:rPr lang="en-US" sz="1500" dirty="0">
                          <a:solidFill>
                            <a:srgbClr val="44506B"/>
                          </a:solidFill>
                          <a:latin typeface="Calibri" pitchFamily="34" charset="0"/>
                          <a:ea typeface="Calibri" pitchFamily="34" charset="-122"/>
                          <a:cs typeface="Calibri" pitchFamily="34" charset="-120"/>
                        </a:rPr>
                        <a:t>45.3</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8EDF7"/>
                    </a:solidFill>
                  </a:tcPr>
                </a:tc>
                <a:tc>
                  <a:txBody>
                    <a:bodyPr/>
                    <a:lstStyle/>
                    <a:p>
                      <a:pPr algn="ctr" indent="0" marL="0">
                        <a:buNone/>
                      </a:pPr>
                      <a:r>
                        <a:rPr lang="en-US" sz="1500" dirty="0">
                          <a:solidFill>
                            <a:srgbClr val="44506B"/>
                          </a:solidFill>
                          <a:latin typeface="Calibri" pitchFamily="34" charset="0"/>
                          <a:ea typeface="Calibri" pitchFamily="34" charset="-122"/>
                          <a:cs typeface="Calibri" pitchFamily="34" charset="-120"/>
                        </a:rPr>
                        <a:t>55.6</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8EDF7"/>
                    </a:solidFill>
                  </a:tcPr>
                </a:tc>
              </a:tr>
              <a:tr h="59436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Hybrid v8 (đề xuất)</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C8213B"/>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34.3 ± 0.6</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C8213B"/>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44.6 ± 0.9</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C8213B"/>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57.1 ± 0.8</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C8213B"/>
                    </a:solidFill>
                  </a:tcPr>
                </a:tc>
              </a:tr>
            </a:tbl>
          </a:graphicData>
        </a:graphic>
      </p:graphicFrame>
      <p:sp>
        <p:nvSpPr>
          <p:cNvPr id="5" name="Text 2"/>
          <p:cNvSpPr txBox="1"/>
          <p:nvPr/>
        </p:nvSpPr>
        <p:spPr>
          <a:xfrm>
            <a:off x="640080" y="4160520"/>
            <a:ext cx="7863840" cy="320040"/>
          </a:xfrm>
          <a:prstGeom prst="rect">
            <a:avLst/>
          </a:prstGeom>
          <a:noFill/>
          <a:ln/>
        </p:spPr>
        <p:txBody>
          <a:bodyPr wrap="square" lIns="0" tIns="0" rIns="0" bIns="0" rtlCol="0" anchor="ctr"/>
          <a:lstStyle/>
          <a:p>
            <a:pPr indent="0" marL="0">
              <a:buNone/>
            </a:pPr>
            <a:r>
              <a:rPr lang="en-US" sz="1150" i="1" dirty="0">
                <a:solidFill>
                  <a:srgbClr val="8791A8"/>
                </a:solidFill>
                <a:latin typeface="Calibri" pitchFamily="34" charset="0"/>
                <a:ea typeface="Calibri" pitchFamily="34" charset="-122"/>
                <a:cs typeface="Calibri" pitchFamily="34" charset="-120"/>
              </a:rPr>
              <a:t>trung bình ± độ lệch chuẩn qua 3 seed (42 / 43 / 44)  ·  tập kiểm thử OF-ItW, n = 2.804 segment</a:t>
            </a:r>
            <a:endParaRPr lang="en-US" sz="1150" dirty="0"/>
          </a:p>
        </p:txBody>
      </p:sp>
      <p:sp>
        <p:nvSpPr>
          <p:cNvPr id="6" name="Shape 3"/>
          <p:cNvSpPr/>
          <p:nvPr/>
        </p:nvSpPr>
        <p:spPr>
          <a:xfrm>
            <a:off x="8869680" y="1691640"/>
            <a:ext cx="2743200" cy="2743200"/>
          </a:xfrm>
          <a:prstGeom prst="roundRect">
            <a:avLst>
              <a:gd name="adj" fmla="val 4000"/>
            </a:avLst>
          </a:prstGeom>
          <a:solidFill>
            <a:srgbClr val="1B2A4A"/>
          </a:solidFill>
          <a:ln/>
        </p:spPr>
      </p:sp>
      <p:sp>
        <p:nvSpPr>
          <p:cNvPr id="7" name="Text 4"/>
          <p:cNvSpPr txBox="1"/>
          <p:nvPr/>
        </p:nvSpPr>
        <p:spPr>
          <a:xfrm>
            <a:off x="8869680" y="2011680"/>
            <a:ext cx="2743200" cy="1005840"/>
          </a:xfrm>
          <a:prstGeom prst="rect">
            <a:avLst/>
          </a:prstGeom>
          <a:noFill/>
          <a:ln/>
        </p:spPr>
        <p:txBody>
          <a:bodyPr wrap="square" lIns="0" tIns="0" rIns="0" bIns="0" rtlCol="0" anchor="ctr"/>
          <a:lstStyle/>
          <a:p>
            <a:pPr algn="ctr" indent="0" marL="0">
              <a:buNone/>
            </a:pPr>
            <a:r>
              <a:rPr lang="en-US" sz="5200" b="1" dirty="0">
                <a:solidFill>
                  <a:srgbClr val="C8213B"/>
                </a:solidFill>
                <a:latin typeface="Cambria" pitchFamily="34" charset="0"/>
                <a:ea typeface="Cambria" pitchFamily="34" charset="-122"/>
                <a:cs typeface="Cambria" pitchFamily="34" charset="-120"/>
              </a:rPr>
              <a:t>+4.3</a:t>
            </a:r>
            <a:endParaRPr lang="en-US" sz="5200" dirty="0"/>
          </a:p>
        </p:txBody>
      </p:sp>
      <p:sp>
        <p:nvSpPr>
          <p:cNvPr id="8" name="Text 5"/>
          <p:cNvSpPr txBox="1"/>
          <p:nvPr/>
        </p:nvSpPr>
        <p:spPr>
          <a:xfrm>
            <a:off x="9052560" y="3063240"/>
            <a:ext cx="2377440" cy="64008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điểm Fallen-F1</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so với rule-based</a:t>
            </a:r>
            <a:endParaRPr lang="en-US" sz="1300" dirty="0"/>
          </a:p>
        </p:txBody>
      </p:sp>
      <p:sp>
        <p:nvSpPr>
          <p:cNvPr id="9" name="Text 6"/>
          <p:cNvSpPr txBox="1"/>
          <p:nvPr/>
        </p:nvSpPr>
        <p:spPr>
          <a:xfrm>
            <a:off x="9052560" y="3749040"/>
            <a:ext cx="2377440" cy="594360"/>
          </a:xfrm>
          <a:prstGeom prst="rect">
            <a:avLst/>
          </a:prstGeom>
          <a:noFill/>
          <a:ln/>
        </p:spPr>
        <p:txBody>
          <a:bodyPr wrap="square" lIns="0" tIns="0" rIns="0" bIns="0" rtlCol="0" anchor="ctr"/>
          <a:lstStyle/>
          <a:p>
            <a:pPr algn="ctr" indent="0" marL="0">
              <a:buNone/>
            </a:pPr>
            <a:r>
              <a:rPr lang="en-US" sz="1100" i="1" dirty="0">
                <a:solidFill>
                  <a:srgbClr val="CADCFC"/>
                </a:solidFill>
                <a:latin typeface="Calibri" pitchFamily="34" charset="0"/>
                <a:ea typeface="Calibri" pitchFamily="34" charset="-122"/>
                <a:cs typeface="Calibri" pitchFamily="34" charset="-120"/>
              </a:rPr>
              <a:t>+1.5 điểm Fall∪Fallen</a:t>
            </a:r>
            <a:endParaRPr lang="en-US" sz="1100" dirty="0"/>
          </a:p>
          <a:p>
            <a:pPr algn="ctr" indent="0" marL="0">
              <a:buNone/>
            </a:pPr>
            <a:r>
              <a:rPr lang="en-US" sz="1100" i="1" dirty="0">
                <a:solidFill>
                  <a:srgbClr val="CADCFC"/>
                </a:solidFill>
                <a:latin typeface="Calibri" pitchFamily="34" charset="0"/>
                <a:ea typeface="Calibri" pitchFamily="34" charset="-122"/>
                <a:cs typeface="Calibri" pitchFamily="34" charset="-120"/>
              </a:rPr>
              <a:t>(chỉ số quyết định về mặt lâm sàng)</a:t>
            </a:r>
            <a:endParaRPr lang="en-US" sz="1100" dirty="0"/>
          </a:p>
        </p:txBody>
      </p:sp>
      <p:sp>
        <p:nvSpPr>
          <p:cNvPr id="10" name="Text 7"/>
          <p:cNvSpPr txBox="1"/>
          <p:nvPr/>
        </p:nvSpPr>
        <p:spPr>
          <a:xfrm>
            <a:off x="640080" y="4709160"/>
            <a:ext cx="10972800" cy="457200"/>
          </a:xfrm>
          <a:prstGeom prst="rect">
            <a:avLst/>
          </a:prstGeom>
          <a:noFill/>
          <a:ln/>
        </p:spPr>
        <p:txBody>
          <a:bodyPr wrap="square" lIns="0" tIns="0" rIns="0" bIns="0" rtlCol="0" anchor="ctr"/>
          <a:lstStyle/>
          <a:p>
            <a:pPr indent="0" marL="0">
              <a:buNone/>
            </a:pPr>
            <a:r>
              <a:rPr lang="en-US" sz="1200" dirty="0">
                <a:solidFill>
                  <a:srgbClr val="44506B"/>
                </a:solidFill>
                <a:latin typeface="Calibri" pitchFamily="34" charset="0"/>
                <a:ea typeface="Calibri" pitchFamily="34" charset="-122"/>
                <a:cs typeface="Calibri" pitchFamily="34" charset="-120"/>
              </a:rPr>
              <a:t>Baseline và rule-based là tất định (variance = 0) — độ lệch của Hybrid v8 phản ánh 3 lần huấn luyện độc lập, không phải nhiễu đo lường.</a:t>
            </a:r>
            <a:endParaRPr lang="en-US" sz="1200" dirty="0"/>
          </a:p>
        </p:txBody>
      </p:sp>
      <p:sp>
        <p:nvSpPr>
          <p:cNvPr id="11" name="Text 8"/>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A0A8BD"/>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2E86AB"/>
                </a:solidFill>
                <a:latin typeface="Calibri" pitchFamily="34" charset="0"/>
                <a:ea typeface="Calibri" pitchFamily="34" charset="-122"/>
                <a:cs typeface="Calibri" pitchFamily="34" charset="-120"/>
              </a:rPr>
              <a:t>KIỂM ĐỊNH THỐNG KÊ</a:t>
            </a:r>
            <a:endParaRPr lang="en-US" sz="1300" dirty="0"/>
          </a:p>
        </p:txBody>
      </p:sp>
      <p:sp>
        <p:nvSpPr>
          <p:cNvPr id="3" name="Text 1"/>
          <p:cNvSpPr txBox="1"/>
          <p:nvPr/>
        </p:nvSpPr>
        <p:spPr>
          <a:xfrm>
            <a:off x="548640" y="658368"/>
            <a:ext cx="11064240" cy="82296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Cải thiện là thật, hay chỉ là nhiễu?</a:t>
            </a:r>
            <a:endParaRPr lang="en-US" sz="3000" dirty="0"/>
          </a:p>
        </p:txBody>
      </p:sp>
      <p:sp>
        <p:nvSpPr>
          <p:cNvPr id="4" name="Text 2"/>
          <p:cNvSpPr txBox="1"/>
          <p:nvPr/>
        </p:nvSpPr>
        <p:spPr>
          <a:xfrm>
            <a:off x="548640" y="1508760"/>
            <a:ext cx="10972800" cy="365760"/>
          </a:xfrm>
          <a:prstGeom prst="rect">
            <a:avLst/>
          </a:prstGeom>
          <a:noFill/>
          <a:ln/>
        </p:spPr>
        <p:txBody>
          <a:bodyPr wrap="square" lIns="0" tIns="0" rIns="0" bIns="0" rtlCol="0" anchor="ctr"/>
          <a:lstStyle/>
          <a:p>
            <a:pPr indent="0" marL="0">
              <a:buNone/>
            </a:pPr>
            <a:r>
              <a:rPr lang="en-US" sz="1400" dirty="0">
                <a:solidFill>
                  <a:srgbClr val="44506B"/>
                </a:solidFill>
                <a:latin typeface="Calibri" pitchFamily="34" charset="0"/>
                <a:ea typeface="Calibri" pitchFamily="34" charset="-122"/>
                <a:cs typeface="Calibri" pitchFamily="34" charset="-120"/>
              </a:rPr>
              <a:t>Bootstrap theo video (10.000 lần resample) — Hybrid v8 so với Rule-Based, chỉ số Fall∪Fallen F1</a:t>
            </a:r>
            <a:endParaRPr lang="en-US" sz="1400" dirty="0"/>
          </a:p>
        </p:txBody>
      </p:sp>
      <p:sp>
        <p:nvSpPr>
          <p:cNvPr id="5" name="Shape 3"/>
          <p:cNvSpPr/>
          <p:nvPr/>
        </p:nvSpPr>
        <p:spPr>
          <a:xfrm>
            <a:off x="548640" y="2103120"/>
            <a:ext cx="3429000" cy="2286000"/>
          </a:xfrm>
          <a:prstGeom prst="roundRect">
            <a:avLst>
              <a:gd name="adj" fmla="val 4800"/>
            </a:avLst>
          </a:prstGeom>
          <a:solidFill>
            <a:srgbClr val="E8EDF7"/>
          </a:solidFill>
          <a:ln w="19050">
            <a:solidFill>
              <a:srgbClr val="2F9E44"/>
            </a:solidFill>
            <a:prstDash val="solid"/>
          </a:ln>
        </p:spPr>
      </p:sp>
      <p:sp>
        <p:nvSpPr>
          <p:cNvPr id="6" name="Text 4"/>
          <p:cNvSpPr txBox="1"/>
          <p:nvPr/>
        </p:nvSpPr>
        <p:spPr>
          <a:xfrm>
            <a:off x="822960" y="2286000"/>
            <a:ext cx="2880360" cy="365760"/>
          </a:xfrm>
          <a:prstGeom prst="rect">
            <a:avLst/>
          </a:prstGeom>
          <a:noFill/>
          <a:ln/>
        </p:spPr>
        <p:txBody>
          <a:bodyPr wrap="square" lIns="0" tIns="0" rIns="0" bIns="0"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Seed 42</a:t>
            </a:r>
            <a:endParaRPr lang="en-US" sz="1500" dirty="0"/>
          </a:p>
        </p:txBody>
      </p:sp>
      <p:sp>
        <p:nvSpPr>
          <p:cNvPr id="7" name="Text 5"/>
          <p:cNvSpPr txBox="1"/>
          <p:nvPr/>
        </p:nvSpPr>
        <p:spPr>
          <a:xfrm>
            <a:off x="822960" y="2697480"/>
            <a:ext cx="2880360" cy="731520"/>
          </a:xfrm>
          <a:prstGeom prst="rect">
            <a:avLst/>
          </a:prstGeom>
          <a:noFill/>
          <a:ln/>
        </p:spPr>
        <p:txBody>
          <a:bodyPr wrap="square" lIns="0" tIns="0" rIns="0" bIns="0" rtlCol="0" anchor="ctr"/>
          <a:lstStyle/>
          <a:p>
            <a:pPr indent="0" marL="0">
              <a:buNone/>
            </a:pPr>
            <a:r>
              <a:rPr lang="en-US" sz="3400" b="1" dirty="0">
                <a:solidFill>
                  <a:srgbClr val="2F9E44"/>
                </a:solidFill>
                <a:latin typeface="Cambria" pitchFamily="34" charset="0"/>
                <a:ea typeface="Cambria" pitchFamily="34" charset="-122"/>
                <a:cs typeface="Cambria" pitchFamily="34" charset="-120"/>
              </a:rPr>
              <a:t>+2.35 pp</a:t>
            </a:r>
            <a:endParaRPr lang="en-US" sz="3400" dirty="0"/>
          </a:p>
        </p:txBody>
      </p:sp>
      <p:sp>
        <p:nvSpPr>
          <p:cNvPr id="8" name="Text 6"/>
          <p:cNvSpPr txBox="1"/>
          <p:nvPr/>
        </p:nvSpPr>
        <p:spPr>
          <a:xfrm>
            <a:off x="822960" y="3474720"/>
            <a:ext cx="2880360" cy="320040"/>
          </a:xfrm>
          <a:prstGeom prst="rect">
            <a:avLst/>
          </a:prstGeom>
          <a:noFill/>
          <a:ln/>
        </p:spPr>
        <p:txBody>
          <a:bodyPr wrap="square" lIns="0" tIns="0" rIns="0" bIns="0" rtlCol="0" anchor="ctr"/>
          <a:lstStyle/>
          <a:p>
            <a:pPr indent="0" marL="0">
              <a:buNone/>
            </a:pPr>
            <a:r>
              <a:rPr lang="en-US" sz="1250" dirty="0">
                <a:solidFill>
                  <a:srgbClr val="44506B"/>
                </a:solidFill>
                <a:latin typeface="Calibri" pitchFamily="34" charset="0"/>
                <a:ea typeface="Calibri" pitchFamily="34" charset="-122"/>
                <a:cs typeface="Calibri" pitchFamily="34" charset="-120"/>
              </a:rPr>
              <a:t>95% CI [+0.90, +3.82]</a:t>
            </a:r>
            <a:endParaRPr lang="en-US" sz="1250" dirty="0"/>
          </a:p>
        </p:txBody>
      </p:sp>
      <p:sp>
        <p:nvSpPr>
          <p:cNvPr id="9" name="Text 7"/>
          <p:cNvSpPr txBox="1"/>
          <p:nvPr/>
        </p:nvSpPr>
        <p:spPr>
          <a:xfrm>
            <a:off x="822960" y="3794760"/>
            <a:ext cx="2880360" cy="320040"/>
          </a:xfrm>
          <a:prstGeom prst="rect">
            <a:avLst/>
          </a:prstGeom>
          <a:noFill/>
          <a:ln/>
        </p:spPr>
        <p:txBody>
          <a:bodyPr wrap="square" lIns="0" tIns="0" rIns="0" bIns="0" rtlCol="0" anchor="ctr"/>
          <a:lstStyle/>
          <a:p>
            <a:pPr indent="0" marL="0">
              <a:buNone/>
            </a:pPr>
            <a:r>
              <a:rPr lang="en-US" sz="1250" b="1" dirty="0">
                <a:solidFill>
                  <a:srgbClr val="44506B"/>
                </a:solidFill>
                <a:latin typeface="Calibri" pitchFamily="34" charset="0"/>
                <a:ea typeface="Calibri" pitchFamily="34" charset="-122"/>
                <a:cs typeface="Calibri" pitchFamily="34" charset="-120"/>
              </a:rPr>
              <a:t>p = 0.0017</a:t>
            </a:r>
            <a:endParaRPr lang="en-US" sz="1250" dirty="0"/>
          </a:p>
        </p:txBody>
      </p:sp>
      <p:sp>
        <p:nvSpPr>
          <p:cNvPr id="10" name="Text 8"/>
          <p:cNvSpPr txBox="1"/>
          <p:nvPr/>
        </p:nvSpPr>
        <p:spPr>
          <a:xfrm>
            <a:off x="822960" y="3977640"/>
            <a:ext cx="2880360" cy="274320"/>
          </a:xfrm>
          <a:prstGeom prst="rect">
            <a:avLst/>
          </a:prstGeom>
          <a:noFill/>
          <a:ln/>
        </p:spPr>
        <p:txBody>
          <a:bodyPr wrap="square" lIns="0" tIns="0" rIns="0" bIns="0" rtlCol="0" anchor="ctr"/>
          <a:lstStyle/>
          <a:p>
            <a:pPr indent="0" marL="0">
              <a:buNone/>
            </a:pPr>
            <a:r>
              <a:rPr lang="en-US" sz="1100" b="1" spc="100" kern="0" dirty="0">
                <a:solidFill>
                  <a:srgbClr val="2F9E44"/>
                </a:solidFill>
                <a:latin typeface="Calibri" pitchFamily="34" charset="0"/>
                <a:ea typeface="Calibri" pitchFamily="34" charset="-122"/>
                <a:cs typeface="Calibri" pitchFamily="34" charset="-120"/>
              </a:rPr>
              <a:t>CÓ Ý NGHĨA</a:t>
            </a:r>
            <a:endParaRPr lang="en-US" sz="1100" dirty="0"/>
          </a:p>
        </p:txBody>
      </p:sp>
      <p:sp>
        <p:nvSpPr>
          <p:cNvPr id="11" name="Shape 9"/>
          <p:cNvSpPr/>
          <p:nvPr/>
        </p:nvSpPr>
        <p:spPr>
          <a:xfrm>
            <a:off x="4251960" y="2103120"/>
            <a:ext cx="3429000" cy="2286000"/>
          </a:xfrm>
          <a:prstGeom prst="roundRect">
            <a:avLst>
              <a:gd name="adj" fmla="val 4800"/>
            </a:avLst>
          </a:prstGeom>
          <a:solidFill>
            <a:srgbClr val="E8EDF7"/>
          </a:solidFill>
          <a:ln w="19050">
            <a:solidFill>
              <a:srgbClr val="2F9E44"/>
            </a:solidFill>
            <a:prstDash val="solid"/>
          </a:ln>
        </p:spPr>
      </p:sp>
      <p:sp>
        <p:nvSpPr>
          <p:cNvPr id="12" name="Text 10"/>
          <p:cNvSpPr txBox="1"/>
          <p:nvPr/>
        </p:nvSpPr>
        <p:spPr>
          <a:xfrm>
            <a:off x="4526280" y="2286000"/>
            <a:ext cx="2880360" cy="365760"/>
          </a:xfrm>
          <a:prstGeom prst="rect">
            <a:avLst/>
          </a:prstGeom>
          <a:noFill/>
          <a:ln/>
        </p:spPr>
        <p:txBody>
          <a:bodyPr wrap="square" lIns="0" tIns="0" rIns="0" bIns="0"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Seed 43</a:t>
            </a:r>
            <a:endParaRPr lang="en-US" sz="1500" dirty="0"/>
          </a:p>
        </p:txBody>
      </p:sp>
      <p:sp>
        <p:nvSpPr>
          <p:cNvPr id="13" name="Text 11"/>
          <p:cNvSpPr txBox="1"/>
          <p:nvPr/>
        </p:nvSpPr>
        <p:spPr>
          <a:xfrm>
            <a:off x="4526280" y="2697480"/>
            <a:ext cx="2880360" cy="731520"/>
          </a:xfrm>
          <a:prstGeom prst="rect">
            <a:avLst/>
          </a:prstGeom>
          <a:noFill/>
          <a:ln/>
        </p:spPr>
        <p:txBody>
          <a:bodyPr wrap="square" lIns="0" tIns="0" rIns="0" bIns="0" rtlCol="0" anchor="ctr"/>
          <a:lstStyle/>
          <a:p>
            <a:pPr indent="0" marL="0">
              <a:buNone/>
            </a:pPr>
            <a:r>
              <a:rPr lang="en-US" sz="3400" b="1" dirty="0">
                <a:solidFill>
                  <a:srgbClr val="2F9E44"/>
                </a:solidFill>
                <a:latin typeface="Cambria" pitchFamily="34" charset="0"/>
                <a:ea typeface="Cambria" pitchFamily="34" charset="-122"/>
                <a:cs typeface="Cambria" pitchFamily="34" charset="-120"/>
              </a:rPr>
              <a:t>+1.57 pp</a:t>
            </a:r>
            <a:endParaRPr lang="en-US" sz="3400" dirty="0"/>
          </a:p>
        </p:txBody>
      </p:sp>
      <p:sp>
        <p:nvSpPr>
          <p:cNvPr id="14" name="Text 12"/>
          <p:cNvSpPr txBox="1"/>
          <p:nvPr/>
        </p:nvSpPr>
        <p:spPr>
          <a:xfrm>
            <a:off x="4526280" y="3474720"/>
            <a:ext cx="2880360" cy="320040"/>
          </a:xfrm>
          <a:prstGeom prst="rect">
            <a:avLst/>
          </a:prstGeom>
          <a:noFill/>
          <a:ln/>
        </p:spPr>
        <p:txBody>
          <a:bodyPr wrap="square" lIns="0" tIns="0" rIns="0" bIns="0" rtlCol="0" anchor="ctr"/>
          <a:lstStyle/>
          <a:p>
            <a:pPr indent="0" marL="0">
              <a:buNone/>
            </a:pPr>
            <a:r>
              <a:rPr lang="en-US" sz="1250" dirty="0">
                <a:solidFill>
                  <a:srgbClr val="44506B"/>
                </a:solidFill>
                <a:latin typeface="Calibri" pitchFamily="34" charset="0"/>
                <a:ea typeface="Calibri" pitchFamily="34" charset="-122"/>
                <a:cs typeface="Calibri" pitchFamily="34" charset="-120"/>
              </a:rPr>
              <a:t>95% CI [+0.15, +2.96]</a:t>
            </a:r>
            <a:endParaRPr lang="en-US" sz="1250" dirty="0"/>
          </a:p>
        </p:txBody>
      </p:sp>
      <p:sp>
        <p:nvSpPr>
          <p:cNvPr id="15" name="Text 13"/>
          <p:cNvSpPr txBox="1"/>
          <p:nvPr/>
        </p:nvSpPr>
        <p:spPr>
          <a:xfrm>
            <a:off x="4526280" y="3794760"/>
            <a:ext cx="2880360" cy="320040"/>
          </a:xfrm>
          <a:prstGeom prst="rect">
            <a:avLst/>
          </a:prstGeom>
          <a:noFill/>
          <a:ln/>
        </p:spPr>
        <p:txBody>
          <a:bodyPr wrap="square" lIns="0" tIns="0" rIns="0" bIns="0" rtlCol="0" anchor="ctr"/>
          <a:lstStyle/>
          <a:p>
            <a:pPr indent="0" marL="0">
              <a:buNone/>
            </a:pPr>
            <a:r>
              <a:rPr lang="en-US" sz="1250" b="1" dirty="0">
                <a:solidFill>
                  <a:srgbClr val="44506B"/>
                </a:solidFill>
                <a:latin typeface="Calibri" pitchFamily="34" charset="0"/>
                <a:ea typeface="Calibri" pitchFamily="34" charset="-122"/>
                <a:cs typeface="Calibri" pitchFamily="34" charset="-120"/>
              </a:rPr>
              <a:t>p = 0.0148</a:t>
            </a:r>
            <a:endParaRPr lang="en-US" sz="1250" dirty="0"/>
          </a:p>
        </p:txBody>
      </p:sp>
      <p:sp>
        <p:nvSpPr>
          <p:cNvPr id="16" name="Text 14"/>
          <p:cNvSpPr txBox="1"/>
          <p:nvPr/>
        </p:nvSpPr>
        <p:spPr>
          <a:xfrm>
            <a:off x="4526280" y="3977640"/>
            <a:ext cx="2880360" cy="274320"/>
          </a:xfrm>
          <a:prstGeom prst="rect">
            <a:avLst/>
          </a:prstGeom>
          <a:noFill/>
          <a:ln/>
        </p:spPr>
        <p:txBody>
          <a:bodyPr wrap="square" lIns="0" tIns="0" rIns="0" bIns="0" rtlCol="0" anchor="ctr"/>
          <a:lstStyle/>
          <a:p>
            <a:pPr indent="0" marL="0">
              <a:buNone/>
            </a:pPr>
            <a:r>
              <a:rPr lang="en-US" sz="1100" b="1" spc="100" kern="0" dirty="0">
                <a:solidFill>
                  <a:srgbClr val="2F9E44"/>
                </a:solidFill>
                <a:latin typeface="Calibri" pitchFamily="34" charset="0"/>
                <a:ea typeface="Calibri" pitchFamily="34" charset="-122"/>
                <a:cs typeface="Calibri" pitchFamily="34" charset="-120"/>
              </a:rPr>
              <a:t>CÓ Ý NGHĨA</a:t>
            </a:r>
            <a:endParaRPr lang="en-US" sz="1100" dirty="0"/>
          </a:p>
        </p:txBody>
      </p:sp>
      <p:sp>
        <p:nvSpPr>
          <p:cNvPr id="17" name="Shape 15"/>
          <p:cNvSpPr/>
          <p:nvPr/>
        </p:nvSpPr>
        <p:spPr>
          <a:xfrm>
            <a:off x="7955280" y="2103120"/>
            <a:ext cx="3429000" cy="2286000"/>
          </a:xfrm>
          <a:prstGeom prst="roundRect">
            <a:avLst>
              <a:gd name="adj" fmla="val 4800"/>
            </a:avLst>
          </a:prstGeom>
          <a:solidFill>
            <a:srgbClr val="E8EDF7"/>
          </a:solidFill>
          <a:ln w="19050">
            <a:solidFill>
              <a:srgbClr val="D98E04"/>
            </a:solidFill>
            <a:prstDash val="solid"/>
          </a:ln>
        </p:spPr>
      </p:sp>
      <p:sp>
        <p:nvSpPr>
          <p:cNvPr id="18" name="Text 16"/>
          <p:cNvSpPr txBox="1"/>
          <p:nvPr/>
        </p:nvSpPr>
        <p:spPr>
          <a:xfrm>
            <a:off x="8229600" y="2286000"/>
            <a:ext cx="2880360" cy="365760"/>
          </a:xfrm>
          <a:prstGeom prst="rect">
            <a:avLst/>
          </a:prstGeom>
          <a:noFill/>
          <a:ln/>
        </p:spPr>
        <p:txBody>
          <a:bodyPr wrap="square" lIns="0" tIns="0" rIns="0" bIns="0"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Seed 44</a:t>
            </a:r>
            <a:endParaRPr lang="en-US" sz="1500" dirty="0"/>
          </a:p>
        </p:txBody>
      </p:sp>
      <p:sp>
        <p:nvSpPr>
          <p:cNvPr id="19" name="Text 17"/>
          <p:cNvSpPr txBox="1"/>
          <p:nvPr/>
        </p:nvSpPr>
        <p:spPr>
          <a:xfrm>
            <a:off x="8229600" y="2697480"/>
            <a:ext cx="2880360" cy="731520"/>
          </a:xfrm>
          <a:prstGeom prst="rect">
            <a:avLst/>
          </a:prstGeom>
          <a:noFill/>
          <a:ln/>
        </p:spPr>
        <p:txBody>
          <a:bodyPr wrap="square" lIns="0" tIns="0" rIns="0" bIns="0" rtlCol="0" anchor="ctr"/>
          <a:lstStyle/>
          <a:p>
            <a:pPr indent="0" marL="0">
              <a:buNone/>
            </a:pPr>
            <a:r>
              <a:rPr lang="en-US" sz="3400" b="1" dirty="0">
                <a:solidFill>
                  <a:srgbClr val="D98E04"/>
                </a:solidFill>
                <a:latin typeface="Cambria" pitchFamily="34" charset="0"/>
                <a:ea typeface="Cambria" pitchFamily="34" charset="-122"/>
                <a:cs typeface="Cambria" pitchFamily="34" charset="-120"/>
              </a:rPr>
              <a:t>+0.86 pp</a:t>
            </a:r>
            <a:endParaRPr lang="en-US" sz="3400" dirty="0"/>
          </a:p>
        </p:txBody>
      </p:sp>
      <p:sp>
        <p:nvSpPr>
          <p:cNvPr id="20" name="Text 18"/>
          <p:cNvSpPr txBox="1"/>
          <p:nvPr/>
        </p:nvSpPr>
        <p:spPr>
          <a:xfrm>
            <a:off x="8229600" y="3474720"/>
            <a:ext cx="2880360" cy="320040"/>
          </a:xfrm>
          <a:prstGeom prst="rect">
            <a:avLst/>
          </a:prstGeom>
          <a:noFill/>
          <a:ln/>
        </p:spPr>
        <p:txBody>
          <a:bodyPr wrap="square" lIns="0" tIns="0" rIns="0" bIns="0" rtlCol="0" anchor="ctr"/>
          <a:lstStyle/>
          <a:p>
            <a:pPr indent="0" marL="0">
              <a:buNone/>
            </a:pPr>
            <a:r>
              <a:rPr lang="en-US" sz="1250" dirty="0">
                <a:solidFill>
                  <a:srgbClr val="44506B"/>
                </a:solidFill>
                <a:latin typeface="Calibri" pitchFamily="34" charset="0"/>
                <a:ea typeface="Calibri" pitchFamily="34" charset="-122"/>
                <a:cs typeface="Calibri" pitchFamily="34" charset="-120"/>
              </a:rPr>
              <a:t>95% CI [−0.64, +2.35]</a:t>
            </a:r>
            <a:endParaRPr lang="en-US" sz="1250" dirty="0"/>
          </a:p>
        </p:txBody>
      </p:sp>
      <p:sp>
        <p:nvSpPr>
          <p:cNvPr id="21" name="Text 19"/>
          <p:cNvSpPr txBox="1"/>
          <p:nvPr/>
        </p:nvSpPr>
        <p:spPr>
          <a:xfrm>
            <a:off x="8229600" y="3794760"/>
            <a:ext cx="2880360" cy="320040"/>
          </a:xfrm>
          <a:prstGeom prst="rect">
            <a:avLst/>
          </a:prstGeom>
          <a:noFill/>
          <a:ln/>
        </p:spPr>
        <p:txBody>
          <a:bodyPr wrap="square" lIns="0" tIns="0" rIns="0" bIns="0" rtlCol="0" anchor="ctr"/>
          <a:lstStyle/>
          <a:p>
            <a:pPr indent="0" marL="0">
              <a:buNone/>
            </a:pPr>
            <a:r>
              <a:rPr lang="en-US" sz="1250" b="1" dirty="0">
                <a:solidFill>
                  <a:srgbClr val="44506B"/>
                </a:solidFill>
                <a:latin typeface="Calibri" pitchFamily="34" charset="0"/>
                <a:ea typeface="Calibri" pitchFamily="34" charset="-122"/>
                <a:cs typeface="Calibri" pitchFamily="34" charset="-120"/>
              </a:rPr>
              <a:t>p = 0.1283</a:t>
            </a:r>
            <a:endParaRPr lang="en-US" sz="1250" dirty="0"/>
          </a:p>
        </p:txBody>
      </p:sp>
      <p:sp>
        <p:nvSpPr>
          <p:cNvPr id="22" name="Text 20"/>
          <p:cNvSpPr txBox="1"/>
          <p:nvPr/>
        </p:nvSpPr>
        <p:spPr>
          <a:xfrm>
            <a:off x="8229600" y="3977640"/>
            <a:ext cx="2880360" cy="274320"/>
          </a:xfrm>
          <a:prstGeom prst="rect">
            <a:avLst/>
          </a:prstGeom>
          <a:noFill/>
          <a:ln/>
        </p:spPr>
        <p:txBody>
          <a:bodyPr wrap="square" lIns="0" tIns="0" rIns="0" bIns="0" rtlCol="0" anchor="ctr"/>
          <a:lstStyle/>
          <a:p>
            <a:pPr indent="0" marL="0">
              <a:buNone/>
            </a:pPr>
            <a:r>
              <a:rPr lang="en-US" sz="1100" b="1" spc="100" kern="0" dirty="0">
                <a:solidFill>
                  <a:srgbClr val="D98E04"/>
                </a:solidFill>
                <a:latin typeface="Calibri" pitchFamily="34" charset="0"/>
                <a:ea typeface="Calibri" pitchFamily="34" charset="-122"/>
                <a:cs typeface="Calibri" pitchFamily="34" charset="-120"/>
              </a:rPr>
              <a:t>CI CHỨA 0</a:t>
            </a:r>
            <a:endParaRPr lang="en-US" sz="1100" dirty="0"/>
          </a:p>
        </p:txBody>
      </p:sp>
      <p:sp>
        <p:nvSpPr>
          <p:cNvPr id="23" name="Shape 21"/>
          <p:cNvSpPr/>
          <p:nvPr/>
        </p:nvSpPr>
        <p:spPr>
          <a:xfrm>
            <a:off x="548640" y="4709160"/>
            <a:ext cx="11064240" cy="1371600"/>
          </a:xfrm>
          <a:prstGeom prst="roundRect">
            <a:avLst>
              <a:gd name="adj" fmla="val 6667"/>
            </a:avLst>
          </a:prstGeom>
          <a:solidFill>
            <a:srgbClr val="1B2A4A"/>
          </a:solidFill>
          <a:ln/>
        </p:spPr>
      </p:sp>
      <p:sp>
        <p:nvSpPr>
          <p:cNvPr id="24" name="Text 22"/>
          <p:cNvSpPr txBox="1"/>
          <p:nvPr/>
        </p:nvSpPr>
        <p:spPr>
          <a:xfrm>
            <a:off x="868680" y="4709160"/>
            <a:ext cx="10424160" cy="1371600"/>
          </a:xfrm>
          <a:prstGeom prst="rect">
            <a:avLst/>
          </a:prstGeom>
          <a:noFill/>
          <a:ln/>
        </p:spPr>
        <p:txBody>
          <a:bodyPr wrap="square" lIns="0" tIns="0" rIns="0" bIns="0" rtlCol="0" anchor="ctr"/>
          <a:lstStyle/>
          <a:p>
            <a:pPr indent="0" marL="0">
              <a:buNone/>
            </a:pPr>
            <a:r>
              <a:rPr lang="en-US" sz="1350" b="1" dirty="0">
                <a:solidFill>
                  <a:srgbClr val="2E86AB"/>
                </a:solidFill>
                <a:latin typeface="Calibri" pitchFamily="34" charset="0"/>
                <a:ea typeface="Calibri" pitchFamily="34" charset="-122"/>
                <a:cs typeface="Calibri" pitchFamily="34" charset="-120"/>
              </a:rPr>
              <a:t>Đối chiếu chéo:  </a:t>
            </a:r>
            <a:pPr indent="0" marL="0">
              <a:buNone/>
            </a:pPr>
            <a:r>
              <a:rPr lang="en-US" sz="1350" dirty="0">
                <a:solidFill>
                  <a:srgbClr val="E4E9F5"/>
                </a:solidFill>
                <a:latin typeface="Calibri" pitchFamily="34" charset="0"/>
                <a:ea typeface="Calibri" pitchFamily="34" charset="-122"/>
                <a:cs typeface="Calibri" pitchFamily="34" charset="-120"/>
              </a:rPr>
              <a:t>McNemar test trên “union-accuracy” có ý nghĩa ở cả 3 seed (p &lt; 0.0001) — Hybrid v8 luôn sửa đúng nhiều gấp ~2 lần số segment nó làm sai. Kết quả bootstrap trên F1 thận trọng hơn (2/3 seed), được báo cáo trung thực thay vì làm tròn lên.</a:t>
            </a:r>
            <a:endParaRPr lang="en-US" sz="1350" dirty="0"/>
          </a:p>
        </p:txBody>
      </p:sp>
      <p:sp>
        <p:nvSpPr>
          <p:cNvPr id="25" name="Text 23"/>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A0A8BD"/>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2E86AB"/>
                </a:solidFill>
                <a:latin typeface="Calibri" pitchFamily="34" charset="0"/>
                <a:ea typeface="Calibri" pitchFamily="34" charset="-122"/>
                <a:cs typeface="Calibri" pitchFamily="34" charset="-120"/>
              </a:rPr>
              <a:t>PHÂN TÍCH LỖI</a:t>
            </a:r>
            <a:endParaRPr lang="en-US" sz="1300" dirty="0"/>
          </a:p>
        </p:txBody>
      </p:sp>
      <p:sp>
        <p:nvSpPr>
          <p:cNvPr id="3" name="Text 1"/>
          <p:cNvSpPr txBox="1"/>
          <p:nvPr/>
        </p:nvSpPr>
        <p:spPr>
          <a:xfrm>
            <a:off x="548640" y="658368"/>
            <a:ext cx="11064240" cy="82296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Trực quan hoá sự cải thiện</a:t>
            </a:r>
            <a:endParaRPr lang="en-US" sz="3000" dirty="0"/>
          </a:p>
        </p:txBody>
      </p:sp>
      <p:pic>
        <p:nvPicPr>
          <p:cNvPr id="4" name="Image 0" descr="C:\Users\MYPC\Downloads\omnifall-conditioning\omnifall-conditioning\figures\confusion_matrix_4class.png">    </p:cNvPr>
          <p:cNvPicPr>
            <a:picLocks noChangeAspect="1"/>
          </p:cNvPicPr>
          <p:nvPr/>
        </p:nvPicPr>
        <p:blipFill>
          <a:blip r:embed="rId1"/>
          <a:stretch>
            <a:fillRect/>
          </a:stretch>
        </p:blipFill>
        <p:spPr>
          <a:xfrm>
            <a:off x="502920" y="1737360"/>
            <a:ext cx="5212080" cy="2976983"/>
          </a:xfrm>
          <a:prstGeom prst="rect">
            <a:avLst/>
          </a:prstGeom>
        </p:spPr>
      </p:pic>
      <p:sp>
        <p:nvSpPr>
          <p:cNvPr id="5" name="Text 2"/>
          <p:cNvSpPr txBox="1"/>
          <p:nvPr/>
        </p:nvSpPr>
        <p:spPr>
          <a:xfrm>
            <a:off x="502920" y="4805783"/>
            <a:ext cx="5212080" cy="502920"/>
          </a:xfrm>
          <a:prstGeom prst="rect">
            <a:avLst/>
          </a:prstGeom>
          <a:noFill/>
          <a:ln/>
        </p:spPr>
        <p:txBody>
          <a:bodyPr wrap="square" lIns="0" tIns="0" rIns="0" bIns="0" rtlCol="0" anchor="ctr"/>
          <a:lstStyle/>
          <a:p>
            <a:pPr algn="ctr" indent="0" marL="0">
              <a:buNone/>
            </a:pPr>
            <a:r>
              <a:rPr lang="en-US" sz="1050" i="1" dirty="0">
                <a:solidFill>
                  <a:srgbClr val="8791A8"/>
                </a:solidFill>
                <a:latin typeface="Calibri" pitchFamily="34" charset="0"/>
                <a:ea typeface="Calibri" pitchFamily="34" charset="-122"/>
                <a:cs typeface="Calibri" pitchFamily="34" charset="-120"/>
              </a:rPr>
              <a:t>Confusion matrix 4 lớp (fall/lie_down/fallen/lying), Baseline vs. Hybrid v8, gộp 3 seed</a:t>
            </a:r>
            <a:endParaRPr lang="en-US" sz="1050" dirty="0"/>
          </a:p>
        </p:txBody>
      </p:sp>
      <p:pic>
        <p:nvPicPr>
          <p:cNvPr id="6" name="Image 1" descr="C:\Users\MYPC\Downloads\omnifall-conditioning\omnifall-conditioning\figures\comparison_bar_chart.png">    </p:cNvPr>
          <p:cNvPicPr>
            <a:picLocks noChangeAspect="1"/>
          </p:cNvPicPr>
          <p:nvPr/>
        </p:nvPicPr>
        <p:blipFill>
          <a:blip r:embed="rId2"/>
          <a:stretch>
            <a:fillRect/>
          </a:stretch>
        </p:blipFill>
        <p:spPr>
          <a:xfrm>
            <a:off x="6035040" y="2286000"/>
            <a:ext cx="6035040" cy="2033389"/>
          </a:xfrm>
          <a:prstGeom prst="rect">
            <a:avLst/>
          </a:prstGeom>
        </p:spPr>
      </p:pic>
      <p:sp>
        <p:nvSpPr>
          <p:cNvPr id="7" name="Text 3"/>
          <p:cNvSpPr txBox="1"/>
          <p:nvPr/>
        </p:nvSpPr>
        <p:spPr>
          <a:xfrm>
            <a:off x="6035040" y="4410829"/>
            <a:ext cx="6035040" cy="457200"/>
          </a:xfrm>
          <a:prstGeom prst="rect">
            <a:avLst/>
          </a:prstGeom>
          <a:noFill/>
          <a:ln/>
        </p:spPr>
        <p:txBody>
          <a:bodyPr wrap="square" lIns="0" tIns="0" rIns="0" bIns="0" rtlCol="0" anchor="ctr"/>
          <a:lstStyle/>
          <a:p>
            <a:pPr algn="ctr" indent="0" marL="0">
              <a:buNone/>
            </a:pPr>
            <a:r>
              <a:rPr lang="en-US" sz="1050" i="1" dirty="0">
                <a:solidFill>
                  <a:srgbClr val="8791A8"/>
                </a:solidFill>
                <a:latin typeface="Calibri" pitchFamily="34" charset="0"/>
                <a:ea typeface="Calibri" pitchFamily="34" charset="-122"/>
                <a:cs typeface="Calibri" pitchFamily="34" charset="-120"/>
              </a:rPr>
              <a:t>So sánh 3 chỉ số qua 3 seed — điểm riêng lẻ overlay cho thấy độ lệch là thật</a:t>
            </a:r>
            <a:endParaRPr lang="en-US" sz="1050" dirty="0"/>
          </a:p>
        </p:txBody>
      </p:sp>
      <p:sp>
        <p:nvSpPr>
          <p:cNvPr id="8" name="Text 4"/>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A0A8BD"/>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A4A"/>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2E86AB"/>
                </a:solidFill>
                <a:latin typeface="Calibri" pitchFamily="34" charset="0"/>
                <a:ea typeface="Calibri" pitchFamily="34" charset="-122"/>
                <a:cs typeface="Calibri" pitchFamily="34" charset="-120"/>
              </a:rPr>
              <a:t>HỆ THỐNG CHẠY THẬT — VIDEO THẬT</a:t>
            </a:r>
            <a:endParaRPr lang="en-US" sz="1300" dirty="0"/>
          </a:p>
        </p:txBody>
      </p:sp>
      <p:sp>
        <p:nvSpPr>
          <p:cNvPr id="3" name="Text 1"/>
          <p:cNvSpPr txBox="1"/>
          <p:nvPr/>
        </p:nvSpPr>
        <p:spPr>
          <a:xfrm>
            <a:off x="548640" y="658368"/>
            <a:ext cx="11064240" cy="8229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Đã kiểm chứng trực tiếp trên video tai nạn thật</a:t>
            </a:r>
            <a:endParaRPr lang="en-US" sz="2800" dirty="0"/>
          </a:p>
        </p:txBody>
      </p:sp>
      <p:pic>
        <p:nvPicPr>
          <p:cNvPr id="4" name="Image 0" descr="C:\Users\MYPC\Downloads\omnifall-conditioning\omnifall-conditioning\figures\real_demo\fall_detected_real_footage.png">    </p:cNvPr>
          <p:cNvPicPr>
            <a:picLocks noChangeAspect="1"/>
          </p:cNvPicPr>
          <p:nvPr/>
        </p:nvPicPr>
        <p:blipFill>
          <a:blip r:embed="rId1"/>
          <a:stretch>
            <a:fillRect/>
          </a:stretch>
        </p:blipFill>
        <p:spPr>
          <a:xfrm>
            <a:off x="640080" y="1691640"/>
            <a:ext cx="1795780" cy="3200400"/>
          </a:xfrm>
          <a:prstGeom prst="rect">
            <a:avLst/>
          </a:prstGeom>
        </p:spPr>
      </p:pic>
      <p:sp>
        <p:nvSpPr>
          <p:cNvPr id="5" name="Text 2"/>
          <p:cNvSpPr txBox="1"/>
          <p:nvPr/>
        </p:nvSpPr>
        <p:spPr>
          <a:xfrm>
            <a:off x="502920" y="4965192"/>
            <a:ext cx="2070100" cy="320040"/>
          </a:xfrm>
          <a:prstGeom prst="rect">
            <a:avLst/>
          </a:prstGeom>
          <a:noFill/>
          <a:ln/>
        </p:spPr>
        <p:txBody>
          <a:bodyPr wrap="square" lIns="0" tIns="0" rIns="0" bIns="0" rtlCol="0" anchor="ctr"/>
          <a:lstStyle/>
          <a:p>
            <a:pPr algn="ctr" indent="0" marL="0">
              <a:buNone/>
            </a:pPr>
            <a:r>
              <a:rPr lang="en-US" sz="1100" dirty="0">
                <a:solidFill>
                  <a:srgbClr val="D98E04"/>
                </a:solidFill>
                <a:latin typeface="Calibri" pitchFamily="34" charset="0"/>
                <a:ea typeface="Calibri" pitchFamily="34" charset="-122"/>
                <a:cs typeface="Calibri" pitchFamily="34" charset="-120"/>
              </a:rPr>
              <a:t>t ≈ 22.0s — “fall” (vàng)</a:t>
            </a:r>
            <a:endParaRPr lang="en-US" sz="1100" dirty="0"/>
          </a:p>
        </p:txBody>
      </p:sp>
      <p:pic>
        <p:nvPicPr>
          <p:cNvPr id="6" name="Image 1" descr="C:\Users\MYPC\Downloads\omnifall-conditioning\omnifall-conditioning\figures\real_demo\fallen_detected_real_footage.png">    </p:cNvPr>
          <p:cNvPicPr>
            <a:picLocks noChangeAspect="1"/>
          </p:cNvPicPr>
          <p:nvPr/>
        </p:nvPicPr>
        <p:blipFill>
          <a:blip r:embed="rId2"/>
          <a:stretch>
            <a:fillRect/>
          </a:stretch>
        </p:blipFill>
        <p:spPr>
          <a:xfrm>
            <a:off x="2755900" y="1691640"/>
            <a:ext cx="1795780" cy="3200400"/>
          </a:xfrm>
          <a:prstGeom prst="rect">
            <a:avLst/>
          </a:prstGeom>
        </p:spPr>
      </p:pic>
      <p:sp>
        <p:nvSpPr>
          <p:cNvPr id="7" name="Text 3"/>
          <p:cNvSpPr txBox="1"/>
          <p:nvPr/>
        </p:nvSpPr>
        <p:spPr>
          <a:xfrm>
            <a:off x="2618740" y="4965192"/>
            <a:ext cx="2070100" cy="320040"/>
          </a:xfrm>
          <a:prstGeom prst="rect">
            <a:avLst/>
          </a:prstGeom>
          <a:noFill/>
          <a:ln/>
        </p:spPr>
        <p:txBody>
          <a:bodyPr wrap="square" lIns="0" tIns="0" rIns="0" bIns="0" rtlCol="0" anchor="ctr"/>
          <a:lstStyle/>
          <a:p>
            <a:pPr algn="ctr" indent="0" marL="0">
              <a:buNone/>
            </a:pPr>
            <a:r>
              <a:rPr lang="en-US" sz="1100" dirty="0">
                <a:solidFill>
                  <a:srgbClr val="C8213B"/>
                </a:solidFill>
                <a:latin typeface="Calibri" pitchFamily="34" charset="0"/>
                <a:ea typeface="Calibri" pitchFamily="34" charset="-122"/>
                <a:cs typeface="Calibri" pitchFamily="34" charset="-120"/>
              </a:rPr>
              <a:t>t ≈ 23.5s — “fallen” (cảnh báo đỏ)</a:t>
            </a:r>
            <a:endParaRPr lang="en-US" sz="1100" dirty="0"/>
          </a:p>
        </p:txBody>
      </p:sp>
      <p:sp>
        <p:nvSpPr>
          <p:cNvPr id="8" name="Text 4"/>
          <p:cNvSpPr txBox="1"/>
          <p:nvPr/>
        </p:nvSpPr>
        <p:spPr>
          <a:xfrm>
            <a:off x="640080" y="5330952"/>
            <a:ext cx="3911600" cy="365760"/>
          </a:xfrm>
          <a:prstGeom prst="rect">
            <a:avLst/>
          </a:prstGeom>
          <a:noFill/>
          <a:ln/>
        </p:spPr>
        <p:txBody>
          <a:bodyPr wrap="square" lIns="0" tIns="0" rIns="0" bIns="0" rtlCol="0" anchor="ctr"/>
          <a:lstStyle/>
          <a:p>
            <a:pPr indent="0" marL="0">
              <a:buNone/>
            </a:pPr>
            <a:r>
              <a:rPr lang="en-US" sz="1050" i="1" dirty="0">
                <a:solidFill>
                  <a:srgbClr val="8E8E96"/>
                </a:solidFill>
                <a:latin typeface="Calibri" pitchFamily="34" charset="0"/>
                <a:ea typeface="Calibri" pitchFamily="34" charset="-122"/>
                <a:cs typeface="Calibri" pitchFamily="34" charset="-120"/>
              </a:rPr>
              <a:t>Ảnh chụp thật, không chỉnh sửa — scripts/realtime_demo.py --mode both, chạy trực tiếp trên video test OOPS.</a:t>
            </a:r>
            <a:endParaRPr lang="en-US" sz="1050" dirty="0"/>
          </a:p>
        </p:txBody>
      </p:sp>
      <p:sp>
        <p:nvSpPr>
          <p:cNvPr id="9" name="Text 5"/>
          <p:cNvSpPr txBox="1"/>
          <p:nvPr/>
        </p:nvSpPr>
        <p:spPr>
          <a:xfrm>
            <a:off x="5008880" y="1691640"/>
            <a:ext cx="6631432" cy="59436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Nhãn thật của đoạn này: fall 18.5–20.2s → fallen 20.2–22.4s.</a:t>
            </a:r>
            <a:endParaRPr lang="en-US" sz="1250" dirty="0"/>
          </a:p>
        </p:txBody>
      </p:sp>
      <p:sp>
        <p:nvSpPr>
          <p:cNvPr id="10" name="Text 6"/>
          <p:cNvSpPr txBox="1"/>
          <p:nvPr/>
        </p:nvSpPr>
        <p:spPr>
          <a:xfrm>
            <a:off x="5008880" y="2286000"/>
            <a:ext cx="6631432" cy="640080"/>
          </a:xfrm>
          <a:prstGeom prst="rect">
            <a:avLst/>
          </a:prstGeom>
          <a:noFill/>
          <a:ln/>
        </p:spPr>
        <p:txBody>
          <a:bodyPr wrap="square" lIns="0" tIns="0" rIns="0" bIns="0" rtlCol="0" anchor="ctr"/>
          <a:lstStyle/>
          <a:p>
            <a:pPr indent="0" marL="0">
              <a:buNone/>
            </a:pPr>
            <a:r>
              <a:rPr lang="en-US" sz="1250" b="1" dirty="0">
                <a:solidFill>
                  <a:srgbClr val="2F9E44"/>
                </a:solidFill>
                <a:latin typeface="Calibri" pitchFamily="34" charset="0"/>
                <a:ea typeface="Calibri" pitchFamily="34" charset="-122"/>
                <a:cs typeface="Calibri" pitchFamily="34" charset="-120"/>
              </a:rPr>
              <a:t>Cả 2 conditioner đều nhận đúng trình tự fall → fallen, trễ ~2s so với thời điểm thật.</a:t>
            </a:r>
            <a:endParaRPr lang="en-US" sz="1250" dirty="0"/>
          </a:p>
        </p:txBody>
      </p:sp>
      <p:sp>
        <p:nvSpPr>
          <p:cNvPr id="11" name="Text 7"/>
          <p:cNvSpPr txBox="1"/>
          <p:nvPr/>
        </p:nvSpPr>
        <p:spPr>
          <a:xfrm>
            <a:off x="5008880" y="3017520"/>
            <a:ext cx="6631432" cy="1005840"/>
          </a:xfrm>
          <a:prstGeom prst="rect">
            <a:avLst/>
          </a:prstGeom>
          <a:noFill/>
          <a:ln/>
        </p:spPr>
        <p:txBody>
          <a:bodyPr wrap="square" lIns="0" tIns="0" rIns="0" bIns="0" rtlCol="0" anchor="ctr"/>
          <a:lstStyle/>
          <a:p>
            <a:pPr indent="0" marL="0">
              <a:buNone/>
            </a:pPr>
            <a:r>
              <a:rPr lang="en-US" sz="1150" dirty="0">
                <a:solidFill>
                  <a:srgbClr val="D98E04"/>
                </a:solidFill>
                <a:latin typeface="Calibri" pitchFamily="34" charset="0"/>
                <a:ea typeface="Calibri" pitchFamily="34" charset="-122"/>
                <a:cs typeface="Calibri" pitchFamily="34" charset="-120"/>
              </a:rPr>
              <a:t>Điểm chưa hoàn hảo (báo cáo trung thực): cảnh báo còn kéo dài ngắt quãng tới ~8s sau khi người đã đứng dậy — hệ quả của chính cửa sổ suy giảm 10s giúp tăng recall.</a:t>
            </a:r>
            <a:endParaRPr lang="en-US" sz="1150" dirty="0"/>
          </a:p>
        </p:txBody>
      </p:sp>
      <p:sp>
        <p:nvSpPr>
          <p:cNvPr id="12" name="Text 8"/>
          <p:cNvSpPr txBox="1"/>
          <p:nvPr/>
        </p:nvSpPr>
        <p:spPr>
          <a:xfrm>
            <a:off x="5008880" y="4114800"/>
            <a:ext cx="6631432" cy="457200"/>
          </a:xfrm>
          <a:prstGeom prst="rect">
            <a:avLst/>
          </a:prstGeom>
          <a:noFill/>
          <a:ln/>
        </p:spPr>
        <p:txBody>
          <a:bodyPr wrap="square" lIns="0" tIns="0" rIns="0" bIns="0" rtlCol="0" anchor="ctr"/>
          <a:lstStyle/>
          <a:p>
            <a:pPr indent="0" marL="0">
              <a:buNone/>
            </a:pPr>
            <a:r>
              <a:rPr lang="en-US" sz="1150" dirty="0">
                <a:solidFill>
                  <a:srgbClr val="8E8E96"/>
                </a:solidFill>
                <a:latin typeface="Calibri" pitchFamily="34" charset="0"/>
                <a:ea typeface="Calibri" pitchFamily="34" charset="-122"/>
                <a:cs typeface="Calibri" pitchFamily="34" charset="-120"/>
              </a:rPr>
              <a:t>~6.5–11.9 segment/s  ·  ~87–155 ms/lần cập nhật trên 1 GPU RTX 3070</a:t>
            </a:r>
            <a:endParaRPr lang="en-US" sz="1150" dirty="0"/>
          </a:p>
        </p:txBody>
      </p:sp>
      <p:sp>
        <p:nvSpPr>
          <p:cNvPr id="13" name="Shape 9"/>
          <p:cNvSpPr/>
          <p:nvPr/>
        </p:nvSpPr>
        <p:spPr>
          <a:xfrm>
            <a:off x="5008880" y="4754880"/>
            <a:ext cx="6631432" cy="868680"/>
          </a:xfrm>
          <a:prstGeom prst="roundRect">
            <a:avLst>
              <a:gd name="adj" fmla="val 10526"/>
            </a:avLst>
          </a:prstGeom>
          <a:solidFill>
            <a:srgbClr val="24365C"/>
          </a:solidFill>
          <a:ln w="15240">
            <a:solidFill>
              <a:srgbClr val="2E86AB"/>
            </a:solidFill>
            <a:prstDash val="solid"/>
          </a:ln>
        </p:spPr>
      </p:sp>
      <p:sp>
        <p:nvSpPr>
          <p:cNvPr id="14" name="Text 10"/>
          <p:cNvSpPr txBox="1"/>
          <p:nvPr/>
        </p:nvSpPr>
        <p:spPr>
          <a:xfrm>
            <a:off x="5237480" y="4754880"/>
            <a:ext cx="6174232" cy="868680"/>
          </a:xfrm>
          <a:prstGeom prst="rect">
            <a:avLst/>
          </a:prstGeom>
          <a:noFill/>
          <a:ln/>
        </p:spPr>
        <p:txBody>
          <a:bodyPr wrap="square" lIns="0" tIns="0" rIns="0" bIns="0" rtlCol="0" anchor="ctr"/>
          <a:lstStyle/>
          <a:p>
            <a:pPr indent="0" marL="0">
              <a:buNone/>
            </a:pPr>
            <a:r>
              <a:rPr lang="en-US" sz="1150" dirty="0">
                <a:solidFill>
                  <a:srgbClr val="2E86AB"/>
                </a:solidFill>
                <a:latin typeface="Calibri" pitchFamily="34" charset="0"/>
                <a:ea typeface="Calibri" pitchFamily="34" charset="-122"/>
                <a:cs typeface="Calibri" pitchFamily="34" charset="-120"/>
              </a:rPr>
              <a:t>Mọi sự kiện “fallen” được ghi timestamp vào fallen_events_log.csv để xem lại</a:t>
            </a:r>
            <a:endParaRPr lang="en-US" sz="1150" dirty="0"/>
          </a:p>
        </p:txBody>
      </p:sp>
      <p:sp>
        <p:nvSpPr>
          <p:cNvPr id="15" name="Text 11"/>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AEB9D4"/>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2E86AB"/>
                </a:solidFill>
                <a:latin typeface="Calibri" pitchFamily="34" charset="0"/>
                <a:ea typeface="Calibri" pitchFamily="34" charset="-122"/>
                <a:cs typeface="Calibri" pitchFamily="34" charset="-120"/>
              </a:rPr>
              <a:t>ĐÁNH GIÁ TRUNG THỰC</a:t>
            </a:r>
            <a:endParaRPr lang="en-US" sz="1300" dirty="0"/>
          </a:p>
        </p:txBody>
      </p:sp>
      <p:sp>
        <p:nvSpPr>
          <p:cNvPr id="3" name="Text 1"/>
          <p:cNvSpPr txBox="1"/>
          <p:nvPr/>
        </p:nvSpPr>
        <p:spPr>
          <a:xfrm>
            <a:off x="548640" y="658368"/>
            <a:ext cx="11064240" cy="82296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Những gì kết quả này CHƯA khẳng định được</a:t>
            </a:r>
            <a:endParaRPr lang="en-US" sz="3000" dirty="0"/>
          </a:p>
        </p:txBody>
      </p:sp>
      <p:sp>
        <p:nvSpPr>
          <p:cNvPr id="4" name="Shape 2"/>
          <p:cNvSpPr/>
          <p:nvPr/>
        </p:nvSpPr>
        <p:spPr>
          <a:xfrm>
            <a:off x="548640" y="1691640"/>
            <a:ext cx="73152" cy="1188720"/>
          </a:xfrm>
          <a:prstGeom prst="rect">
            <a:avLst/>
          </a:prstGeom>
          <a:solidFill>
            <a:srgbClr val="D98E04"/>
          </a:solidFill>
          <a:ln/>
        </p:spPr>
      </p:sp>
      <p:sp>
        <p:nvSpPr>
          <p:cNvPr id="5" name="Text 3"/>
          <p:cNvSpPr txBox="1"/>
          <p:nvPr/>
        </p:nvSpPr>
        <p:spPr>
          <a:xfrm>
            <a:off x="868680" y="1691640"/>
            <a:ext cx="2743200" cy="1188720"/>
          </a:xfrm>
          <a:prstGeom prst="rect">
            <a:avLst/>
          </a:prstGeom>
          <a:noFill/>
          <a:ln/>
        </p:spPr>
        <p:txBody>
          <a:bodyPr wrap="square" lIns="0" tIns="0" rIns="0" bIns="0" rtlCol="0" anchor="t"/>
          <a:lstStyle/>
          <a:p>
            <a:pPr indent="0" marL="0">
              <a:buNone/>
            </a:pPr>
            <a:r>
              <a:rPr lang="en-US" sz="1500" b="1" dirty="0">
                <a:solidFill>
                  <a:srgbClr val="1B2A4A"/>
                </a:solidFill>
                <a:latin typeface="Cambria" pitchFamily="34" charset="0"/>
                <a:ea typeface="Cambria" pitchFamily="34" charset="-122"/>
                <a:cs typeface="Cambria" pitchFamily="34" charset="-120"/>
              </a:rPr>
              <a:t>Chỉ 1 backbone</a:t>
            </a:r>
            <a:endParaRPr lang="en-US" sz="1500" dirty="0"/>
          </a:p>
        </p:txBody>
      </p:sp>
      <p:sp>
        <p:nvSpPr>
          <p:cNvPr id="6" name="Text 4"/>
          <p:cNvSpPr txBox="1"/>
          <p:nvPr/>
        </p:nvSpPr>
        <p:spPr>
          <a:xfrm>
            <a:off x="3749040" y="1691640"/>
            <a:ext cx="7863840" cy="1188720"/>
          </a:xfrm>
          <a:prstGeom prst="rect">
            <a:avLst/>
          </a:prstGeom>
          <a:noFill/>
          <a:ln/>
        </p:spPr>
        <p:txBody>
          <a:bodyPr wrap="square" lIns="0" tIns="0" rIns="0" bIns="0" rtlCol="0" anchor="t"/>
          <a:lstStyle/>
          <a:p>
            <a:pPr indent="0" marL="0">
              <a:buNone/>
            </a:pPr>
            <a:r>
              <a:rPr lang="en-US" sz="1250" dirty="0">
                <a:solidFill>
                  <a:srgbClr val="44506B"/>
                </a:solidFill>
                <a:latin typeface="Calibri" pitchFamily="34" charset="0"/>
                <a:ea typeface="Calibri" pitchFamily="34" charset="-122"/>
                <a:cs typeface="Calibri" pitchFamily="34" charset="-120"/>
              </a:rPr>
              <a:t>Toàn bộ kết quả chỉ kiểm chứng trên VideoMAE-K400. Repo chính thức không kèm code trích I3D/DINOv2, và việc tải lại video gốc cho backbone thứ 2 là chi phí thật, chưa giải quyết.</a:t>
            </a:r>
            <a:endParaRPr lang="en-US" sz="1250" dirty="0"/>
          </a:p>
        </p:txBody>
      </p:sp>
      <p:sp>
        <p:nvSpPr>
          <p:cNvPr id="7" name="Shape 5"/>
          <p:cNvSpPr/>
          <p:nvPr/>
        </p:nvSpPr>
        <p:spPr>
          <a:xfrm>
            <a:off x="548640" y="3108960"/>
            <a:ext cx="73152" cy="1188720"/>
          </a:xfrm>
          <a:prstGeom prst="rect">
            <a:avLst/>
          </a:prstGeom>
          <a:solidFill>
            <a:srgbClr val="D98E04"/>
          </a:solidFill>
          <a:ln/>
        </p:spPr>
      </p:sp>
      <p:sp>
        <p:nvSpPr>
          <p:cNvPr id="8" name="Text 6"/>
          <p:cNvSpPr txBox="1"/>
          <p:nvPr/>
        </p:nvSpPr>
        <p:spPr>
          <a:xfrm>
            <a:off x="868680" y="3108960"/>
            <a:ext cx="2743200" cy="1188720"/>
          </a:xfrm>
          <a:prstGeom prst="rect">
            <a:avLst/>
          </a:prstGeom>
          <a:noFill/>
          <a:ln/>
        </p:spPr>
        <p:txBody>
          <a:bodyPr wrap="square" lIns="0" tIns="0" rIns="0" bIns="0" rtlCol="0" anchor="t"/>
          <a:lstStyle/>
          <a:p>
            <a:pPr indent="0" marL="0">
              <a:buNone/>
            </a:pPr>
            <a:r>
              <a:rPr lang="en-US" sz="1500" b="1" dirty="0">
                <a:solidFill>
                  <a:srgbClr val="1B2A4A"/>
                </a:solidFill>
                <a:latin typeface="Cambria" pitchFamily="34" charset="0"/>
                <a:ea typeface="Cambria" pitchFamily="34" charset="-122"/>
                <a:cs typeface="Cambria" pitchFamily="34" charset="-120"/>
              </a:rPr>
              <a:t>Dữ liệu “lying” thưa &amp; lệch domain</a:t>
            </a:r>
            <a:endParaRPr lang="en-US" sz="1500" dirty="0"/>
          </a:p>
        </p:txBody>
      </p:sp>
      <p:sp>
        <p:nvSpPr>
          <p:cNvPr id="9" name="Text 7"/>
          <p:cNvSpPr txBox="1"/>
          <p:nvPr/>
        </p:nvSpPr>
        <p:spPr>
          <a:xfrm>
            <a:off x="3749040" y="3108960"/>
            <a:ext cx="7863840" cy="1188720"/>
          </a:xfrm>
          <a:prstGeom prst="rect">
            <a:avLst/>
          </a:prstGeom>
          <a:noFill/>
          <a:ln/>
        </p:spPr>
        <p:txBody>
          <a:bodyPr wrap="square" lIns="0" tIns="0" rIns="0" bIns="0" rtlCol="0" anchor="t"/>
          <a:lstStyle/>
          <a:p>
            <a:pPr indent="0" marL="0">
              <a:buNone/>
            </a:pPr>
            <a:r>
              <a:rPr lang="en-US" sz="1250" dirty="0">
                <a:solidFill>
                  <a:srgbClr val="44506B"/>
                </a:solidFill>
                <a:latin typeface="Calibri" pitchFamily="34" charset="0"/>
                <a:ea typeface="Calibri" pitchFamily="34" charset="-122"/>
                <a:cs typeface="Calibri" pitchFamily="34" charset="-120"/>
              </a:rPr>
              <a:t>Tập OF-ItW chỉ có 17 lying / 11 lie_down trong 2.804 segment. Ở 1 clip thật đã test, “lying” là người nằm trên ghế tập gym — model gọi là “other” thay vì “fallen” (an toàn) nhưng cho thấy lớp này khá hẹp về domain.</a:t>
            </a:r>
            <a:endParaRPr lang="en-US" sz="1250" dirty="0"/>
          </a:p>
        </p:txBody>
      </p:sp>
      <p:sp>
        <p:nvSpPr>
          <p:cNvPr id="10" name="Shape 8"/>
          <p:cNvSpPr/>
          <p:nvPr/>
        </p:nvSpPr>
        <p:spPr>
          <a:xfrm>
            <a:off x="548640" y="4526280"/>
            <a:ext cx="73152" cy="1188720"/>
          </a:xfrm>
          <a:prstGeom prst="rect">
            <a:avLst/>
          </a:prstGeom>
          <a:solidFill>
            <a:srgbClr val="C8213B"/>
          </a:solidFill>
          <a:ln/>
        </p:spPr>
      </p:sp>
      <p:sp>
        <p:nvSpPr>
          <p:cNvPr id="11" name="Text 9"/>
          <p:cNvSpPr txBox="1"/>
          <p:nvPr/>
        </p:nvSpPr>
        <p:spPr>
          <a:xfrm>
            <a:off x="868680" y="4526280"/>
            <a:ext cx="2743200" cy="1188720"/>
          </a:xfrm>
          <a:prstGeom prst="rect">
            <a:avLst/>
          </a:prstGeom>
          <a:noFill/>
          <a:ln/>
        </p:spPr>
        <p:txBody>
          <a:bodyPr wrap="square" lIns="0" tIns="0" rIns="0" bIns="0" rtlCol="0" anchor="t"/>
          <a:lstStyle/>
          <a:p>
            <a:pPr indent="0" marL="0">
              <a:buNone/>
            </a:pPr>
            <a:r>
              <a:rPr lang="en-US" sz="1500" b="1" dirty="0">
                <a:solidFill>
                  <a:srgbClr val="1B2A4A"/>
                </a:solidFill>
                <a:latin typeface="Cambria" pitchFamily="34" charset="0"/>
                <a:ea typeface="Cambria" pitchFamily="34" charset="-122"/>
                <a:cs typeface="Cambria" pitchFamily="34" charset="-120"/>
              </a:rPr>
              <a:t>Phương sai giữa các seed</a:t>
            </a:r>
            <a:endParaRPr lang="en-US" sz="1500" dirty="0"/>
          </a:p>
        </p:txBody>
      </p:sp>
      <p:sp>
        <p:nvSpPr>
          <p:cNvPr id="12" name="Text 10"/>
          <p:cNvSpPr txBox="1"/>
          <p:nvPr/>
        </p:nvSpPr>
        <p:spPr>
          <a:xfrm>
            <a:off x="3749040" y="4526280"/>
            <a:ext cx="7863840" cy="1188720"/>
          </a:xfrm>
          <a:prstGeom prst="rect">
            <a:avLst/>
          </a:prstGeom>
          <a:noFill/>
          <a:ln/>
        </p:spPr>
        <p:txBody>
          <a:bodyPr wrap="square" lIns="0" tIns="0" rIns="0" bIns="0" rtlCol="0" anchor="t"/>
          <a:lstStyle/>
          <a:p>
            <a:pPr indent="0" marL="0">
              <a:buNone/>
            </a:pPr>
            <a:r>
              <a:rPr lang="en-US" sz="1250" dirty="0">
                <a:solidFill>
                  <a:srgbClr val="44506B"/>
                </a:solidFill>
                <a:latin typeface="Calibri" pitchFamily="34" charset="0"/>
                <a:ea typeface="Calibri" pitchFamily="34" charset="-122"/>
                <a:cs typeface="Calibri" pitchFamily="34" charset="-120"/>
              </a:rPr>
              <a:t>1/3 seed không vượt ngưỡng 95% bootstrap CI trên F1 (dù cả 3 đều có ý nghĩa trên McNemar accuracy) — báo cáo là “nhất quán, không tuyệt đối”.</a:t>
            </a:r>
            <a:endParaRPr lang="en-US" sz="1250" dirty="0"/>
          </a:p>
        </p:txBody>
      </p:sp>
      <p:sp>
        <p:nvSpPr>
          <p:cNvPr id="13" name="Text 11"/>
          <p:cNvSpPr txBox="1"/>
          <p:nvPr/>
        </p:nvSpPr>
        <p:spPr>
          <a:xfrm>
            <a:off x="548640" y="6080760"/>
            <a:ext cx="10972800" cy="365760"/>
          </a:xfrm>
          <a:prstGeom prst="rect">
            <a:avLst/>
          </a:prstGeom>
          <a:noFill/>
          <a:ln/>
        </p:spPr>
        <p:txBody>
          <a:bodyPr wrap="square" lIns="0" tIns="0" rIns="0" bIns="0" rtlCol="0" anchor="ctr"/>
          <a:lstStyle/>
          <a:p>
            <a:pPr indent="0" marL="0">
              <a:buNone/>
            </a:pPr>
            <a:r>
              <a:rPr lang="en-US" sz="1300" i="1" dirty="0">
                <a:solidFill>
                  <a:srgbClr val="8791A8"/>
                </a:solidFill>
                <a:latin typeface="Calibri" pitchFamily="34" charset="0"/>
                <a:ea typeface="Calibri" pitchFamily="34" charset="-122"/>
                <a:cs typeface="Calibri" pitchFamily="34" charset="-120"/>
              </a:rPr>
              <a:t>Nêu rõ những giới hạn này là điều khiến kết quả tích cực đáng tin hơn.</a:t>
            </a:r>
            <a:endParaRPr lang="en-US" sz="1300" dirty="0"/>
          </a:p>
        </p:txBody>
      </p:sp>
      <p:sp>
        <p:nvSpPr>
          <p:cNvPr id="14" name="Text 12"/>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A0A8BD"/>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2286000" y="4114800"/>
            <a:ext cx="5486400" cy="5486400"/>
          </a:xfrm>
          <a:prstGeom prst="ellipse">
            <a:avLst/>
          </a:prstGeom>
          <a:solidFill>
            <a:srgbClr val="24365C"/>
          </a:solidFill>
          <a:ln/>
        </p:spPr>
      </p:sp>
      <p:sp>
        <p:nvSpPr>
          <p:cNvPr id="3" name="Text 1"/>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2E86AB"/>
                </a:solidFill>
                <a:latin typeface="Calibri" pitchFamily="34" charset="0"/>
                <a:ea typeface="Calibri" pitchFamily="34" charset="-122"/>
                <a:cs typeface="Calibri" pitchFamily="34" charset="-120"/>
              </a:rPr>
              <a:t>KẾT LUẬN</a:t>
            </a:r>
            <a:endParaRPr lang="en-US" sz="1300" dirty="0"/>
          </a:p>
        </p:txBody>
      </p:sp>
      <p:sp>
        <p:nvSpPr>
          <p:cNvPr id="4" name="Text 2"/>
          <p:cNvSpPr txBox="1"/>
          <p:nvPr/>
        </p:nvSpPr>
        <p:spPr>
          <a:xfrm>
            <a:off x="548640" y="658368"/>
            <a:ext cx="1106424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Bối cảnh biến điểm mù thành điểm mạnh</a:t>
            </a:r>
            <a:endParaRPr lang="en-US" sz="3000" dirty="0"/>
          </a:p>
        </p:txBody>
      </p:sp>
      <p:sp>
        <p:nvSpPr>
          <p:cNvPr id="5" name="Text 3"/>
          <p:cNvSpPr txBox="1"/>
          <p:nvPr/>
        </p:nvSpPr>
        <p:spPr>
          <a:xfrm>
            <a:off x="640080" y="1783080"/>
            <a:ext cx="10607040" cy="2743200"/>
          </a:xfrm>
          <a:prstGeom prst="rect">
            <a:avLst/>
          </a:prstGeom>
          <a:noFill/>
          <a:ln/>
        </p:spPr>
        <p:txBody>
          <a:bodyPr wrap="square" lIns="0" tIns="0" rIns="0" bIns="0" rtlCol="0" anchor="ctr"/>
          <a:lstStyle/>
          <a:p>
            <a:pPr marL="342900" indent="-342900">
              <a:spcAft>
                <a:spcPts val="1400"/>
              </a:spcAft>
              <a:buSzPct val="100000"/>
              <a:buChar char="•"/>
            </a:pPr>
            <a:r>
              <a:rPr lang="en-US" sz="1500" dirty="0">
                <a:solidFill>
                  <a:srgbClr val="E4E9F5"/>
                </a:solidFill>
                <a:latin typeface="Calibri" pitchFamily="34" charset="0"/>
                <a:ea typeface="Calibri" pitchFamily="34" charset="-122"/>
                <a:cs typeface="Calibri" pitchFamily="34" charset="-120"/>
              </a:rPr>
              <a:t>Cấu trúc nhân quả sẵn có trong taxonomy (fall→fallen, lie_down→lying) là tín hiệu miễn phí, mạnh mẽ — phần lớn classifier bỏ qua nó</a:t>
            </a:r>
            <a:endParaRPr lang="en-US" sz="1500" dirty="0"/>
          </a:p>
          <a:p>
            <a:pPr marL="342900" indent="-342900">
              <a:spcAft>
                <a:spcPts val="1400"/>
              </a:spcAft>
              <a:buSzPct val="100000"/>
              <a:buChar char="•"/>
            </a:pPr>
            <a:r>
              <a:rPr lang="en-US" sz="1500" dirty="0">
                <a:solidFill>
                  <a:srgbClr val="E4E9F5"/>
                </a:solidFill>
                <a:latin typeface="Calibri" pitchFamily="34" charset="0"/>
                <a:ea typeface="Calibri" pitchFamily="34" charset="-122"/>
                <a:cs typeface="Calibri" pitchFamily="34" charset="-120"/>
              </a:rPr>
              <a:t>Rule-based conditioner đơn giản, minh bạch đã giúp cải thiện; learnable conditioner với self-attention làm tốt hơn có ý nghĩa thống kê</a:t>
            </a:r>
            <a:endParaRPr lang="en-US" sz="1500" dirty="0"/>
          </a:p>
          <a:p>
            <a:pPr marL="342900" indent="-342900">
              <a:spcAft>
                <a:spcPts val="1400"/>
              </a:spcAft>
              <a:buSzPct val="100000"/>
              <a:buChar char="•"/>
            </a:pPr>
            <a:r>
              <a:rPr lang="en-US" sz="1500" dirty="0">
                <a:solidFill>
                  <a:srgbClr val="E4E9F5"/>
                </a:solidFill>
                <a:latin typeface="Calibri" pitchFamily="34" charset="0"/>
                <a:ea typeface="Calibri" pitchFamily="34" charset="-122"/>
                <a:cs typeface="Calibri" pitchFamily="34" charset="-120"/>
              </a:rPr>
              <a:t>Kết quả được triển khai thành hệ thống chạy thật (webcam, video thật) — không chỉ dừng ở bảng số liệu trong slide</a:t>
            </a:r>
            <a:endParaRPr lang="en-US" sz="1500" dirty="0"/>
          </a:p>
          <a:p>
            <a:pPr marL="342900" indent="-342900">
              <a:spcAft>
                <a:spcPts val="1400"/>
              </a:spcAft>
              <a:buSzPct val="100000"/>
              <a:buChar char="•"/>
            </a:pPr>
            <a:r>
              <a:rPr lang="en-US" sz="1500" dirty="0">
                <a:solidFill>
                  <a:srgbClr val="E4E9F5"/>
                </a:solidFill>
                <a:latin typeface="Calibri" pitchFamily="34" charset="0"/>
                <a:ea typeface="Calibri" pitchFamily="34" charset="-122"/>
                <a:cs typeface="Calibri" pitchFamily="34" charset="-120"/>
              </a:rPr>
              <a:t>Hướng phát triển tiếp theo: mở rộng sang backbone thứ 2, tăng dữ liệu “lying”, đánh giá trên toàn bộ 818 video OF-ItW vừa thu thập được</a:t>
            </a:r>
            <a:endParaRPr lang="en-US" sz="1500" dirty="0"/>
          </a:p>
        </p:txBody>
      </p:sp>
      <p:sp>
        <p:nvSpPr>
          <p:cNvPr id="6" name="Shape 4"/>
          <p:cNvSpPr/>
          <p:nvPr/>
        </p:nvSpPr>
        <p:spPr>
          <a:xfrm>
            <a:off x="640080" y="4892040"/>
            <a:ext cx="10607040" cy="0"/>
          </a:xfrm>
          <a:prstGeom prst="line">
            <a:avLst/>
          </a:prstGeom>
          <a:noFill/>
          <a:ln w="19050">
            <a:solidFill>
              <a:srgbClr val="24365C"/>
            </a:solidFill>
            <a:prstDash val="solid"/>
          </a:ln>
        </p:spPr>
      </p:sp>
      <p:sp>
        <p:nvSpPr>
          <p:cNvPr id="7" name="Text 5"/>
          <p:cNvSpPr txBox="1"/>
          <p:nvPr/>
        </p:nvSpPr>
        <p:spPr>
          <a:xfrm>
            <a:off x="640080" y="5120640"/>
            <a:ext cx="10607040" cy="54864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Cảm ơn thầy/cô và các bạn đã lắng nghe</a:t>
            </a:r>
            <a:endParaRPr lang="en-US" sz="2400" dirty="0"/>
          </a:p>
        </p:txBody>
      </p:sp>
      <p:sp>
        <p:nvSpPr>
          <p:cNvPr id="8" name="Text 6"/>
          <p:cNvSpPr txBox="1"/>
          <p:nvPr/>
        </p:nvSpPr>
        <p:spPr>
          <a:xfrm>
            <a:off x="640080" y="5760720"/>
            <a:ext cx="10607040" cy="365760"/>
          </a:xfrm>
          <a:prstGeom prst="rect">
            <a:avLst/>
          </a:prstGeom>
          <a:noFill/>
          <a:ln/>
        </p:spPr>
        <p:txBody>
          <a:bodyPr wrap="square" lIns="0" tIns="0" rIns="0" bIns="0" rtlCol="0" anchor="ctr"/>
          <a:lstStyle/>
          <a:p>
            <a:pPr indent="0" marL="0">
              <a:buNone/>
            </a:pPr>
            <a:r>
              <a:rPr lang="en-US" sz="1200" i="1" dirty="0">
                <a:solidFill>
                  <a:srgbClr val="AEB9D4"/>
                </a:solidFill>
                <a:latin typeface="Calibri" pitchFamily="34" charset="0"/>
                <a:ea typeface="Calibri" pitchFamily="34" charset="-122"/>
                <a:cs typeface="Calibri" pitchFamily="34" charset="-120"/>
              </a:rPr>
              <a:t>scripts/realtime_demo.py  ·  results_final.md  ·  OmniFall benchmark (Schneider et al., 2025)</a:t>
            </a:r>
            <a:endParaRPr lang="en-US" sz="1200" dirty="0"/>
          </a:p>
        </p:txBody>
      </p:sp>
      <p:sp>
        <p:nvSpPr>
          <p:cNvPr id="9" name="Text 7"/>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AEB9D4"/>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2E86AB"/>
                </a:solidFill>
                <a:latin typeface="Calibri" pitchFamily="34" charset="0"/>
                <a:ea typeface="Calibri" pitchFamily="34" charset="-122"/>
                <a:cs typeface="Calibri" pitchFamily="34" charset="-120"/>
              </a:rPr>
              <a:t>TÀI LIỆU THAM KHẢO</a:t>
            </a:r>
            <a:endParaRPr lang="en-US" sz="1300" dirty="0"/>
          </a:p>
        </p:txBody>
      </p:sp>
      <p:sp>
        <p:nvSpPr>
          <p:cNvPr id="3" name="Text 1"/>
          <p:cNvSpPr txBox="1"/>
          <p:nvPr/>
        </p:nvSpPr>
        <p:spPr>
          <a:xfrm>
            <a:off x="548640" y="658368"/>
            <a:ext cx="11064240" cy="82296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Danh mục tài liệu chính đã sử dụng</a:t>
            </a:r>
            <a:endParaRPr lang="en-US" sz="3000" dirty="0"/>
          </a:p>
        </p:txBody>
      </p:sp>
      <p:sp>
        <p:nvSpPr>
          <p:cNvPr id="4" name="Text 2"/>
          <p:cNvSpPr txBox="1"/>
          <p:nvPr/>
        </p:nvSpPr>
        <p:spPr>
          <a:xfrm>
            <a:off x="548640" y="1691640"/>
            <a:ext cx="11064240" cy="4389120"/>
          </a:xfrm>
          <a:prstGeom prst="rect">
            <a:avLst/>
          </a:prstGeom>
          <a:noFill/>
          <a:ln/>
        </p:spPr>
        <p:txBody>
          <a:bodyPr wrap="square" lIns="0" tIns="0" rIns="0" bIns="0" rtlCol="0" anchor="ctr"/>
          <a:lstStyle/>
          <a:p>
            <a:pPr marL="342900" indent="-342900">
              <a:spcAft>
                <a:spcPts val="1400"/>
              </a:spcAft>
              <a:buSzPct val="100000"/>
              <a:buChar char="•"/>
            </a:pPr>
            <a:r>
              <a:rPr lang="en-US" sz="1300" dirty="0">
                <a:solidFill>
                  <a:srgbClr val="44506B"/>
                </a:solidFill>
                <a:latin typeface="Calibri" pitchFamily="34" charset="0"/>
                <a:ea typeface="Calibri" pitchFamily="34" charset="-122"/>
                <a:cs typeface="Calibri" pitchFamily="34" charset="-120"/>
              </a:rPr>
              <a:t>Schneider, D., Marinov, Z., Mistol, M., Zhong, Z., Jaus, A., Düger, R., Baur, R., Sarfraz, M. S., Stiefelhagen, R. “OmniFall: From Staged Through Synthetic to Wild, A Unified Multi-Domain Dataset for Robust Fall Detection.” arXiv:2505.19889, 2025.</a:t>
            </a:r>
            <a:endParaRPr lang="en-US" sz="1300" dirty="0"/>
          </a:p>
          <a:p>
            <a:pPr marL="342900" indent="-342900">
              <a:spcAft>
                <a:spcPts val="1400"/>
              </a:spcAft>
              <a:buSzPct val="100000"/>
              <a:buChar char="•"/>
            </a:pPr>
            <a:r>
              <a:rPr lang="en-US" sz="1300" dirty="0">
                <a:solidFill>
                  <a:srgbClr val="44506B"/>
                </a:solidFill>
                <a:latin typeface="Calibri" pitchFamily="34" charset="0"/>
                <a:ea typeface="Calibri" pitchFamily="34" charset="-122"/>
                <a:cs typeface="Calibri" pitchFamily="34" charset="-120"/>
              </a:rPr>
              <a:t>Tong, Z., Song, Y., Wang, J., Wang, L. “VideoMAE: Masked Autoencoders are Data-Efficient Learners for Self-Supervised Video Pre-Training.” NeurIPS 2022.</a:t>
            </a:r>
            <a:endParaRPr lang="en-US" sz="1300" dirty="0"/>
          </a:p>
          <a:p>
            <a:pPr marL="342900" indent="-342900">
              <a:spcAft>
                <a:spcPts val="1400"/>
              </a:spcAft>
              <a:buSzPct val="100000"/>
              <a:buChar char="•"/>
            </a:pPr>
            <a:r>
              <a:rPr lang="en-US" sz="1300" dirty="0">
                <a:solidFill>
                  <a:srgbClr val="44506B"/>
                </a:solidFill>
                <a:latin typeface="Calibri" pitchFamily="34" charset="0"/>
                <a:ea typeface="Calibri" pitchFamily="34" charset="-122"/>
                <a:cs typeface="Calibri" pitchFamily="34" charset="-120"/>
              </a:rPr>
              <a:t>Carreira, J., Zisserman, A. “Quo Vadis, Action Recognition? A New Model and the Kinetics Dataset.” CVPR 2017. (backbone I3D)</a:t>
            </a:r>
            <a:endParaRPr lang="en-US" sz="1300" dirty="0"/>
          </a:p>
          <a:p>
            <a:pPr marL="342900" indent="-342900">
              <a:spcAft>
                <a:spcPts val="1400"/>
              </a:spcAft>
              <a:buSzPct val="100000"/>
              <a:buChar char="•"/>
            </a:pPr>
            <a:r>
              <a:rPr lang="en-US" sz="1300" dirty="0">
                <a:solidFill>
                  <a:srgbClr val="44506B"/>
                </a:solidFill>
                <a:latin typeface="Calibri" pitchFamily="34" charset="0"/>
                <a:ea typeface="Calibri" pitchFamily="34" charset="-122"/>
                <a:cs typeface="Calibri" pitchFamily="34" charset="-120"/>
              </a:rPr>
              <a:t>“Vision-based human fall detection systems using deep learning: A review.” Computers in Biology and Medicine, ScienceDirect, 2022.</a:t>
            </a:r>
            <a:endParaRPr lang="en-US" sz="1300" dirty="0"/>
          </a:p>
          <a:p>
            <a:pPr marL="342900" indent="-342900">
              <a:spcAft>
                <a:spcPts val="1400"/>
              </a:spcAft>
              <a:buSzPct val="100000"/>
              <a:buChar char="•"/>
            </a:pPr>
            <a:r>
              <a:rPr lang="en-US" sz="1300" dirty="0">
                <a:solidFill>
                  <a:srgbClr val="44506B"/>
                </a:solidFill>
                <a:latin typeface="Calibri" pitchFamily="34" charset="0"/>
                <a:ea typeface="Calibri" pitchFamily="34" charset="-122"/>
                <a:cs typeface="Calibri" pitchFamily="34" charset="-120"/>
              </a:rPr>
              <a:t>“Deep Learning for Computer Vision based Activity Recognition and Fall Detection of the Elderly: a Systematic Review.” arXiv:2401.11790, 2024.</a:t>
            </a:r>
            <a:endParaRPr lang="en-US" sz="1300" dirty="0"/>
          </a:p>
          <a:p>
            <a:pPr marL="342900" indent="-342900">
              <a:spcAft>
                <a:spcPts val="1400"/>
              </a:spcAft>
              <a:buSzPct val="100000"/>
              <a:buChar char="•"/>
            </a:pPr>
            <a:r>
              <a:rPr lang="en-US" sz="1300" dirty="0">
                <a:solidFill>
                  <a:srgbClr val="44506B"/>
                </a:solidFill>
                <a:latin typeface="Calibri" pitchFamily="34" charset="0"/>
                <a:ea typeface="Calibri" pitchFamily="34" charset="-122"/>
                <a:cs typeface="Calibri" pitchFamily="34" charset="-120"/>
              </a:rPr>
              <a:t>“Temporal Action Segmentation: An Analysis of Modern Approaches.” arXiv:2210.10352 — tổng quan hướng làm mượt/hậu xử lý theo thời gian.</a:t>
            </a:r>
            <a:endParaRPr lang="en-US" sz="1300" dirty="0"/>
          </a:p>
        </p:txBody>
      </p:sp>
      <p:sp>
        <p:nvSpPr>
          <p:cNvPr id="5" name="Text 3"/>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A0A8BD"/>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2026-10-06T14:54:48Z</dcterms:created>
  <dcterms:modified xsi:type="dcterms:W3CDTF">2026-10-06T14:54:48Z</dcterms:modified>
</cp:coreProperties>
</file>