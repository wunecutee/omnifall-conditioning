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Số segment mỗi lớp trong OF-ItW test (n = 2.804)</a:t>
            </a:r>
          </a:p>
        </c:rich>
      </c:tx>
      <c:layout/>
      <c:overlay val="0"/>
    </c:title>
    <c:autoTitleDeleted val="0"/>
    <c:plotArea>
      <c:layout/>
      <c:barChart>
        <c:barDir val="bar"/>
        <c:grouping val="clustered"/>
        <c:varyColors val="0"/>
        <c:ser>
          <c:idx val="0"/>
          <c:order val="0"/>
          <c:tx>
            <c:strRef>
              <c:f>Sheet1!$B$1</c:f>
              <c:strCache>
                <c:ptCount val="1"/>
                <c:pt idx="0">
                  <c:v>Số segment</c:v>
                </c:pt>
              </c:strCache>
            </c:strRef>
          </c:tx>
          <c:spPr>
            <a:solidFill>
              <a:srgbClr val="2E86AB"/>
            </a:solidFill>
            <a:effectLst/>
          </c:spPr>
          <c:invertIfNegative val="0"/>
          <c:dLbls>
            <c:numFmt formatCode="#,##0" sourceLinked="0"/>
            <c:txPr>
              <a:bodyPr/>
              <a:lstStyle/>
              <a:p>
                <a:pPr>
                  <a:defRPr b="0" i="0" strike="noStrike" sz="1100" u="none">
                    <a:solidFill>
                      <a:srgbClr val="44506B"/>
                    </a:solidFill>
                    <a:latin typeface="Arial"/>
                  </a:defRPr>
                </a:pPr>
              </a:p>
            </c:txPr>
            <c:showLegendKey val="0"/>
            <c:showVal val="1"/>
            <c:showCatName val="0"/>
            <c:showSerName val="0"/>
            <c:showPercent val="0"/>
            <c:showBubbleSize val="0"/>
            <c:showLeaderLines val="0"/>
          </c:dLbls>
          <c:cat>
            <c:multiLvlStrRef>
              <c:f>Sheet1!$A$2:$A$10</c:f>
              <c:multiLvlStrCache>
                <c:ptCount val="9"/>
                <c:lvl>
                  <c:pt idx="0">
                    <c:v>other</c:v>
                  </c:pt>
                  <c:pt idx="1">
                    <c:v>fall</c:v>
                  </c:pt>
                  <c:pt idx="2">
                    <c:v>walk</c:v>
                  </c:pt>
                  <c:pt idx="3">
                    <c:v>fallen</c:v>
                  </c:pt>
                  <c:pt idx="4">
                    <c:v>standing</c:v>
                  </c:pt>
                  <c:pt idx="5">
                    <c:v>stand_up</c:v>
                  </c:pt>
                  <c:pt idx="6">
                    <c:v>sit_down + sitting</c:v>
                  </c:pt>
                  <c:pt idx="7">
                    <c:v>lying</c:v>
                  </c:pt>
                  <c:pt idx="8">
                    <c:v>lie_down</c:v>
                  </c:pt>
                </c:lvl>
              </c:multiLvlStrCache>
            </c:multiLvlStrRef>
          </c:cat>
          <c:val>
            <c:numRef>
              <c:f>Sheet1!$B$2:$B$10</c:f>
              <c:numCache>
                <c:formatCode>General</c:formatCode>
                <c:ptCount val="9"/>
                <c:pt idx="0">
                  <c:v>902</c:v>
                </c:pt>
                <c:pt idx="1">
                  <c:v>636</c:v>
                </c:pt>
                <c:pt idx="2">
                  <c:v>324</c:v>
                </c:pt>
                <c:pt idx="3">
                  <c:v>318</c:v>
                </c:pt>
                <c:pt idx="4">
                  <c:v>264</c:v>
                </c:pt>
                <c:pt idx="5">
                  <c:v>253</c:v>
                </c:pt>
                <c:pt idx="6">
                  <c:v>79</c:v>
                </c:pt>
                <c:pt idx="7">
                  <c:v>17</c:v>
                </c:pt>
                <c:pt idx="8">
                  <c:v>11</c:v>
                </c:pt>
              </c:numCache>
            </c:numRef>
          </c:val>
        </c:ser>
        <c:dLbls>
          <c:numFmt formatCode="#,##0" sourceLinked="0"/>
          <c:txPr>
            <a:bodyPr/>
            <a:lstStyle/>
            <a:p>
              <a:pPr>
                <a:defRPr b="0" i="0" strike="noStrike" sz="1100" u="none">
                  <a:solidFill>
                    <a:srgbClr val="44506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50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mọi người. Hôm nay mình trình bày về bộ dữ liệu của dự án phát hiện té ngã: gồm những bộ nào, mình đã xử lý ra sao, và kết quả thu được là gì. Mục tiêu của dự án là phân biệt hai trạng thái nhìn rất giống nhau: người vừa ngã cần cấp cứu, gọi là fallen, và người đang nằm nghỉ bình thường, gọi là 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nền của dự án là OmniFall. Các bộ dữ liệu té ngã trước đây thường quay trong môi trường đơn giản, và mỗi bộ gán nhãn một kiểu riêng nên không so sánh được với nhau. OmniFall gộp chúng lại: khoảng 80 giờ video, khoảng 15 nghìn clip, và một bộ 16 lớp hành động thống nhất. Dữ liệu chia làm ba miền. Thứ nhất là Staged, gồm 8 bộ công khai quay có dàn dựng. Thứ hai là Synthetic, 12 nghìn video tổng hợp, thay đổi tuổi, thể hình, môi trường và góc camera. Thứ ba là In-the-Wild, chỉ dùng để kiểm thử, lấy từ video tai nạn có thật. Bài báo của nhóm Schneider và cộng sự trên arXiv, và trang của tác giả ghi bài được nhận ở ECCV 2026 dưới dạng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đoạn video, mình gọi là một segment, có một nhãn hành động. Dự án dùng 10 lớp lõi: walk, fall, fallen, sit_down, sitting, lie_down, lying, stand_up, standing và other. Hai màu vàng là hành động chuyển tiếp: fall là đang ngã, lie_down là đang nằm xuống. Fallen và lying là trạng thái sau đó. Sáu lớp mở rộng như kneeling, squatting, crawl, jump được gộp vào other, vì các bộ staged chỉ có 10 lớp lõi. Làm vậy để mọi bộ dùng chung một không gian nhãn và so sánh công bằng với baseline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dùng 5 bộ. Ba bộ staged là GMDCSA24 với 160 video, Le2i với 190 video và CAUCAFall với 100 video. Một bộ tổng hợp là OF-Synthetic với 12 nghìn video. Và một bộ ngoài đời thật là OOPS, thuộc OF-ItW, với 818 video. Bảng này đếm trên toàn bộ từng bộ, kể cả phần không dùng. Có một điểm cần chú ý: lying và lie_down rất hiếm ở các bộ thật. Ở OOPS chỉ có 20 segment lying và 16 segment lie_down, ở các bộ staged còn ít hơn. Gần như toàn bộ nhãn lying đến từ dữ liệu tổng hợp. Điều này ảnh hưởng đến cách diễn giải kết quả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Mình dùng cách chia cross-subject của OmniFall. Tập train có 9.877 video, tương ứng 16.403 segment, gồm OF-Synthetic và ba bộ staged. Tập validation có 1.276 video, thêm 81 video OOPS để chọn checkpoint tốt nhất. Tập test chỉ gồm OF-ItW, 572 video và 2.804 segment, tách riêng hoàn toàn, mô hình chưa từng thấy lúc huấn luyện. Đây là đúng toàn bộ tập test của OF-ItW, mình không lọc bớt video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5 bộ mình đã thử nhưng không đưa vào kết quả. MCFD tải được và đã tích hợp, nhưng mình loại vì làm kết quả tệ đi, mình sẽ nói ở slide 10. CMDFall cần xin quyền tác giả qua email và nặng khoảng 350 gigabyte, không khả thi. UP-Fall bị chặn tải tự động, cần đăng nhập thủ công. EDF và OCCU mình không tìm được nguồn tải dùng được. Kết quả là chỉ có 3 trong 8 bộ staged được dùng để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xử lý gồm 6 bước. Một, ghép đường dẫn video với file nhãn. Hai, lấy mẫu lại video xuống 7,5 khung hình mỗi giây. Ba, trượt một cửa sổ 16 khung hình, bước trượt khoảng một khung. Bốn, đưa mỗi cửa sổ qua VideoMAE-K400 để ra một vector 768 chiều. Năm, lưu mỗi video thành một file h5. Sáu, đưa 18 vector liên tiếp vào mô hình baseline FeatureTransformer. Mình giữ đúng cấu hình của paper gốc, Table 12, và dùng baseline chính thức của repo omnifall-experiments thay vì tự viết lại. Logits sau đó được lưu lại để bước tiếp theo dùng mà không phải chạy lại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bộ có một kiểu đặt tên và dung lượng riêng nên cần xử lý riêng. Tên video và nhãn không khớp: GMDCSA24 có dấu cách trong tên thư mục còn nhãn dùng gạch dưới, Le2i đặt tên có ngoặc đơn, CAUCAFall thì phải khớp theo tên file. OF-Synthetic nằm trong một file tar khoảng 9,7 gigabyte, mình đọc trực tiếp từng video từ tar để không phải giải nén hết, vì ổ đĩa không đủ chỗ. OOPS có archive gốc khoảng 45 gigabyte, mình tải dạng stream và chỉ giữ 818 video cần dùng, khoảng 2,6 gigabyte. Mình chỉ xoá video gốc sau khi đếm đủ số file đặc trưng, ví dụ 12.000 trên 12.000.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phân bố nhãn trong tập test. Lớp other nhiều nhất với 902 segment, tiếp theo là fall với 636 và fallen với 318. Nhưng lying chỉ có 17 và lie_down chỉ có 11, tổng cộng 28 segment. Vì vậy kết luận của dự án chủ yếu dựa trên cặp fall và fallen. Việc phân biệt fallen với lying, vốn là động lực ban đầu, thì chưa kiểm chứng được trên tập test này. Mình muốn nói rõ điều đó ngay từ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kết quả về dữ liệu mà mình thấy đáng chú ý. Khi huấn luyện baseline trên ba bộ staged cộng OF-Synthetic, Fall∪Fallen F1 là 55,5 phần trăm. Khi mình thêm MCFD, cả ba chỉ số đều giảm, Fall∪Fallen còn 52,8. Dùng thêm mô hình học có ngữ cảnh thời gian trên bản có MCFD cũng không cứu được, chỉ đạt 51,7. Mình đoán nguyên nhân là MCFD chỉ có một người thực hiện và quay bằng camera Kinect đời cũ, nên mô hình học đặc điểm riêng của người và camera đó. Đây mới là giả thuyết, mình chưa kiểm chứng riêng. Nhưng nó gợi ý rằng đa dạng người thực hiện quan trọng hơn số lượng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dữ liệu như vậy, đây là kết quả trên tập test. Baseline đạt Fallen-F1 là 26,6 phần trăm. Rule-based, một bước hậu xử lý theo thời gian, đạt 30,0. Hybrid v8, bản học được, đạt 34,3, trung bình qua ba seed. Tức là Fallen-F1 tăng khoảng 7,7 điểm so với baseline. Chỉ số gộp Fall∪Fallen tăng nhỏ hơn, khoảng 1,6 điểm, và Fall-F1 giảm nhẹ 0,7 điểm. Con số tuyệt đối vẫn thấp, vì dữ liệu ngoài đời rất khó. Bên phải là ma trận nhầm lẫn bốn lớp cho thấy lỗi nằm ở đâu. Về thống kê, cải thiện có ý nghĩa ở hai trong ba seed khi đo bằng bootstrap trên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những hạn chế. Thứ nhất, lying quá ít, nên chưa đánh giá được phân biệt fallen và lying. Thứ hai, 97 phần trăm video train là dữ liệu tổng hợp, chỉ 277 video staged thật với ít người thực hiện và ít góc camera. Thứ ba, tập test lấy từ video tai nạn trên mạng, chưa thử với camera giám sát trong nhà thật. Thứ tư, chỉ có 3 trong 8 bộ staged, nên chưa biết kết quả đổi thế nào nếu có đủ dữ liệu. Mình nêu những điều này để người nghe đánh giá đúng mức độ tin cậy của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 liên kết nguồn: bài báo OmniFall trên arXiv, trang dự án, dataset trên Hugging Face, mã baseline chính thức, và nguồn từng bộ dữ liệu. Mình xin kết thúc phần trình bày ở đây. Cảm ơn mọi người đã lắng nghe, mình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505.19889" TargetMode="External"/><Relationship Id="rId2" Type="http://schemas.openxmlformats.org/officeDocument/2006/relationships/hyperlink" Target="https://dsch.ai/omnifall/" TargetMode="External"/><Relationship Id="rId3" Type="http://schemas.openxmlformats.org/officeDocument/2006/relationships/hyperlink" Target="https://huggingface.co/datasets/simplexsigil2/omnifall" TargetMode="External"/><Relationship Id="rId4" Type="http://schemas.openxmlformats.org/officeDocument/2006/relationships/hyperlink" Target="https://github.com/simplexsigil/omnifall-experiments" TargetMode="External"/><Relationship Id="rId5" Type="http://schemas.openxmlformats.org/officeDocument/2006/relationships/hyperlink" Target="https://oops.cs.columbia.edu" TargetMode="External"/><Relationship Id="rId6" Type="http://schemas.openxmlformats.org/officeDocument/2006/relationships/hyperlink" Target="https://github.com/ekramalam/GMDCSA24-A-Dataset-for-Human-Fall-Detection-in-Videos" TargetMode="External"/><Relationship Id="rId7" Type="http://schemas.openxmlformats.org/officeDocument/2006/relationships/hyperlink" Target="https://www.kaggle.com/datasets/tuyenldvn/falldataset-imvia" TargetMode="External"/><Relationship Id="rId8" Type="http://schemas.openxmlformats.org/officeDocument/2006/relationships/hyperlink" Target="https://www.kaggle.com/datasets/tuyenldvn/caucafall" TargetMode="External"/><Relationship Id="rId9" Type="http://schemas.openxmlformats.org/officeDocument/2006/relationships/hyperlink" Target="https://huggingface.co/MCG-NJU/videomae-base-finetuned-kinetics" TargetMode="External"/><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4365C"/>
          </a:solidFill>
          <a:ln/>
        </p:spPr>
      </p:sp>
      <p:sp>
        <p:nvSpPr>
          <p:cNvPr id="3" name="Shape 1"/>
          <p:cNvSpPr/>
          <p:nvPr/>
        </p:nvSpPr>
        <p:spPr>
          <a:xfrm>
            <a:off x="10332720" y="4206240"/>
            <a:ext cx="3291840" cy="3291840"/>
          </a:xfrm>
          <a:prstGeom prst="ellipse">
            <a:avLst/>
          </a:prstGeom>
          <a:solidFill>
            <a:srgbClr val="24365C"/>
          </a:solidFill>
          <a:ln/>
        </p:spPr>
      </p:sp>
      <p:sp>
        <p:nvSpPr>
          <p:cNvPr id="4" name="Text 2"/>
          <p:cNvSpPr txBox="1"/>
          <p:nvPr/>
        </p:nvSpPr>
        <p:spPr>
          <a:xfrm>
            <a:off x="731520" y="1463040"/>
            <a:ext cx="9144000" cy="365760"/>
          </a:xfrm>
          <a:prstGeom prst="rect">
            <a:avLst/>
          </a:prstGeom>
          <a:noFill/>
          <a:ln/>
        </p:spPr>
        <p:txBody>
          <a:bodyPr wrap="square" lIns="0" tIns="0" rIns="0" bIns="0" rtlCol="0" anchor="ctr"/>
          <a:lstStyle/>
          <a:p>
            <a:pPr indent="0" marL="0">
              <a:buNone/>
            </a:pPr>
            <a:r>
              <a:rPr lang="en-US" sz="1400" b="1" spc="200" kern="0" dirty="0">
                <a:solidFill>
                  <a:srgbClr val="2E86AB"/>
                </a:solidFill>
                <a:latin typeface="Calibri" pitchFamily="34" charset="0"/>
                <a:ea typeface="Calibri" pitchFamily="34" charset="-122"/>
                <a:cs typeface="Calibri" pitchFamily="34" charset="-120"/>
              </a:rPr>
              <a:t>BỘ DỮ LIỆU CỦA DỰ ÁN</a:t>
            </a:r>
            <a:endParaRPr lang="en-US" sz="1400" dirty="0"/>
          </a:p>
        </p:txBody>
      </p:sp>
      <p:sp>
        <p:nvSpPr>
          <p:cNvPr id="5" name="Text 3"/>
          <p:cNvSpPr txBox="1"/>
          <p:nvPr/>
        </p:nvSpPr>
        <p:spPr>
          <a:xfrm>
            <a:off x="685800" y="1920240"/>
            <a:ext cx="10515600" cy="17373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OmniFall: gồm những bộ nào,</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xử lý ra sao, cho kết quả gì</a:t>
            </a:r>
            <a:endParaRPr lang="en-US" sz="4000" dirty="0"/>
          </a:p>
        </p:txBody>
      </p:sp>
      <p:sp>
        <p:nvSpPr>
          <p:cNvPr id="6" name="Text 4"/>
          <p:cNvSpPr txBox="1"/>
          <p:nvPr/>
        </p:nvSpPr>
        <p:spPr>
          <a:xfrm>
            <a:off x="731520" y="3840480"/>
            <a:ext cx="100584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Phát hiện té ngã: phân biệt “fallen” (cần cấp cứu) và “lying” (nằm nghỉ)</a:t>
            </a:r>
            <a:endParaRPr lang="en-US" sz="1800" dirty="0"/>
          </a:p>
        </p:txBody>
      </p:sp>
      <p:sp>
        <p:nvSpPr>
          <p:cNvPr id="7" name="Text 5"/>
          <p:cNvSpPr txBox="1"/>
          <p:nvPr/>
        </p:nvSpPr>
        <p:spPr>
          <a:xfrm>
            <a:off x="731520" y="5989320"/>
            <a:ext cx="10058400" cy="365760"/>
          </a:xfrm>
          <a:prstGeom prst="rect">
            <a:avLst/>
          </a:prstGeom>
          <a:noFill/>
          <a:ln/>
        </p:spPr>
        <p:txBody>
          <a:bodyPr wrap="square" lIns="0" tIns="0" rIns="0" bIns="0" rtlCol="0" anchor="ctr"/>
          <a:lstStyle/>
          <a:p>
            <a:pPr indent="0" marL="0">
              <a:buNone/>
            </a:pPr>
            <a:r>
              <a:rPr lang="en-US" sz="1200" i="1" dirty="0">
                <a:solidFill>
                  <a:srgbClr val="AEB9D4"/>
                </a:solidFill>
                <a:latin typeface="Calibri" pitchFamily="34" charset="0"/>
                <a:ea typeface="Calibri" pitchFamily="34" charset="-122"/>
                <a:cs typeface="Calibri" pitchFamily="34" charset="-120"/>
              </a:rPr>
              <a:t>Dữ liệu → Xử lý → Kết quả → Hạn chế → Liên kết nguồn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TỔNG QUAN</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OmniFall: benchmark té ngã gộp từ nhiều nguồn</a:t>
            </a:r>
            <a:endParaRPr lang="en-US" sz="3000" dirty="0"/>
          </a:p>
        </p:txBody>
      </p:sp>
      <p:sp>
        <p:nvSpPr>
          <p:cNvPr id="4" name="Text 2"/>
          <p:cNvSpPr txBox="1"/>
          <p:nvPr/>
        </p:nvSpPr>
        <p:spPr>
          <a:xfrm>
            <a:off x="548640" y="1508760"/>
            <a:ext cx="11064240" cy="822960"/>
          </a:xfrm>
          <a:prstGeom prst="rect">
            <a:avLst/>
          </a:prstGeom>
          <a:noFill/>
          <a:ln/>
        </p:spPr>
        <p:txBody>
          <a:bodyPr wrap="square" lIns="0" tIns="0" rIns="0" bIns="0" rtlCol="0" anchor="ctr"/>
          <a:lstStyle/>
          <a:p>
            <a:pPr indent="0" marL="0">
              <a:buNone/>
            </a:pPr>
            <a:r>
              <a:rPr lang="en-US" sz="1450" dirty="0">
                <a:solidFill>
                  <a:srgbClr val="44506B"/>
                </a:solidFill>
                <a:latin typeface="Calibri" pitchFamily="34" charset="0"/>
                <a:ea typeface="Calibri" pitchFamily="34" charset="-122"/>
                <a:cs typeface="Calibri" pitchFamily="34" charset="-120"/>
              </a:rPr>
              <a:t>Mục tiêu của OmniFall: các bộ dữ liệu té ngã cũ quay trong môi trường đơn giản, nhãn mỗi bộ một kiểu nên không so sánh được với nhau. OmniFall gộp chúng lại, thống nhất nhãn và bổ sung dữ liệu tổng hợp lẫn video thật.</a:t>
            </a:r>
            <a:endParaRPr lang="en-US" sz="1450" dirty="0"/>
          </a:p>
        </p:txBody>
      </p:sp>
      <p:sp>
        <p:nvSpPr>
          <p:cNvPr id="5" name="Shape 3"/>
          <p:cNvSpPr/>
          <p:nvPr/>
        </p:nvSpPr>
        <p:spPr>
          <a:xfrm>
            <a:off x="548640" y="2560320"/>
            <a:ext cx="3474720" cy="1417320"/>
          </a:xfrm>
          <a:prstGeom prst="roundRect">
            <a:avLst>
              <a:gd name="adj" fmla="val 6452"/>
            </a:avLst>
          </a:prstGeom>
          <a:solidFill>
            <a:srgbClr val="E8EDF7"/>
          </a:solidFill>
          <a:ln/>
        </p:spPr>
      </p:sp>
      <p:sp>
        <p:nvSpPr>
          <p:cNvPr id="6" name="Text 4"/>
          <p:cNvSpPr txBox="1"/>
          <p:nvPr/>
        </p:nvSpPr>
        <p:spPr>
          <a:xfrm>
            <a:off x="822960" y="2697480"/>
            <a:ext cx="2926080" cy="640080"/>
          </a:xfrm>
          <a:prstGeom prst="rect">
            <a:avLst/>
          </a:prstGeom>
          <a:noFill/>
          <a:ln/>
        </p:spPr>
        <p:txBody>
          <a:bodyPr wrap="square" lIns="0" tIns="0" rIns="0" bIns="0" rtlCol="0" anchor="ctr"/>
          <a:lstStyle/>
          <a:p>
            <a:pPr indent="0" marL="0">
              <a:buNone/>
            </a:pPr>
            <a:r>
              <a:rPr lang="en-US" sz="3000" b="1" dirty="0">
                <a:solidFill>
                  <a:srgbClr val="2E86AB"/>
                </a:solidFill>
                <a:latin typeface="Cambria" pitchFamily="34" charset="0"/>
                <a:ea typeface="Cambria" pitchFamily="34" charset="-122"/>
                <a:cs typeface="Cambria" pitchFamily="34" charset="-120"/>
              </a:rPr>
              <a:t>~80 giờ</a:t>
            </a:r>
            <a:endParaRPr lang="en-US" sz="3000" dirty="0"/>
          </a:p>
        </p:txBody>
      </p:sp>
      <p:sp>
        <p:nvSpPr>
          <p:cNvPr id="7" name="Text 5"/>
          <p:cNvSpPr txBox="1"/>
          <p:nvPr/>
        </p:nvSpPr>
        <p:spPr>
          <a:xfrm>
            <a:off x="822960" y="3337560"/>
            <a:ext cx="3017520" cy="50292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video, khoảng 15.000 clip</a:t>
            </a:r>
            <a:endParaRPr lang="en-US" sz="1250" dirty="0"/>
          </a:p>
        </p:txBody>
      </p:sp>
      <p:sp>
        <p:nvSpPr>
          <p:cNvPr id="8" name="Shape 6"/>
          <p:cNvSpPr/>
          <p:nvPr/>
        </p:nvSpPr>
        <p:spPr>
          <a:xfrm>
            <a:off x="4297680" y="2560320"/>
            <a:ext cx="3474720" cy="1417320"/>
          </a:xfrm>
          <a:prstGeom prst="roundRect">
            <a:avLst>
              <a:gd name="adj" fmla="val 6452"/>
            </a:avLst>
          </a:prstGeom>
          <a:solidFill>
            <a:srgbClr val="E8EDF7"/>
          </a:solidFill>
          <a:ln/>
        </p:spPr>
      </p:sp>
      <p:sp>
        <p:nvSpPr>
          <p:cNvPr id="9" name="Text 7"/>
          <p:cNvSpPr txBox="1"/>
          <p:nvPr/>
        </p:nvSpPr>
        <p:spPr>
          <a:xfrm>
            <a:off x="4572000" y="2697480"/>
            <a:ext cx="2926080" cy="640080"/>
          </a:xfrm>
          <a:prstGeom prst="rect">
            <a:avLst/>
          </a:prstGeom>
          <a:noFill/>
          <a:ln/>
        </p:spPr>
        <p:txBody>
          <a:bodyPr wrap="square" lIns="0" tIns="0" rIns="0" bIns="0" rtlCol="0" anchor="ctr"/>
          <a:lstStyle/>
          <a:p>
            <a:pPr indent="0" marL="0">
              <a:buNone/>
            </a:pPr>
            <a:r>
              <a:rPr lang="en-US" sz="3000" b="1" dirty="0">
                <a:solidFill>
                  <a:srgbClr val="2E86AB"/>
                </a:solidFill>
                <a:latin typeface="Cambria" pitchFamily="34" charset="0"/>
                <a:ea typeface="Cambria" pitchFamily="34" charset="-122"/>
                <a:cs typeface="Cambria" pitchFamily="34" charset="-120"/>
              </a:rPr>
              <a:t>16 lớp</a:t>
            </a:r>
            <a:endParaRPr lang="en-US" sz="3000" dirty="0"/>
          </a:p>
        </p:txBody>
      </p:sp>
      <p:sp>
        <p:nvSpPr>
          <p:cNvPr id="10" name="Text 8"/>
          <p:cNvSpPr txBox="1"/>
          <p:nvPr/>
        </p:nvSpPr>
        <p:spPr>
          <a:xfrm>
            <a:off x="4572000" y="3337560"/>
            <a:ext cx="3017520" cy="50292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taxonomy hành động thống nhất</a:t>
            </a:r>
            <a:endParaRPr lang="en-US" sz="1250" dirty="0"/>
          </a:p>
        </p:txBody>
      </p:sp>
      <p:sp>
        <p:nvSpPr>
          <p:cNvPr id="11" name="Shape 9"/>
          <p:cNvSpPr/>
          <p:nvPr/>
        </p:nvSpPr>
        <p:spPr>
          <a:xfrm>
            <a:off x="8046720" y="2560320"/>
            <a:ext cx="3474720" cy="1417320"/>
          </a:xfrm>
          <a:prstGeom prst="roundRect">
            <a:avLst>
              <a:gd name="adj" fmla="val 6452"/>
            </a:avLst>
          </a:prstGeom>
          <a:solidFill>
            <a:srgbClr val="E8EDF7"/>
          </a:solidFill>
          <a:ln/>
        </p:spPr>
      </p:sp>
      <p:sp>
        <p:nvSpPr>
          <p:cNvPr id="12" name="Text 10"/>
          <p:cNvSpPr txBox="1"/>
          <p:nvPr/>
        </p:nvSpPr>
        <p:spPr>
          <a:xfrm>
            <a:off x="8321040" y="2697480"/>
            <a:ext cx="2926080" cy="640080"/>
          </a:xfrm>
          <a:prstGeom prst="rect">
            <a:avLst/>
          </a:prstGeom>
          <a:noFill/>
          <a:ln/>
        </p:spPr>
        <p:txBody>
          <a:bodyPr wrap="square" lIns="0" tIns="0" rIns="0" bIns="0" rtlCol="0" anchor="ctr"/>
          <a:lstStyle/>
          <a:p>
            <a:pPr indent="0" marL="0">
              <a:buNone/>
            </a:pPr>
            <a:r>
              <a:rPr lang="en-US" sz="3000" b="1" dirty="0">
                <a:solidFill>
                  <a:srgbClr val="2E86AB"/>
                </a:solidFill>
                <a:latin typeface="Cambria" pitchFamily="34" charset="0"/>
                <a:ea typeface="Cambria" pitchFamily="34" charset="-122"/>
                <a:cs typeface="Cambria" pitchFamily="34" charset="-120"/>
              </a:rPr>
              <a:t>3 miền</a:t>
            </a:r>
            <a:endParaRPr lang="en-US" sz="3000" dirty="0"/>
          </a:p>
        </p:txBody>
      </p:sp>
      <p:sp>
        <p:nvSpPr>
          <p:cNvPr id="13" name="Text 11"/>
          <p:cNvSpPr txBox="1"/>
          <p:nvPr/>
        </p:nvSpPr>
        <p:spPr>
          <a:xfrm>
            <a:off x="8321040" y="3337560"/>
            <a:ext cx="3017520" cy="50292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Staged · Synthetic · In-the-Wild</a:t>
            </a:r>
            <a:endParaRPr lang="en-US" sz="1250" dirty="0"/>
          </a:p>
        </p:txBody>
      </p:sp>
      <p:sp>
        <p:nvSpPr>
          <p:cNvPr id="14" name="Shape 12"/>
          <p:cNvSpPr/>
          <p:nvPr/>
        </p:nvSpPr>
        <p:spPr>
          <a:xfrm>
            <a:off x="594360" y="4361688"/>
            <a:ext cx="201168" cy="201168"/>
          </a:xfrm>
          <a:prstGeom prst="ellipse">
            <a:avLst/>
          </a:prstGeom>
          <a:solidFill>
            <a:srgbClr val="2E86AB"/>
          </a:solidFill>
          <a:ln/>
        </p:spPr>
      </p:sp>
      <p:sp>
        <p:nvSpPr>
          <p:cNvPr id="15" name="Text 13"/>
          <p:cNvSpPr txBox="1"/>
          <p:nvPr/>
        </p:nvSpPr>
        <p:spPr>
          <a:xfrm>
            <a:off x="960120" y="4251960"/>
            <a:ext cx="2194560" cy="41148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OF-Staged</a:t>
            </a:r>
            <a:endParaRPr lang="en-US" sz="1400" dirty="0"/>
          </a:p>
        </p:txBody>
      </p:sp>
      <p:sp>
        <p:nvSpPr>
          <p:cNvPr id="16" name="Text 14"/>
          <p:cNvSpPr txBox="1"/>
          <p:nvPr/>
        </p:nvSpPr>
        <p:spPr>
          <a:xfrm>
            <a:off x="3200400" y="4251960"/>
            <a:ext cx="84124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8 bộ dữ liệu công khai, quay có dàn dựng, chuẩn hoá chia train/val/test</a:t>
            </a:r>
            <a:endParaRPr lang="en-US" sz="1250" dirty="0"/>
          </a:p>
        </p:txBody>
      </p:sp>
      <p:sp>
        <p:nvSpPr>
          <p:cNvPr id="17" name="Shape 15"/>
          <p:cNvSpPr/>
          <p:nvPr/>
        </p:nvSpPr>
        <p:spPr>
          <a:xfrm>
            <a:off x="594360" y="5020056"/>
            <a:ext cx="201168" cy="201168"/>
          </a:xfrm>
          <a:prstGeom prst="ellipse">
            <a:avLst/>
          </a:prstGeom>
          <a:solidFill>
            <a:srgbClr val="D98E04"/>
          </a:solidFill>
          <a:ln/>
        </p:spPr>
      </p:sp>
      <p:sp>
        <p:nvSpPr>
          <p:cNvPr id="18" name="Text 16"/>
          <p:cNvSpPr txBox="1"/>
          <p:nvPr/>
        </p:nvSpPr>
        <p:spPr>
          <a:xfrm>
            <a:off x="960120" y="4910328"/>
            <a:ext cx="2194560" cy="41148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OF-Synthetic</a:t>
            </a:r>
            <a:endParaRPr lang="en-US" sz="1400" dirty="0"/>
          </a:p>
        </p:txBody>
      </p:sp>
      <p:sp>
        <p:nvSpPr>
          <p:cNvPr id="19" name="Text 17"/>
          <p:cNvSpPr txBox="1"/>
          <p:nvPr/>
        </p:nvSpPr>
        <p:spPr>
          <a:xfrm>
            <a:off x="3200400" y="4910328"/>
            <a:ext cx="84124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12.000 video tổng hợp (~17 giờ), thay đổi tuổi, thể hình, môi trường, góc camera</a:t>
            </a:r>
            <a:endParaRPr lang="en-US" sz="1250" dirty="0"/>
          </a:p>
        </p:txBody>
      </p:sp>
      <p:sp>
        <p:nvSpPr>
          <p:cNvPr id="20" name="Shape 18"/>
          <p:cNvSpPr/>
          <p:nvPr/>
        </p:nvSpPr>
        <p:spPr>
          <a:xfrm>
            <a:off x="594360" y="5678424"/>
            <a:ext cx="201168" cy="201168"/>
          </a:xfrm>
          <a:prstGeom prst="ellipse">
            <a:avLst/>
          </a:prstGeom>
          <a:solidFill>
            <a:srgbClr val="C8213B"/>
          </a:solidFill>
          <a:ln/>
        </p:spPr>
      </p:sp>
      <p:sp>
        <p:nvSpPr>
          <p:cNvPr id="21" name="Text 19"/>
          <p:cNvSpPr txBox="1"/>
          <p:nvPr/>
        </p:nvSpPr>
        <p:spPr>
          <a:xfrm>
            <a:off x="960120" y="5568696"/>
            <a:ext cx="2194560" cy="41148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OF-In-the-Wild</a:t>
            </a:r>
            <a:endParaRPr lang="en-US" sz="1400" dirty="0"/>
          </a:p>
        </p:txBody>
      </p:sp>
      <p:sp>
        <p:nvSpPr>
          <p:cNvPr id="22" name="Text 20"/>
          <p:cNvSpPr txBox="1"/>
          <p:nvPr/>
        </p:nvSpPr>
        <p:spPr>
          <a:xfrm>
            <a:off x="3200400" y="5568696"/>
            <a:ext cx="84124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bộ chỉ để test, lấy từ video tai nạn có thật (nguồn OOPS)</a:t>
            </a:r>
            <a:endParaRPr lang="en-US" sz="1250" dirty="0"/>
          </a:p>
        </p:txBody>
      </p:sp>
      <p:sp>
        <p:nvSpPr>
          <p:cNvPr id="23" name="Text 21"/>
          <p:cNvSpPr txBox="1"/>
          <p:nvPr/>
        </p:nvSpPr>
        <p:spPr>
          <a:xfrm>
            <a:off x="548640" y="6263640"/>
            <a:ext cx="10972800" cy="320040"/>
          </a:xfrm>
          <a:prstGeom prst="rect">
            <a:avLst/>
          </a:prstGeom>
          <a:noFill/>
          <a:ln/>
        </p:spPr>
        <p:txBody>
          <a:bodyPr wrap="square" lIns="0" tIns="0" rIns="0" bIns="0" rtlCol="0" anchor="ctr"/>
          <a:lstStyle/>
          <a:p>
            <a:pPr indent="0" marL="0">
              <a:buNone/>
            </a:pPr>
            <a:r>
              <a:rPr lang="en-US" sz="1100" i="1" dirty="0">
                <a:solidFill>
                  <a:srgbClr val="8791A8"/>
                </a:solidFill>
                <a:latin typeface="Calibri" pitchFamily="34" charset="0"/>
                <a:ea typeface="Calibri" pitchFamily="34" charset="-122"/>
                <a:cs typeface="Calibri" pitchFamily="34" charset="-120"/>
              </a:rPr>
              <a:t>Bài báo: Schneider et al., arXiv:2505.19889. Trang tác giả ghi bài được nhận tại ECCV 2026 (poster).</a:t>
            </a:r>
            <a:endParaRPr lang="en-US" sz="1100" dirty="0"/>
          </a:p>
        </p:txBody>
      </p:sp>
      <p:sp>
        <p:nvSpPr>
          <p:cNvPr id="24" name="Text 2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NHÃN</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Taxonomy 16 lớp, dự án dùng 10 lớp lõi</a:t>
            </a:r>
            <a:endParaRPr lang="en-US" sz="3000" dirty="0"/>
          </a:p>
        </p:txBody>
      </p:sp>
      <p:sp>
        <p:nvSpPr>
          <p:cNvPr id="4" name="Text 2"/>
          <p:cNvSpPr txBox="1"/>
          <p:nvPr/>
        </p:nvSpPr>
        <p:spPr>
          <a:xfrm>
            <a:off x="548640" y="1508760"/>
            <a:ext cx="10972800" cy="41148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Mỗi đoạn video (segment) có 1 nhãn hành động. 10 lớp lõi dùng cho cả huấn luyện và đánh giá:</a:t>
            </a:r>
            <a:endParaRPr lang="en-US" sz="1400" dirty="0"/>
          </a:p>
        </p:txBody>
      </p:sp>
      <p:sp>
        <p:nvSpPr>
          <p:cNvPr id="5" name="Shape 3"/>
          <p:cNvSpPr/>
          <p:nvPr/>
        </p:nvSpPr>
        <p:spPr>
          <a:xfrm>
            <a:off x="548640" y="2103120"/>
            <a:ext cx="2057400" cy="685800"/>
          </a:xfrm>
          <a:prstGeom prst="roundRect">
            <a:avLst>
              <a:gd name="adj" fmla="val 13333"/>
            </a:avLst>
          </a:prstGeom>
          <a:solidFill>
            <a:srgbClr val="E8EDF7"/>
          </a:solidFill>
          <a:ln w="12700">
            <a:solidFill>
              <a:srgbClr val="1B2A4A"/>
            </a:solidFill>
            <a:prstDash val="solid"/>
          </a:ln>
        </p:spPr>
      </p:sp>
      <p:sp>
        <p:nvSpPr>
          <p:cNvPr id="6" name="Text 4"/>
          <p:cNvSpPr txBox="1"/>
          <p:nvPr/>
        </p:nvSpPr>
        <p:spPr>
          <a:xfrm>
            <a:off x="548640" y="2103120"/>
            <a:ext cx="2057400" cy="6858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walk</a:t>
            </a:r>
            <a:endParaRPr lang="en-US" sz="1500" dirty="0"/>
          </a:p>
        </p:txBody>
      </p:sp>
      <p:sp>
        <p:nvSpPr>
          <p:cNvPr id="7" name="Shape 5"/>
          <p:cNvSpPr/>
          <p:nvPr/>
        </p:nvSpPr>
        <p:spPr>
          <a:xfrm>
            <a:off x="2788920" y="2103120"/>
            <a:ext cx="2057400" cy="685800"/>
          </a:xfrm>
          <a:prstGeom prst="roundRect">
            <a:avLst>
              <a:gd name="adj" fmla="val 13333"/>
            </a:avLst>
          </a:prstGeom>
          <a:solidFill>
            <a:srgbClr val="FFF1D6"/>
          </a:solidFill>
          <a:ln w="12700">
            <a:solidFill>
              <a:srgbClr val="D98E04"/>
            </a:solidFill>
            <a:prstDash val="solid"/>
          </a:ln>
        </p:spPr>
      </p:sp>
      <p:sp>
        <p:nvSpPr>
          <p:cNvPr id="8" name="Text 6"/>
          <p:cNvSpPr txBox="1"/>
          <p:nvPr/>
        </p:nvSpPr>
        <p:spPr>
          <a:xfrm>
            <a:off x="2788920" y="2103120"/>
            <a:ext cx="2057400" cy="685800"/>
          </a:xfrm>
          <a:prstGeom prst="rect">
            <a:avLst/>
          </a:prstGeom>
          <a:noFill/>
          <a:ln/>
        </p:spPr>
        <p:txBody>
          <a:bodyPr wrap="square" lIns="0" tIns="0" rIns="0" bIns="0" rtlCol="0" anchor="ctr"/>
          <a:lstStyle/>
          <a:p>
            <a:pPr algn="ctr" indent="0" marL="0">
              <a:buNone/>
            </a:pPr>
            <a:r>
              <a:rPr lang="en-US" sz="1500" b="1" dirty="0">
                <a:solidFill>
                  <a:srgbClr val="D98E04"/>
                </a:solidFill>
                <a:latin typeface="Calibri" pitchFamily="34" charset="0"/>
                <a:ea typeface="Calibri" pitchFamily="34" charset="-122"/>
                <a:cs typeface="Calibri" pitchFamily="34" charset="-120"/>
              </a:rPr>
              <a:t>fall</a:t>
            </a:r>
            <a:endParaRPr lang="en-US" sz="1500" dirty="0"/>
          </a:p>
        </p:txBody>
      </p:sp>
      <p:sp>
        <p:nvSpPr>
          <p:cNvPr id="9" name="Shape 7"/>
          <p:cNvSpPr/>
          <p:nvPr/>
        </p:nvSpPr>
        <p:spPr>
          <a:xfrm>
            <a:off x="5029200" y="2103120"/>
            <a:ext cx="2057400" cy="685800"/>
          </a:xfrm>
          <a:prstGeom prst="roundRect">
            <a:avLst>
              <a:gd name="adj" fmla="val 13333"/>
            </a:avLst>
          </a:prstGeom>
          <a:solidFill>
            <a:srgbClr val="FCEEF0"/>
          </a:solidFill>
          <a:ln w="12700">
            <a:solidFill>
              <a:srgbClr val="C8213B"/>
            </a:solidFill>
            <a:prstDash val="solid"/>
          </a:ln>
        </p:spPr>
      </p:sp>
      <p:sp>
        <p:nvSpPr>
          <p:cNvPr id="10" name="Text 8"/>
          <p:cNvSpPr txBox="1"/>
          <p:nvPr/>
        </p:nvSpPr>
        <p:spPr>
          <a:xfrm>
            <a:off x="5029200" y="2103120"/>
            <a:ext cx="2057400" cy="685800"/>
          </a:xfrm>
          <a:prstGeom prst="rect">
            <a:avLst/>
          </a:prstGeom>
          <a:noFill/>
          <a:ln/>
        </p:spPr>
        <p:txBody>
          <a:bodyPr wrap="square" lIns="0" tIns="0" rIns="0" bIns="0" rtlCol="0" anchor="ctr"/>
          <a:lstStyle/>
          <a:p>
            <a:pPr algn="ctr" indent="0" marL="0">
              <a:buNone/>
            </a:pPr>
            <a:r>
              <a:rPr lang="en-US" sz="1500" b="1" dirty="0">
                <a:solidFill>
                  <a:srgbClr val="C8213B"/>
                </a:solidFill>
                <a:latin typeface="Calibri" pitchFamily="34" charset="0"/>
                <a:ea typeface="Calibri" pitchFamily="34" charset="-122"/>
                <a:cs typeface="Calibri" pitchFamily="34" charset="-120"/>
              </a:rPr>
              <a:t>fallen</a:t>
            </a:r>
            <a:endParaRPr lang="en-US" sz="1500" dirty="0"/>
          </a:p>
        </p:txBody>
      </p:sp>
      <p:sp>
        <p:nvSpPr>
          <p:cNvPr id="11" name="Shape 9"/>
          <p:cNvSpPr/>
          <p:nvPr/>
        </p:nvSpPr>
        <p:spPr>
          <a:xfrm>
            <a:off x="7269480" y="2103120"/>
            <a:ext cx="2057400" cy="685800"/>
          </a:xfrm>
          <a:prstGeom prst="roundRect">
            <a:avLst>
              <a:gd name="adj" fmla="val 13333"/>
            </a:avLst>
          </a:prstGeom>
          <a:solidFill>
            <a:srgbClr val="E8EDF7"/>
          </a:solidFill>
          <a:ln w="12700">
            <a:solidFill>
              <a:srgbClr val="1B2A4A"/>
            </a:solidFill>
            <a:prstDash val="solid"/>
          </a:ln>
        </p:spPr>
      </p:sp>
      <p:sp>
        <p:nvSpPr>
          <p:cNvPr id="12" name="Text 10"/>
          <p:cNvSpPr txBox="1"/>
          <p:nvPr/>
        </p:nvSpPr>
        <p:spPr>
          <a:xfrm>
            <a:off x="7269480" y="2103120"/>
            <a:ext cx="2057400" cy="6858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sit_down</a:t>
            </a:r>
            <a:endParaRPr lang="en-US" sz="1500" dirty="0"/>
          </a:p>
        </p:txBody>
      </p:sp>
      <p:sp>
        <p:nvSpPr>
          <p:cNvPr id="13" name="Shape 11"/>
          <p:cNvSpPr/>
          <p:nvPr/>
        </p:nvSpPr>
        <p:spPr>
          <a:xfrm>
            <a:off x="9509760" y="2103120"/>
            <a:ext cx="2057400" cy="685800"/>
          </a:xfrm>
          <a:prstGeom prst="roundRect">
            <a:avLst>
              <a:gd name="adj" fmla="val 13333"/>
            </a:avLst>
          </a:prstGeom>
          <a:solidFill>
            <a:srgbClr val="E8EDF7"/>
          </a:solidFill>
          <a:ln w="12700">
            <a:solidFill>
              <a:srgbClr val="1B2A4A"/>
            </a:solidFill>
            <a:prstDash val="solid"/>
          </a:ln>
        </p:spPr>
      </p:sp>
      <p:sp>
        <p:nvSpPr>
          <p:cNvPr id="14" name="Text 12"/>
          <p:cNvSpPr txBox="1"/>
          <p:nvPr/>
        </p:nvSpPr>
        <p:spPr>
          <a:xfrm>
            <a:off x="9509760" y="2103120"/>
            <a:ext cx="2057400" cy="6858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sitting</a:t>
            </a:r>
            <a:endParaRPr lang="en-US" sz="1500" dirty="0"/>
          </a:p>
        </p:txBody>
      </p:sp>
      <p:sp>
        <p:nvSpPr>
          <p:cNvPr id="15" name="Shape 13"/>
          <p:cNvSpPr/>
          <p:nvPr/>
        </p:nvSpPr>
        <p:spPr>
          <a:xfrm>
            <a:off x="548640" y="2971800"/>
            <a:ext cx="2057400" cy="685800"/>
          </a:xfrm>
          <a:prstGeom prst="roundRect">
            <a:avLst>
              <a:gd name="adj" fmla="val 13333"/>
            </a:avLst>
          </a:prstGeom>
          <a:solidFill>
            <a:srgbClr val="FFF1D6"/>
          </a:solidFill>
          <a:ln w="12700">
            <a:solidFill>
              <a:srgbClr val="D98E04"/>
            </a:solidFill>
            <a:prstDash val="solid"/>
          </a:ln>
        </p:spPr>
      </p:sp>
      <p:sp>
        <p:nvSpPr>
          <p:cNvPr id="16" name="Text 14"/>
          <p:cNvSpPr txBox="1"/>
          <p:nvPr/>
        </p:nvSpPr>
        <p:spPr>
          <a:xfrm>
            <a:off x="548640" y="2971800"/>
            <a:ext cx="2057400" cy="685800"/>
          </a:xfrm>
          <a:prstGeom prst="rect">
            <a:avLst/>
          </a:prstGeom>
          <a:noFill/>
          <a:ln/>
        </p:spPr>
        <p:txBody>
          <a:bodyPr wrap="square" lIns="0" tIns="0" rIns="0" bIns="0" rtlCol="0" anchor="ctr"/>
          <a:lstStyle/>
          <a:p>
            <a:pPr algn="ctr" indent="0" marL="0">
              <a:buNone/>
            </a:pPr>
            <a:r>
              <a:rPr lang="en-US" sz="1500" b="1" dirty="0">
                <a:solidFill>
                  <a:srgbClr val="D98E04"/>
                </a:solidFill>
                <a:latin typeface="Calibri" pitchFamily="34" charset="0"/>
                <a:ea typeface="Calibri" pitchFamily="34" charset="-122"/>
                <a:cs typeface="Calibri" pitchFamily="34" charset="-120"/>
              </a:rPr>
              <a:t>lie_down</a:t>
            </a:r>
            <a:endParaRPr lang="en-US" sz="1500" dirty="0"/>
          </a:p>
        </p:txBody>
      </p:sp>
      <p:sp>
        <p:nvSpPr>
          <p:cNvPr id="17" name="Shape 15"/>
          <p:cNvSpPr/>
          <p:nvPr/>
        </p:nvSpPr>
        <p:spPr>
          <a:xfrm>
            <a:off x="2788920" y="2971800"/>
            <a:ext cx="2057400" cy="685800"/>
          </a:xfrm>
          <a:prstGeom prst="roundRect">
            <a:avLst>
              <a:gd name="adj" fmla="val 13333"/>
            </a:avLst>
          </a:prstGeom>
          <a:solidFill>
            <a:srgbClr val="E9F7EC"/>
          </a:solidFill>
          <a:ln w="12700">
            <a:solidFill>
              <a:srgbClr val="2F9E44"/>
            </a:solidFill>
            <a:prstDash val="solid"/>
          </a:ln>
        </p:spPr>
      </p:sp>
      <p:sp>
        <p:nvSpPr>
          <p:cNvPr id="18" name="Text 16"/>
          <p:cNvSpPr txBox="1"/>
          <p:nvPr/>
        </p:nvSpPr>
        <p:spPr>
          <a:xfrm>
            <a:off x="2788920" y="2971800"/>
            <a:ext cx="2057400" cy="685800"/>
          </a:xfrm>
          <a:prstGeom prst="rect">
            <a:avLst/>
          </a:prstGeom>
          <a:noFill/>
          <a:ln/>
        </p:spPr>
        <p:txBody>
          <a:bodyPr wrap="square" lIns="0" tIns="0" rIns="0" bIns="0" rtlCol="0" anchor="ctr"/>
          <a:lstStyle/>
          <a:p>
            <a:pPr algn="ctr" indent="0" marL="0">
              <a:buNone/>
            </a:pPr>
            <a:r>
              <a:rPr lang="en-US" sz="1500" b="1" dirty="0">
                <a:solidFill>
                  <a:srgbClr val="2F9E44"/>
                </a:solidFill>
                <a:latin typeface="Calibri" pitchFamily="34" charset="0"/>
                <a:ea typeface="Calibri" pitchFamily="34" charset="-122"/>
                <a:cs typeface="Calibri" pitchFamily="34" charset="-120"/>
              </a:rPr>
              <a:t>lying</a:t>
            </a:r>
            <a:endParaRPr lang="en-US" sz="1500" dirty="0"/>
          </a:p>
        </p:txBody>
      </p:sp>
      <p:sp>
        <p:nvSpPr>
          <p:cNvPr id="19" name="Shape 17"/>
          <p:cNvSpPr/>
          <p:nvPr/>
        </p:nvSpPr>
        <p:spPr>
          <a:xfrm>
            <a:off x="5029200" y="2971800"/>
            <a:ext cx="2057400" cy="685800"/>
          </a:xfrm>
          <a:prstGeom prst="roundRect">
            <a:avLst>
              <a:gd name="adj" fmla="val 13333"/>
            </a:avLst>
          </a:prstGeom>
          <a:solidFill>
            <a:srgbClr val="E8EDF7"/>
          </a:solidFill>
          <a:ln w="12700">
            <a:solidFill>
              <a:srgbClr val="1B2A4A"/>
            </a:solidFill>
            <a:prstDash val="solid"/>
          </a:ln>
        </p:spPr>
      </p:sp>
      <p:sp>
        <p:nvSpPr>
          <p:cNvPr id="20" name="Text 18"/>
          <p:cNvSpPr txBox="1"/>
          <p:nvPr/>
        </p:nvSpPr>
        <p:spPr>
          <a:xfrm>
            <a:off x="5029200" y="2971800"/>
            <a:ext cx="2057400" cy="6858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stand_up</a:t>
            </a:r>
            <a:endParaRPr lang="en-US" sz="1500" dirty="0"/>
          </a:p>
        </p:txBody>
      </p:sp>
      <p:sp>
        <p:nvSpPr>
          <p:cNvPr id="21" name="Shape 19"/>
          <p:cNvSpPr/>
          <p:nvPr/>
        </p:nvSpPr>
        <p:spPr>
          <a:xfrm>
            <a:off x="7269480" y="2971800"/>
            <a:ext cx="2057400" cy="685800"/>
          </a:xfrm>
          <a:prstGeom prst="roundRect">
            <a:avLst>
              <a:gd name="adj" fmla="val 13333"/>
            </a:avLst>
          </a:prstGeom>
          <a:solidFill>
            <a:srgbClr val="E8EDF7"/>
          </a:solidFill>
          <a:ln w="12700">
            <a:solidFill>
              <a:srgbClr val="1B2A4A"/>
            </a:solidFill>
            <a:prstDash val="solid"/>
          </a:ln>
        </p:spPr>
      </p:sp>
      <p:sp>
        <p:nvSpPr>
          <p:cNvPr id="22" name="Text 20"/>
          <p:cNvSpPr txBox="1"/>
          <p:nvPr/>
        </p:nvSpPr>
        <p:spPr>
          <a:xfrm>
            <a:off x="7269480" y="2971800"/>
            <a:ext cx="2057400" cy="6858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standing</a:t>
            </a:r>
            <a:endParaRPr lang="en-US" sz="1500" dirty="0"/>
          </a:p>
        </p:txBody>
      </p:sp>
      <p:sp>
        <p:nvSpPr>
          <p:cNvPr id="23" name="Shape 21"/>
          <p:cNvSpPr/>
          <p:nvPr/>
        </p:nvSpPr>
        <p:spPr>
          <a:xfrm>
            <a:off x="9509760" y="2971800"/>
            <a:ext cx="2057400" cy="685800"/>
          </a:xfrm>
          <a:prstGeom prst="roundRect">
            <a:avLst>
              <a:gd name="adj" fmla="val 13333"/>
            </a:avLst>
          </a:prstGeom>
          <a:solidFill>
            <a:srgbClr val="E8EDF7"/>
          </a:solidFill>
          <a:ln w="12700">
            <a:solidFill>
              <a:srgbClr val="1B2A4A"/>
            </a:solidFill>
            <a:prstDash val="solid"/>
          </a:ln>
        </p:spPr>
      </p:sp>
      <p:sp>
        <p:nvSpPr>
          <p:cNvPr id="24" name="Text 22"/>
          <p:cNvSpPr txBox="1"/>
          <p:nvPr/>
        </p:nvSpPr>
        <p:spPr>
          <a:xfrm>
            <a:off x="9509760" y="2971800"/>
            <a:ext cx="2057400" cy="6858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other</a:t>
            </a:r>
            <a:endParaRPr lang="en-US" sz="1500" dirty="0"/>
          </a:p>
        </p:txBody>
      </p:sp>
      <p:sp>
        <p:nvSpPr>
          <p:cNvPr id="25" name="Text 23"/>
          <p:cNvSpPr txBox="1"/>
          <p:nvPr/>
        </p:nvSpPr>
        <p:spPr>
          <a:xfrm>
            <a:off x="548640" y="3886200"/>
            <a:ext cx="10972800" cy="365760"/>
          </a:xfrm>
          <a:prstGeom prst="rect">
            <a:avLst/>
          </a:prstGeom>
          <a:noFill/>
          <a:ln/>
        </p:spPr>
        <p:txBody>
          <a:bodyPr wrap="square" lIns="0" tIns="0" rIns="0" bIns="0" rtlCol="0" anchor="ctr"/>
          <a:lstStyle/>
          <a:p>
            <a:pPr indent="0" marL="0">
              <a:buNone/>
            </a:pPr>
            <a:r>
              <a:rPr lang="en-US" sz="1150" i="1" dirty="0">
                <a:solidFill>
                  <a:srgbClr val="8791A8"/>
                </a:solidFill>
                <a:latin typeface="Calibri" pitchFamily="34" charset="0"/>
                <a:ea typeface="Calibri" pitchFamily="34" charset="-122"/>
                <a:cs typeface="Calibri" pitchFamily="34" charset="-120"/>
              </a:rPr>
              <a:t>Hành động chuyển tiếp (fall, lie_down) màu vàng; trạng thái cần chú ý (fallen, lying) màu đỏ/xanh.</a:t>
            </a:r>
            <a:endParaRPr lang="en-US" sz="1150" dirty="0"/>
          </a:p>
        </p:txBody>
      </p:sp>
      <p:sp>
        <p:nvSpPr>
          <p:cNvPr id="26" name="Shape 24"/>
          <p:cNvSpPr/>
          <p:nvPr/>
        </p:nvSpPr>
        <p:spPr>
          <a:xfrm>
            <a:off x="548640" y="4526280"/>
            <a:ext cx="11064240" cy="1554480"/>
          </a:xfrm>
          <a:prstGeom prst="roundRect">
            <a:avLst>
              <a:gd name="adj" fmla="val 5882"/>
            </a:avLst>
          </a:prstGeom>
          <a:solidFill>
            <a:srgbClr val="1B2A4A"/>
          </a:solidFill>
          <a:ln/>
        </p:spPr>
      </p:sp>
      <p:sp>
        <p:nvSpPr>
          <p:cNvPr id="27" name="Text 25"/>
          <p:cNvSpPr txBox="1"/>
          <p:nvPr/>
        </p:nvSpPr>
        <p:spPr>
          <a:xfrm>
            <a:off x="868680" y="4526280"/>
            <a:ext cx="10424160" cy="1554480"/>
          </a:xfrm>
          <a:prstGeom prst="rect">
            <a:avLst/>
          </a:prstGeom>
          <a:noFill/>
          <a:ln/>
        </p:spPr>
        <p:txBody>
          <a:bodyPr wrap="square" lIns="0" tIns="0" rIns="0" bIns="0" rtlCol="0" anchor="ctr"/>
          <a:lstStyle/>
          <a:p>
            <a:pPr indent="0" marL="0">
              <a:buNone/>
            </a:pPr>
            <a:r>
              <a:rPr lang="en-US" sz="1400" b="1" dirty="0">
                <a:solidFill>
                  <a:srgbClr val="2E86AB"/>
                </a:solidFill>
                <a:latin typeface="Calibri" pitchFamily="34" charset="0"/>
                <a:ea typeface="Calibri" pitchFamily="34" charset="-122"/>
                <a:cs typeface="Calibri" pitchFamily="34" charset="-120"/>
              </a:rPr>
              <a:t>6 lớp mở rộng gộp vào “other”:  </a:t>
            </a:r>
            <a:pPr indent="0" marL="0">
              <a:buNone/>
            </a:pPr>
            <a:r>
              <a:rPr lang="en-US" sz="1400" dirty="0">
                <a:solidFill>
                  <a:srgbClr val="E4E9F5"/>
                </a:solidFill>
                <a:latin typeface="Calibri" pitchFamily="34" charset="0"/>
                <a:ea typeface="Calibri" pitchFamily="34" charset="-122"/>
                <a:cs typeface="Calibri" pitchFamily="34" charset="-120"/>
              </a:rPr>
              <a:t>kneel_down, kneeling, squat_down, squatting, crawl, jump. Các bộ staged chỉ có 10 lớp lõi, nên gộp để mọi bộ dùng chung một không gian nhãn và so sánh công bằng với baseline chính thức.</a:t>
            </a:r>
            <a:endParaRPr lang="en-US" sz="1400" dirty="0"/>
          </a:p>
        </p:txBody>
      </p:sp>
      <p:sp>
        <p:nvSpPr>
          <p:cNvPr id="28" name="Text 26"/>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DỮ LIỆU ĐÃ DÙNG</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5 bộ dữ liệu: 3 staged, 1 tổng hợp, 1 ngoài đời thật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3017520"/>
        </p:xfrm>
        <a:graphic>
          <a:graphicData uri="http://schemas.openxmlformats.org/drawingml/2006/table">
            <a:tbl>
              <a:tblPr/>
              <a:tblGrid>
                <a:gridCol w="2011680"/>
                <a:gridCol w="1234440"/>
                <a:gridCol w="914400"/>
                <a:gridCol w="1051560"/>
                <a:gridCol w="868680"/>
                <a:gridCol w="914400"/>
                <a:gridCol w="1005840"/>
                <a:gridCol w="868680"/>
                <a:gridCol w="2194560"/>
              </a:tblGrid>
              <a:tr h="5029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Bộ dữ liệu</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Loại</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Video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Segment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fall</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fallen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lie_down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lying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Vai trò</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502920">
                <a:tc>
                  <a:txBody>
                    <a:bodyPr/>
                    <a:lstStyle/>
                    <a:p>
                      <a:pPr algn="l" indent="0" marL="0">
                        <a:buNone/>
                      </a:pPr>
                      <a:r>
                        <a:rPr lang="en-US" sz="1300" b="1" dirty="0">
                          <a:solidFill>
                            <a:srgbClr val="44506B"/>
                          </a:solidFill>
                          <a:latin typeface="Calibri" pitchFamily="34" charset="0"/>
                          <a:ea typeface="Calibri" pitchFamily="34" charset="-122"/>
                          <a:cs typeface="Calibri" pitchFamily="34" charset="-120"/>
                        </a:rPr>
                        <a:t>OF-Synthetic</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Tổng hợp</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12.000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19.228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2.148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1.449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1.259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2.344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44506B"/>
                          </a:solidFill>
                          <a:latin typeface="Calibri" pitchFamily="34" charset="0"/>
                          <a:ea typeface="Calibri" pitchFamily="34" charset="-122"/>
                          <a:cs typeface="Calibri" pitchFamily="34" charset="-120"/>
                        </a:rPr>
                        <a:t>Train + val</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300" b="1" dirty="0">
                          <a:solidFill>
                            <a:srgbClr val="44506B"/>
                          </a:solidFill>
                          <a:latin typeface="Calibri" pitchFamily="34" charset="0"/>
                          <a:ea typeface="Calibri" pitchFamily="34" charset="-122"/>
                          <a:cs typeface="Calibri" pitchFamily="34" charset="-120"/>
                        </a:rPr>
                        <a:t>GMDCSA24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Staged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458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l" indent="0" marL="0">
                        <a:buNone/>
                      </a:pPr>
                      <a:r>
                        <a:rPr lang="en-US" sz="1300" dirty="0">
                          <a:solidFill>
                            <a:srgbClr val="44506B"/>
                          </a:solidFill>
                          <a:latin typeface="Calibri" pitchFamily="34" charset="0"/>
                          <a:ea typeface="Calibri" pitchFamily="34" charset="-122"/>
                          <a:cs typeface="Calibri" pitchFamily="34" charset="-120"/>
                        </a:rPr>
                        <a:t>Train + val</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r>
              <a:tr h="502920">
                <a:tc>
                  <a:txBody>
                    <a:bodyPr/>
                    <a:lstStyle/>
                    <a:p>
                      <a:pPr algn="l" indent="0" marL="0">
                        <a:buNone/>
                      </a:pPr>
                      <a:r>
                        <a:rPr lang="en-US" sz="1300" b="1" dirty="0">
                          <a:solidFill>
                            <a:srgbClr val="44506B"/>
                          </a:solidFill>
                          <a:latin typeface="Calibri" pitchFamily="34" charset="0"/>
                          <a:ea typeface="Calibri" pitchFamily="34" charset="-122"/>
                          <a:cs typeface="Calibri" pitchFamily="34" charset="-120"/>
                        </a:rPr>
                        <a:t>Le2i</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Staged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967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44506B"/>
                          </a:solidFill>
                          <a:latin typeface="Calibri" pitchFamily="34" charset="0"/>
                          <a:ea typeface="Calibri" pitchFamily="34" charset="-122"/>
                          <a:cs typeface="Calibri" pitchFamily="34" charset="-120"/>
                        </a:rPr>
                        <a:t>Train + val</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300" b="1" dirty="0">
                          <a:solidFill>
                            <a:srgbClr val="44506B"/>
                          </a:solidFill>
                          <a:latin typeface="Calibri" pitchFamily="34" charset="0"/>
                          <a:ea typeface="Calibri" pitchFamily="34" charset="-122"/>
                          <a:cs typeface="Calibri" pitchFamily="34" charset="-120"/>
                        </a:rPr>
                        <a:t>CAUCAFall</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Staged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258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l" indent="0" marL="0">
                        <a:buNone/>
                      </a:pPr>
                      <a:r>
                        <a:rPr lang="en-US" sz="1300" dirty="0">
                          <a:solidFill>
                            <a:srgbClr val="44506B"/>
                          </a:solidFill>
                          <a:latin typeface="Calibri" pitchFamily="34" charset="0"/>
                          <a:ea typeface="Calibri" pitchFamily="34" charset="-122"/>
                          <a:cs typeface="Calibri" pitchFamily="34" charset="-120"/>
                        </a:rPr>
                        <a:t>Train + val</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r>
              <a:tr h="502920">
                <a:tc>
                  <a:txBody>
                    <a:bodyPr/>
                    <a:lstStyle/>
                    <a:p>
                      <a:pPr algn="l" indent="0" marL="0">
                        <a:buNone/>
                      </a:pPr>
                      <a:r>
                        <a:rPr lang="en-US" sz="1300" b="1" dirty="0">
                          <a:solidFill>
                            <a:srgbClr val="44506B"/>
                          </a:solidFill>
                          <a:latin typeface="Calibri" pitchFamily="34" charset="0"/>
                          <a:ea typeface="Calibri" pitchFamily="34" charset="-122"/>
                          <a:cs typeface="Calibri" pitchFamily="34" charset="-120"/>
                        </a:rPr>
                        <a:t>OOPS (OF-ItW)</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Ngoài đời</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818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4.022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914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464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300" dirty="0">
                          <a:solidFill>
                            <a:srgbClr val="44506B"/>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l" indent="0" marL="0">
                        <a:buNone/>
                      </a:pPr>
                      <a:r>
                        <a:rPr lang="en-US" sz="1300" b="1" dirty="0">
                          <a:solidFill>
                            <a:srgbClr val="44506B"/>
                          </a:solidFill>
                          <a:latin typeface="Calibri" pitchFamily="34" charset="0"/>
                          <a:ea typeface="Calibri" pitchFamily="34" charset="-122"/>
                          <a:cs typeface="Calibri" pitchFamily="34" charset="-120"/>
                        </a:rPr>
                        <a:t>Val + TEST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r>
            </a:tbl>
          </a:graphicData>
        </a:graphic>
      </p:graphicFrame>
      <p:sp>
        <p:nvSpPr>
          <p:cNvPr id="5" name="Text 2"/>
          <p:cNvSpPr txBox="1"/>
          <p:nvPr/>
        </p:nvSpPr>
        <p:spPr>
          <a:xfrm>
            <a:off x="548640" y="4754880"/>
            <a:ext cx="10972800" cy="320040"/>
          </a:xfrm>
          <a:prstGeom prst="rect">
            <a:avLst/>
          </a:prstGeom>
          <a:noFill/>
          <a:ln/>
        </p:spPr>
        <p:txBody>
          <a:bodyPr wrap="square" lIns="0" tIns="0" rIns="0" bIns="0" rtlCol="0" anchor="ctr"/>
          <a:lstStyle/>
          <a:p>
            <a:pPr indent="0" marL="0">
              <a:buNone/>
            </a:pPr>
            <a:r>
              <a:rPr lang="en-US" sz="1100" i="1" dirty="0">
                <a:solidFill>
                  <a:srgbClr val="8791A8"/>
                </a:solidFill>
                <a:latin typeface="Calibri" pitchFamily="34" charset="0"/>
                <a:ea typeface="Calibri" pitchFamily="34" charset="-122"/>
                <a:cs typeface="Calibri" pitchFamily="34" charset="-120"/>
              </a:rPr>
              <a:t>Số liệu đếm trên toàn bộ từng bộ (file nhãn), gồm cả phần không dùng. Segment = đoạn video có 1 nhãn hành động.</a:t>
            </a:r>
            <a:endParaRPr lang="en-US" sz="1100" dirty="0"/>
          </a:p>
        </p:txBody>
      </p:sp>
      <p:sp>
        <p:nvSpPr>
          <p:cNvPr id="6" name="Shape 3"/>
          <p:cNvSpPr/>
          <p:nvPr/>
        </p:nvSpPr>
        <p:spPr>
          <a:xfrm>
            <a:off x="548640" y="5257800"/>
            <a:ext cx="11064240" cy="914400"/>
          </a:xfrm>
          <a:prstGeom prst="roundRect">
            <a:avLst>
              <a:gd name="adj" fmla="val 10000"/>
            </a:avLst>
          </a:prstGeom>
          <a:solidFill>
            <a:srgbClr val="E8EDF7"/>
          </a:solidFill>
          <a:ln/>
        </p:spPr>
      </p:sp>
      <p:sp>
        <p:nvSpPr>
          <p:cNvPr id="7" name="Text 4"/>
          <p:cNvSpPr txBox="1"/>
          <p:nvPr/>
        </p:nvSpPr>
        <p:spPr>
          <a:xfrm>
            <a:off x="822960" y="5257800"/>
            <a:ext cx="10515600" cy="914400"/>
          </a:xfrm>
          <a:prstGeom prst="rect">
            <a:avLst/>
          </a:prstGeom>
          <a:noFill/>
          <a:ln/>
        </p:spPr>
        <p:txBody>
          <a:bodyPr wrap="square" lIns="0" tIns="0" rIns="0" bIns="0" rtlCol="0" anchor="ctr"/>
          <a:lstStyle/>
          <a:p>
            <a:pPr indent="0" marL="0">
              <a:buNone/>
            </a:pPr>
            <a:r>
              <a:rPr lang="en-US" sz="1300" b="1" dirty="0">
                <a:solidFill>
                  <a:srgbClr val="2E86AB"/>
                </a:solidFill>
                <a:latin typeface="Calibri" pitchFamily="34" charset="0"/>
                <a:ea typeface="Calibri" pitchFamily="34" charset="-122"/>
                <a:cs typeface="Calibri" pitchFamily="34" charset="-120"/>
              </a:rPr>
              <a:t>Nhận xét:  </a:t>
            </a:r>
            <a:pPr indent="0" marL="0">
              <a:buNone/>
            </a:pPr>
            <a:r>
              <a:rPr lang="en-US" sz="1300" dirty="0">
                <a:solidFill>
                  <a:srgbClr val="44506B"/>
                </a:solidFill>
                <a:latin typeface="Calibri" pitchFamily="34" charset="0"/>
                <a:ea typeface="Calibri" pitchFamily="34" charset="-122"/>
                <a:cs typeface="Calibri" pitchFamily="34" charset="-120"/>
              </a:rPr>
              <a:t>lying và lie_down rất hiếm ở các bộ thật (staged và OOPS chỉ có vài chục segment). Phần lớn nhãn lying/lie_down đến từ dữ liệu tổng hợp OF-Synthetic.</a:t>
            </a:r>
            <a:endParaRPr lang="en-US" sz="1300" dirty="0"/>
          </a:p>
        </p:txBody>
      </p:sp>
      <p:sp>
        <p:nvSpPr>
          <p:cNvPr id="8" name="Text 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CHIA TẬP</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Huấn luyện trên staged + tổng hợp, kiểm thử trên video thật</a:t>
            </a:r>
            <a:endParaRPr lang="en-US" sz="3000" dirty="0"/>
          </a:p>
        </p:txBody>
      </p:sp>
      <p:sp>
        <p:nvSpPr>
          <p:cNvPr id="4" name="Shape 2"/>
          <p:cNvSpPr/>
          <p:nvPr/>
        </p:nvSpPr>
        <p:spPr>
          <a:xfrm>
            <a:off x="548640" y="1691640"/>
            <a:ext cx="3520440" cy="3566160"/>
          </a:xfrm>
          <a:prstGeom prst="roundRect">
            <a:avLst>
              <a:gd name="adj" fmla="val 3117"/>
            </a:avLst>
          </a:prstGeom>
          <a:solidFill>
            <a:srgbClr val="E8EDF7"/>
          </a:solidFill>
          <a:ln w="19050">
            <a:solidFill>
              <a:srgbClr val="2E86AB"/>
            </a:solidFill>
            <a:prstDash val="solid"/>
          </a:ln>
        </p:spPr>
      </p:sp>
      <p:sp>
        <p:nvSpPr>
          <p:cNvPr id="5" name="Text 3"/>
          <p:cNvSpPr txBox="1"/>
          <p:nvPr/>
        </p:nvSpPr>
        <p:spPr>
          <a:xfrm>
            <a:off x="822960" y="1874520"/>
            <a:ext cx="2926080" cy="36576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TRAIN</a:t>
            </a:r>
            <a:endParaRPr lang="en-US" sz="1300" dirty="0"/>
          </a:p>
        </p:txBody>
      </p:sp>
      <p:sp>
        <p:nvSpPr>
          <p:cNvPr id="6" name="Text 4"/>
          <p:cNvSpPr txBox="1"/>
          <p:nvPr/>
        </p:nvSpPr>
        <p:spPr>
          <a:xfrm>
            <a:off x="822960" y="2286000"/>
            <a:ext cx="3017520" cy="109728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9.877 video</a:t>
            </a:r>
            <a:endParaRPr lang="en-US" sz="2600" dirty="0"/>
          </a:p>
          <a:p>
            <a:pPr indent="0" marL="0">
              <a:buNone/>
            </a:pPr>
            <a:r>
              <a:rPr lang="en-US" sz="2600" b="1" dirty="0">
                <a:solidFill>
                  <a:srgbClr val="1B2A4A"/>
                </a:solidFill>
                <a:latin typeface="Cambria" pitchFamily="34" charset="0"/>
                <a:ea typeface="Cambria" pitchFamily="34" charset="-122"/>
                <a:cs typeface="Cambria" pitchFamily="34" charset="-120"/>
              </a:rPr>
              <a:t>16.403 segment</a:t>
            </a:r>
            <a:endParaRPr lang="en-US" sz="2600" dirty="0"/>
          </a:p>
        </p:txBody>
      </p:sp>
      <p:sp>
        <p:nvSpPr>
          <p:cNvPr id="7" name="Text 5"/>
          <p:cNvSpPr txBox="1"/>
          <p:nvPr/>
        </p:nvSpPr>
        <p:spPr>
          <a:xfrm>
            <a:off x="822960" y="3520440"/>
            <a:ext cx="3017520" cy="155448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OF-Synthetic (9.600 video) + GMDCSA24, Le2i, CAUCAFall (277 video)</a:t>
            </a:r>
            <a:endParaRPr lang="en-US" sz="1250" dirty="0"/>
          </a:p>
        </p:txBody>
      </p:sp>
      <p:sp>
        <p:nvSpPr>
          <p:cNvPr id="8" name="Shape 6"/>
          <p:cNvSpPr/>
          <p:nvPr/>
        </p:nvSpPr>
        <p:spPr>
          <a:xfrm>
            <a:off x="4297680" y="1691640"/>
            <a:ext cx="3520440" cy="3566160"/>
          </a:xfrm>
          <a:prstGeom prst="roundRect">
            <a:avLst>
              <a:gd name="adj" fmla="val 3117"/>
            </a:avLst>
          </a:prstGeom>
          <a:solidFill>
            <a:srgbClr val="E8EDF7"/>
          </a:solidFill>
          <a:ln w="19050">
            <a:solidFill>
              <a:srgbClr val="D98E04"/>
            </a:solidFill>
            <a:prstDash val="solid"/>
          </a:ln>
        </p:spPr>
      </p:sp>
      <p:sp>
        <p:nvSpPr>
          <p:cNvPr id="9" name="Text 7"/>
          <p:cNvSpPr txBox="1"/>
          <p:nvPr/>
        </p:nvSpPr>
        <p:spPr>
          <a:xfrm>
            <a:off x="4572000" y="1874520"/>
            <a:ext cx="2926080" cy="365760"/>
          </a:xfrm>
          <a:prstGeom prst="rect">
            <a:avLst/>
          </a:prstGeom>
          <a:noFill/>
          <a:ln/>
        </p:spPr>
        <p:txBody>
          <a:bodyPr wrap="square" lIns="0" tIns="0" rIns="0" bIns="0" rtlCol="0" anchor="ctr"/>
          <a:lstStyle/>
          <a:p>
            <a:pPr indent="0" marL="0">
              <a:buNone/>
            </a:pPr>
            <a:r>
              <a:rPr lang="en-US" sz="1300" b="1" spc="200" kern="0" dirty="0">
                <a:solidFill>
                  <a:srgbClr val="D98E04"/>
                </a:solidFill>
                <a:latin typeface="Calibri" pitchFamily="34" charset="0"/>
                <a:ea typeface="Calibri" pitchFamily="34" charset="-122"/>
                <a:cs typeface="Calibri" pitchFamily="34" charset="-120"/>
              </a:rPr>
              <a:t>VAL</a:t>
            </a:r>
            <a:endParaRPr lang="en-US" sz="1300" dirty="0"/>
          </a:p>
        </p:txBody>
      </p:sp>
      <p:sp>
        <p:nvSpPr>
          <p:cNvPr id="10" name="Text 8"/>
          <p:cNvSpPr txBox="1"/>
          <p:nvPr/>
        </p:nvSpPr>
        <p:spPr>
          <a:xfrm>
            <a:off x="4572000" y="2286000"/>
            <a:ext cx="3017520" cy="109728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1.276 video</a:t>
            </a:r>
            <a:endParaRPr lang="en-US" sz="2600" dirty="0"/>
          </a:p>
          <a:p>
            <a:pPr indent="0" marL="0">
              <a:buNone/>
            </a:pPr>
            <a:r>
              <a:rPr lang="en-US" sz="2600" b="1" dirty="0">
                <a:solidFill>
                  <a:srgbClr val="1B2A4A"/>
                </a:solidFill>
                <a:latin typeface="Cambria" pitchFamily="34" charset="0"/>
                <a:ea typeface="Cambria" pitchFamily="34" charset="-122"/>
                <a:cs typeface="Cambria" pitchFamily="34" charset="-120"/>
              </a:rPr>
              <a:t>2.227 segment</a:t>
            </a:r>
            <a:endParaRPr lang="en-US" sz="2600" dirty="0"/>
          </a:p>
        </p:txBody>
      </p:sp>
      <p:sp>
        <p:nvSpPr>
          <p:cNvPr id="11" name="Text 9"/>
          <p:cNvSpPr txBox="1"/>
          <p:nvPr/>
        </p:nvSpPr>
        <p:spPr>
          <a:xfrm>
            <a:off x="4572000" y="3520440"/>
            <a:ext cx="3017520" cy="155448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OF-Synthetic (1.200) + staged (76). Thêm 81 video OOPS (409 segment) để chọn checkpoint</a:t>
            </a:r>
            <a:endParaRPr lang="en-US" sz="1250" dirty="0"/>
          </a:p>
        </p:txBody>
      </p:sp>
      <p:sp>
        <p:nvSpPr>
          <p:cNvPr id="12" name="Shape 10"/>
          <p:cNvSpPr/>
          <p:nvPr/>
        </p:nvSpPr>
        <p:spPr>
          <a:xfrm>
            <a:off x="8046720" y="1691640"/>
            <a:ext cx="3520440" cy="3566160"/>
          </a:xfrm>
          <a:prstGeom prst="roundRect">
            <a:avLst>
              <a:gd name="adj" fmla="val 3117"/>
            </a:avLst>
          </a:prstGeom>
          <a:solidFill>
            <a:srgbClr val="E8EDF7"/>
          </a:solidFill>
          <a:ln w="19050">
            <a:solidFill>
              <a:srgbClr val="C8213B"/>
            </a:solidFill>
            <a:prstDash val="solid"/>
          </a:ln>
        </p:spPr>
      </p:sp>
      <p:sp>
        <p:nvSpPr>
          <p:cNvPr id="13" name="Text 11"/>
          <p:cNvSpPr txBox="1"/>
          <p:nvPr/>
        </p:nvSpPr>
        <p:spPr>
          <a:xfrm>
            <a:off x="8321040" y="1874520"/>
            <a:ext cx="2926080" cy="365760"/>
          </a:xfrm>
          <a:prstGeom prst="rect">
            <a:avLst/>
          </a:prstGeom>
          <a:noFill/>
          <a:ln/>
        </p:spPr>
        <p:txBody>
          <a:bodyPr wrap="square" lIns="0" tIns="0" rIns="0" bIns="0" rtlCol="0" anchor="ctr"/>
          <a:lstStyle/>
          <a:p>
            <a:pPr indent="0" marL="0">
              <a:buNone/>
            </a:pPr>
            <a:r>
              <a:rPr lang="en-US" sz="1300" b="1" spc="200" kern="0" dirty="0">
                <a:solidFill>
                  <a:srgbClr val="C8213B"/>
                </a:solidFill>
                <a:latin typeface="Calibri" pitchFamily="34" charset="0"/>
                <a:ea typeface="Calibri" pitchFamily="34" charset="-122"/>
                <a:cs typeface="Calibri" pitchFamily="34" charset="-120"/>
              </a:rPr>
              <a:t>TEST</a:t>
            </a:r>
            <a:endParaRPr lang="en-US" sz="1300" dirty="0"/>
          </a:p>
        </p:txBody>
      </p:sp>
      <p:sp>
        <p:nvSpPr>
          <p:cNvPr id="14" name="Text 12"/>
          <p:cNvSpPr txBox="1"/>
          <p:nvPr/>
        </p:nvSpPr>
        <p:spPr>
          <a:xfrm>
            <a:off x="8321040" y="2286000"/>
            <a:ext cx="3017520" cy="109728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572 video</a:t>
            </a:r>
            <a:endParaRPr lang="en-US" sz="2600" dirty="0"/>
          </a:p>
          <a:p>
            <a:pPr indent="0" marL="0">
              <a:buNone/>
            </a:pPr>
            <a:r>
              <a:rPr lang="en-US" sz="2600" b="1" dirty="0">
                <a:solidFill>
                  <a:srgbClr val="1B2A4A"/>
                </a:solidFill>
                <a:latin typeface="Cambria" pitchFamily="34" charset="0"/>
                <a:ea typeface="Cambria" pitchFamily="34" charset="-122"/>
                <a:cs typeface="Cambria" pitchFamily="34" charset="-120"/>
              </a:rPr>
              <a:t>2.804 segment</a:t>
            </a:r>
            <a:endParaRPr lang="en-US" sz="2600" dirty="0"/>
          </a:p>
        </p:txBody>
      </p:sp>
      <p:sp>
        <p:nvSpPr>
          <p:cNvPr id="15" name="Text 13"/>
          <p:cNvSpPr txBox="1"/>
          <p:nvPr/>
        </p:nvSpPr>
        <p:spPr>
          <a:xfrm>
            <a:off x="8321040" y="3520440"/>
            <a:ext cx="3017520" cy="155448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Chỉ OF-ItW (OOPS), tách riêng hoàn toàn, mô hình chưa từng thấy</a:t>
            </a:r>
            <a:endParaRPr lang="en-US" sz="1250" dirty="0"/>
          </a:p>
        </p:txBody>
      </p:sp>
      <p:sp>
        <p:nvSpPr>
          <p:cNvPr id="16" name="Text 14"/>
          <p:cNvSpPr txBox="1"/>
          <p:nvPr/>
        </p:nvSpPr>
        <p:spPr>
          <a:xfrm>
            <a:off x="548640" y="5486400"/>
            <a:ext cx="11064240" cy="64008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Dùng split “cs” (cross-subject) của OmniFall. Test là đúng toàn bộ tập OF-ItW test (572 video, 2.804 segment), không lọc bớt.</a:t>
            </a:r>
            <a:endParaRPr lang="en-US" sz="1300" dirty="0"/>
          </a:p>
        </p:txBody>
      </p:sp>
      <p:sp>
        <p:nvSpPr>
          <p:cNvPr id="17" name="Text 1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DỮ LIỆU KHÔNG DÙNG</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5 bộ đã thử nhưng không đưa vào kết quả</a:t>
            </a:r>
            <a:endParaRPr lang="en-US" sz="3000" dirty="0"/>
          </a:p>
        </p:txBody>
      </p:sp>
      <p:sp>
        <p:nvSpPr>
          <p:cNvPr id="4" name="Shape 2"/>
          <p:cNvSpPr/>
          <p:nvPr/>
        </p:nvSpPr>
        <p:spPr>
          <a:xfrm>
            <a:off x="548640" y="1691640"/>
            <a:ext cx="73152" cy="914400"/>
          </a:xfrm>
          <a:prstGeom prst="rect">
            <a:avLst/>
          </a:prstGeom>
          <a:solidFill>
            <a:srgbClr val="C8213B"/>
          </a:solidFill>
          <a:ln/>
        </p:spPr>
      </p:sp>
      <p:sp>
        <p:nvSpPr>
          <p:cNvPr id="5" name="Text 3"/>
          <p:cNvSpPr txBox="1"/>
          <p:nvPr/>
        </p:nvSpPr>
        <p:spPr>
          <a:xfrm>
            <a:off x="868680" y="1691640"/>
            <a:ext cx="2377440" cy="914400"/>
          </a:xfrm>
          <a:prstGeom prst="rect">
            <a:avLst/>
          </a:prstGeom>
          <a:noFill/>
          <a:ln/>
        </p:spPr>
        <p:txBody>
          <a:bodyPr wrap="square" lIns="0" tIns="0" rIns="0" bIns="0" rtlCol="0" anchor="t"/>
          <a:lstStyle/>
          <a:p>
            <a:pPr indent="0" marL="0">
              <a:buNone/>
            </a:pPr>
            <a:r>
              <a:rPr lang="en-US" sz="1600" b="1" dirty="0">
                <a:solidFill>
                  <a:srgbClr val="1B2A4A"/>
                </a:solidFill>
                <a:latin typeface="Cambria" pitchFamily="34" charset="0"/>
                <a:ea typeface="Cambria" pitchFamily="34" charset="-122"/>
                <a:cs typeface="Cambria" pitchFamily="34" charset="-120"/>
              </a:rPr>
              <a:t>MCFD</a:t>
            </a:r>
            <a:endParaRPr lang="en-US" sz="1600" dirty="0"/>
          </a:p>
        </p:txBody>
      </p:sp>
      <p:sp>
        <p:nvSpPr>
          <p:cNvPr id="6" name="Text 4"/>
          <p:cNvSpPr txBox="1"/>
          <p:nvPr/>
        </p:nvSpPr>
        <p:spPr>
          <a:xfrm>
            <a:off x="3383280" y="1691640"/>
            <a:ext cx="8229600" cy="914400"/>
          </a:xfrm>
          <a:prstGeom prst="rect">
            <a:avLst/>
          </a:prstGeom>
          <a:noFill/>
          <a:ln/>
        </p:spPr>
        <p:txBody>
          <a:bodyPr wrap="square" lIns="0" tIns="0" rIns="0" bIns="0" rtlCol="0" anchor="t"/>
          <a:lstStyle/>
          <a:p>
            <a:pPr indent="0" marL="0">
              <a:buNone/>
            </a:pPr>
            <a:r>
              <a:rPr lang="en-US" sz="1350" dirty="0">
                <a:solidFill>
                  <a:srgbClr val="44506B"/>
                </a:solidFill>
                <a:latin typeface="Calibri" pitchFamily="34" charset="0"/>
                <a:ea typeface="Calibri" pitchFamily="34" charset="-122"/>
                <a:cs typeface="Calibri" pitchFamily="34" charset="-120"/>
              </a:rPr>
              <a:t>Tải được và đã tích hợp (192 video), nhưng loại bỏ vì làm kết quả tệ đi trên mọi chỉ số (xem slide 10).</a:t>
            </a:r>
            <a:endParaRPr lang="en-US" sz="1350" dirty="0"/>
          </a:p>
        </p:txBody>
      </p:sp>
      <p:sp>
        <p:nvSpPr>
          <p:cNvPr id="7" name="Shape 5"/>
          <p:cNvSpPr/>
          <p:nvPr/>
        </p:nvSpPr>
        <p:spPr>
          <a:xfrm>
            <a:off x="548640" y="2788920"/>
            <a:ext cx="73152" cy="914400"/>
          </a:xfrm>
          <a:prstGeom prst="rect">
            <a:avLst/>
          </a:prstGeom>
          <a:solidFill>
            <a:srgbClr val="D98E04"/>
          </a:solidFill>
          <a:ln/>
        </p:spPr>
      </p:sp>
      <p:sp>
        <p:nvSpPr>
          <p:cNvPr id="8" name="Text 6"/>
          <p:cNvSpPr txBox="1"/>
          <p:nvPr/>
        </p:nvSpPr>
        <p:spPr>
          <a:xfrm>
            <a:off x="868680" y="2788920"/>
            <a:ext cx="2377440" cy="914400"/>
          </a:xfrm>
          <a:prstGeom prst="rect">
            <a:avLst/>
          </a:prstGeom>
          <a:noFill/>
          <a:ln/>
        </p:spPr>
        <p:txBody>
          <a:bodyPr wrap="square" lIns="0" tIns="0" rIns="0" bIns="0" rtlCol="0" anchor="t"/>
          <a:lstStyle/>
          <a:p>
            <a:pPr indent="0" marL="0">
              <a:buNone/>
            </a:pPr>
            <a:r>
              <a:rPr lang="en-US" sz="1600" b="1" dirty="0">
                <a:solidFill>
                  <a:srgbClr val="1B2A4A"/>
                </a:solidFill>
                <a:latin typeface="Cambria" pitchFamily="34" charset="0"/>
                <a:ea typeface="Cambria" pitchFamily="34" charset="-122"/>
                <a:cs typeface="Cambria" pitchFamily="34" charset="-120"/>
              </a:rPr>
              <a:t>CMDFall</a:t>
            </a:r>
            <a:endParaRPr lang="en-US" sz="1600" dirty="0"/>
          </a:p>
        </p:txBody>
      </p:sp>
      <p:sp>
        <p:nvSpPr>
          <p:cNvPr id="9" name="Text 7"/>
          <p:cNvSpPr txBox="1"/>
          <p:nvPr/>
        </p:nvSpPr>
        <p:spPr>
          <a:xfrm>
            <a:off x="3383280" y="2788920"/>
            <a:ext cx="8229600" cy="914400"/>
          </a:xfrm>
          <a:prstGeom prst="rect">
            <a:avLst/>
          </a:prstGeom>
          <a:noFill/>
          <a:ln/>
        </p:spPr>
        <p:txBody>
          <a:bodyPr wrap="square" lIns="0" tIns="0" rIns="0" bIns="0" rtlCol="0" anchor="t"/>
          <a:lstStyle/>
          <a:p>
            <a:pPr indent="0" marL="0">
              <a:buNone/>
            </a:pPr>
            <a:r>
              <a:rPr lang="en-US" sz="1350" dirty="0">
                <a:solidFill>
                  <a:srgbClr val="44506B"/>
                </a:solidFill>
                <a:latin typeface="Calibri" pitchFamily="34" charset="0"/>
                <a:ea typeface="Calibri" pitchFamily="34" charset="-122"/>
                <a:cs typeface="Calibri" pitchFamily="34" charset="-120"/>
              </a:rPr>
              <a:t>Cần xin quyền từ tác giả qua email và nặng khoảng 350GB. Không khả thi.</a:t>
            </a:r>
            <a:endParaRPr lang="en-US" sz="1350" dirty="0"/>
          </a:p>
        </p:txBody>
      </p:sp>
      <p:sp>
        <p:nvSpPr>
          <p:cNvPr id="10" name="Shape 8"/>
          <p:cNvSpPr/>
          <p:nvPr/>
        </p:nvSpPr>
        <p:spPr>
          <a:xfrm>
            <a:off x="548640" y="3886200"/>
            <a:ext cx="73152" cy="914400"/>
          </a:xfrm>
          <a:prstGeom prst="rect">
            <a:avLst/>
          </a:prstGeom>
          <a:solidFill>
            <a:srgbClr val="D98E04"/>
          </a:solidFill>
          <a:ln/>
        </p:spPr>
      </p:sp>
      <p:sp>
        <p:nvSpPr>
          <p:cNvPr id="11" name="Text 9"/>
          <p:cNvSpPr txBox="1"/>
          <p:nvPr/>
        </p:nvSpPr>
        <p:spPr>
          <a:xfrm>
            <a:off x="868680" y="3886200"/>
            <a:ext cx="2377440" cy="914400"/>
          </a:xfrm>
          <a:prstGeom prst="rect">
            <a:avLst/>
          </a:prstGeom>
          <a:noFill/>
          <a:ln/>
        </p:spPr>
        <p:txBody>
          <a:bodyPr wrap="square" lIns="0" tIns="0" rIns="0" bIns="0" rtlCol="0" anchor="t"/>
          <a:lstStyle/>
          <a:p>
            <a:pPr indent="0" marL="0">
              <a:buNone/>
            </a:pPr>
            <a:r>
              <a:rPr lang="en-US" sz="1600" b="1" dirty="0">
                <a:solidFill>
                  <a:srgbClr val="1B2A4A"/>
                </a:solidFill>
                <a:latin typeface="Cambria" pitchFamily="34" charset="0"/>
                <a:ea typeface="Cambria" pitchFamily="34" charset="-122"/>
                <a:cs typeface="Cambria" pitchFamily="34" charset="-120"/>
              </a:rPr>
              <a:t>UP-Fall</a:t>
            </a:r>
            <a:endParaRPr lang="en-US" sz="1600" dirty="0"/>
          </a:p>
        </p:txBody>
      </p:sp>
      <p:sp>
        <p:nvSpPr>
          <p:cNvPr id="12" name="Text 10"/>
          <p:cNvSpPr txBox="1"/>
          <p:nvPr/>
        </p:nvSpPr>
        <p:spPr>
          <a:xfrm>
            <a:off x="3383280" y="3886200"/>
            <a:ext cx="8229600" cy="914400"/>
          </a:xfrm>
          <a:prstGeom prst="rect">
            <a:avLst/>
          </a:prstGeom>
          <a:noFill/>
          <a:ln/>
        </p:spPr>
        <p:txBody>
          <a:bodyPr wrap="square" lIns="0" tIns="0" rIns="0" bIns="0" rtlCol="0" anchor="t"/>
          <a:lstStyle/>
          <a:p>
            <a:pPr indent="0" marL="0">
              <a:buNone/>
            </a:pPr>
            <a:r>
              <a:rPr lang="en-US" sz="1350" dirty="0">
                <a:solidFill>
                  <a:srgbClr val="44506B"/>
                </a:solidFill>
                <a:latin typeface="Calibri" pitchFamily="34" charset="0"/>
                <a:ea typeface="Calibri" pitchFamily="34" charset="-122"/>
                <a:cs typeface="Calibri" pitchFamily="34" charset="-120"/>
              </a:rPr>
              <a:t>IEEE DataPort chặn tải tự động, cần đăng nhập thủ công. Chưa lấy được.</a:t>
            </a:r>
            <a:endParaRPr lang="en-US" sz="1350" dirty="0"/>
          </a:p>
        </p:txBody>
      </p:sp>
      <p:sp>
        <p:nvSpPr>
          <p:cNvPr id="13" name="Shape 11"/>
          <p:cNvSpPr/>
          <p:nvPr/>
        </p:nvSpPr>
        <p:spPr>
          <a:xfrm>
            <a:off x="548640" y="4983480"/>
            <a:ext cx="73152" cy="914400"/>
          </a:xfrm>
          <a:prstGeom prst="rect">
            <a:avLst/>
          </a:prstGeom>
          <a:solidFill>
            <a:srgbClr val="D98E04"/>
          </a:solidFill>
          <a:ln/>
        </p:spPr>
      </p:sp>
      <p:sp>
        <p:nvSpPr>
          <p:cNvPr id="14" name="Text 12"/>
          <p:cNvSpPr txBox="1"/>
          <p:nvPr/>
        </p:nvSpPr>
        <p:spPr>
          <a:xfrm>
            <a:off x="868680" y="4983480"/>
            <a:ext cx="2377440" cy="914400"/>
          </a:xfrm>
          <a:prstGeom prst="rect">
            <a:avLst/>
          </a:prstGeom>
          <a:noFill/>
          <a:ln/>
        </p:spPr>
        <p:txBody>
          <a:bodyPr wrap="square" lIns="0" tIns="0" rIns="0" bIns="0" rtlCol="0" anchor="t"/>
          <a:lstStyle/>
          <a:p>
            <a:pPr indent="0" marL="0">
              <a:buNone/>
            </a:pPr>
            <a:r>
              <a:rPr lang="en-US" sz="1600" b="1" dirty="0">
                <a:solidFill>
                  <a:srgbClr val="1B2A4A"/>
                </a:solidFill>
                <a:latin typeface="Cambria" pitchFamily="34" charset="0"/>
                <a:ea typeface="Cambria" pitchFamily="34" charset="-122"/>
                <a:cs typeface="Cambria" pitchFamily="34" charset="-120"/>
              </a:rPr>
              <a:t>EDF, OCCU</a:t>
            </a:r>
            <a:endParaRPr lang="en-US" sz="1600" dirty="0"/>
          </a:p>
        </p:txBody>
      </p:sp>
      <p:sp>
        <p:nvSpPr>
          <p:cNvPr id="15" name="Text 13"/>
          <p:cNvSpPr txBox="1"/>
          <p:nvPr/>
        </p:nvSpPr>
        <p:spPr>
          <a:xfrm>
            <a:off x="3383280" y="4983480"/>
            <a:ext cx="8229600" cy="914400"/>
          </a:xfrm>
          <a:prstGeom prst="rect">
            <a:avLst/>
          </a:prstGeom>
          <a:noFill/>
          <a:ln/>
        </p:spPr>
        <p:txBody>
          <a:bodyPr wrap="square" lIns="0" tIns="0" rIns="0" bIns="0" rtlCol="0" anchor="t"/>
          <a:lstStyle/>
          <a:p>
            <a:pPr indent="0" marL="0">
              <a:buNone/>
            </a:pPr>
            <a:r>
              <a:rPr lang="en-US" sz="1350" dirty="0">
                <a:solidFill>
                  <a:srgbClr val="44506B"/>
                </a:solidFill>
                <a:latin typeface="Calibri" pitchFamily="34" charset="0"/>
                <a:ea typeface="Calibri" pitchFamily="34" charset="-122"/>
                <a:cs typeface="Calibri" pitchFamily="34" charset="-120"/>
              </a:rPr>
              <a:t>Không tìm được nguồn tải dùng được trong thời gian làm dự án.</a:t>
            </a:r>
            <a:endParaRPr lang="en-US" sz="1350" dirty="0"/>
          </a:p>
        </p:txBody>
      </p:sp>
      <p:sp>
        <p:nvSpPr>
          <p:cNvPr id="16" name="Text 14"/>
          <p:cNvSpPr txBox="1"/>
          <p:nvPr/>
        </p:nvSpPr>
        <p:spPr>
          <a:xfrm>
            <a:off x="548640" y="6080760"/>
            <a:ext cx="10972800" cy="365760"/>
          </a:xfrm>
          <a:prstGeom prst="rect">
            <a:avLst/>
          </a:prstGeom>
          <a:noFill/>
          <a:ln/>
        </p:spPr>
        <p:txBody>
          <a:bodyPr wrap="square" lIns="0" tIns="0" rIns="0" bIns="0" rtlCol="0" anchor="ctr"/>
          <a:lstStyle/>
          <a:p>
            <a:pPr indent="0" marL="0">
              <a:buNone/>
            </a:pPr>
            <a:r>
              <a:rPr lang="en-US" sz="1300" i="1" dirty="0">
                <a:solidFill>
                  <a:srgbClr val="8791A8"/>
                </a:solidFill>
                <a:latin typeface="Calibri" pitchFamily="34" charset="0"/>
                <a:ea typeface="Calibri" pitchFamily="34" charset="-122"/>
                <a:cs typeface="Calibri" pitchFamily="34" charset="-120"/>
              </a:rPr>
              <a:t>Hệ quả: chỉ có 3 trong 8 bộ staged của OF-Staged được dùng để huấn luyện.</a:t>
            </a:r>
            <a:endParaRPr lang="en-US" sz="1300" dirty="0"/>
          </a:p>
        </p:txBody>
      </p:sp>
      <p:sp>
        <p:nvSpPr>
          <p:cNvPr id="17" name="Text 1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XỬ LÝ DỮ LIỆU</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Từ video thô đến logits dự đoán</a:t>
            </a:r>
            <a:endParaRPr lang="en-US" sz="3000" dirty="0"/>
          </a:p>
        </p:txBody>
      </p:sp>
      <p:sp>
        <p:nvSpPr>
          <p:cNvPr id="4" name="Shape 2"/>
          <p:cNvSpPr/>
          <p:nvPr/>
        </p:nvSpPr>
        <p:spPr>
          <a:xfrm>
            <a:off x="548640" y="1828800"/>
            <a:ext cx="1691640" cy="2194560"/>
          </a:xfrm>
          <a:prstGeom prst="roundRect">
            <a:avLst>
              <a:gd name="adj" fmla="val 5405"/>
            </a:avLst>
          </a:prstGeom>
          <a:solidFill>
            <a:srgbClr val="E8EDF7"/>
          </a:solidFill>
          <a:ln/>
        </p:spPr>
      </p:sp>
      <p:sp>
        <p:nvSpPr>
          <p:cNvPr id="5" name="Text 3"/>
          <p:cNvSpPr txBox="1"/>
          <p:nvPr/>
        </p:nvSpPr>
        <p:spPr>
          <a:xfrm>
            <a:off x="685800" y="1920240"/>
            <a:ext cx="548640" cy="457200"/>
          </a:xfrm>
          <a:prstGeom prst="rect">
            <a:avLst/>
          </a:prstGeom>
          <a:noFill/>
          <a:ln/>
        </p:spPr>
        <p:txBody>
          <a:bodyPr wrap="square" lIns="0" tIns="0" rIns="0" bIns="0" rtlCol="0" anchor="ctr"/>
          <a:lstStyle/>
          <a:p>
            <a:pPr indent="0" marL="0">
              <a:buNone/>
            </a:pPr>
            <a:r>
              <a:rPr lang="en-US" sz="2200" b="1" dirty="0">
                <a:solidFill>
                  <a:srgbClr val="2E86AB"/>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685800" y="2468880"/>
            <a:ext cx="1417320" cy="594360"/>
          </a:xfrm>
          <a:prstGeom prst="rect">
            <a:avLst/>
          </a:prstGeom>
          <a:noFill/>
          <a:ln/>
        </p:spPr>
        <p:txBody>
          <a:bodyPr wrap="square" lIns="0" tIns="0" rIns="0" bIns="0"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Tải &amp; ghép nhãn</a:t>
            </a:r>
            <a:endParaRPr lang="en-US" sz="1350" dirty="0"/>
          </a:p>
        </p:txBody>
      </p:sp>
      <p:sp>
        <p:nvSpPr>
          <p:cNvPr id="7" name="Text 5"/>
          <p:cNvSpPr txBox="1"/>
          <p:nvPr/>
        </p:nvSpPr>
        <p:spPr>
          <a:xfrm>
            <a:off x="685800" y="3108960"/>
            <a:ext cx="141732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ghép đường dẫn video với file nhãn CSV</a:t>
            </a:r>
            <a:endParaRPr lang="en-US" sz="1150" dirty="0"/>
          </a:p>
        </p:txBody>
      </p:sp>
      <p:sp>
        <p:nvSpPr>
          <p:cNvPr id="8" name="Shape 6"/>
          <p:cNvSpPr/>
          <p:nvPr/>
        </p:nvSpPr>
        <p:spPr>
          <a:xfrm>
            <a:off x="2423160" y="1828800"/>
            <a:ext cx="1691640" cy="2194560"/>
          </a:xfrm>
          <a:prstGeom prst="roundRect">
            <a:avLst>
              <a:gd name="adj" fmla="val 5405"/>
            </a:avLst>
          </a:prstGeom>
          <a:solidFill>
            <a:srgbClr val="E8EDF7"/>
          </a:solidFill>
          <a:ln/>
        </p:spPr>
      </p:sp>
      <p:sp>
        <p:nvSpPr>
          <p:cNvPr id="9" name="Text 7"/>
          <p:cNvSpPr txBox="1"/>
          <p:nvPr/>
        </p:nvSpPr>
        <p:spPr>
          <a:xfrm>
            <a:off x="2560320" y="1920240"/>
            <a:ext cx="548640" cy="457200"/>
          </a:xfrm>
          <a:prstGeom prst="rect">
            <a:avLst/>
          </a:prstGeom>
          <a:noFill/>
          <a:ln/>
        </p:spPr>
        <p:txBody>
          <a:bodyPr wrap="square" lIns="0" tIns="0" rIns="0" bIns="0" rtlCol="0" anchor="ctr"/>
          <a:lstStyle/>
          <a:p>
            <a:pPr indent="0" marL="0">
              <a:buNone/>
            </a:pPr>
            <a:r>
              <a:rPr lang="en-US" sz="2200" b="1" dirty="0">
                <a:solidFill>
                  <a:srgbClr val="2E86AB"/>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2560320" y="2468880"/>
            <a:ext cx="1417320" cy="594360"/>
          </a:xfrm>
          <a:prstGeom prst="rect">
            <a:avLst/>
          </a:prstGeom>
          <a:noFill/>
          <a:ln/>
        </p:spPr>
        <p:txBody>
          <a:bodyPr wrap="square" lIns="0" tIns="0" rIns="0" bIns="0"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Lấy mẫu 7,5 fps</a:t>
            </a:r>
            <a:endParaRPr lang="en-US" sz="1350" dirty="0"/>
          </a:p>
        </p:txBody>
      </p:sp>
      <p:sp>
        <p:nvSpPr>
          <p:cNvPr id="11" name="Text 9"/>
          <p:cNvSpPr txBox="1"/>
          <p:nvPr/>
        </p:nvSpPr>
        <p:spPr>
          <a:xfrm>
            <a:off x="2560320" y="3108960"/>
            <a:ext cx="141732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giảm từ 25-30 fps xuống 7,5 fps</a:t>
            </a:r>
            <a:endParaRPr lang="en-US" sz="1150" dirty="0"/>
          </a:p>
        </p:txBody>
      </p:sp>
      <p:sp>
        <p:nvSpPr>
          <p:cNvPr id="12" name="Shape 10"/>
          <p:cNvSpPr/>
          <p:nvPr/>
        </p:nvSpPr>
        <p:spPr>
          <a:xfrm>
            <a:off x="4297680" y="1828800"/>
            <a:ext cx="1691640" cy="2194560"/>
          </a:xfrm>
          <a:prstGeom prst="roundRect">
            <a:avLst>
              <a:gd name="adj" fmla="val 5405"/>
            </a:avLst>
          </a:prstGeom>
          <a:solidFill>
            <a:srgbClr val="E8EDF7"/>
          </a:solidFill>
          <a:ln/>
        </p:spPr>
      </p:sp>
      <p:sp>
        <p:nvSpPr>
          <p:cNvPr id="13" name="Text 11"/>
          <p:cNvSpPr txBox="1"/>
          <p:nvPr/>
        </p:nvSpPr>
        <p:spPr>
          <a:xfrm>
            <a:off x="4434840" y="1920240"/>
            <a:ext cx="548640" cy="457200"/>
          </a:xfrm>
          <a:prstGeom prst="rect">
            <a:avLst/>
          </a:prstGeom>
          <a:noFill/>
          <a:ln/>
        </p:spPr>
        <p:txBody>
          <a:bodyPr wrap="square" lIns="0" tIns="0" rIns="0" bIns="0" rtlCol="0" anchor="ctr"/>
          <a:lstStyle/>
          <a:p>
            <a:pPr indent="0" marL="0">
              <a:buNone/>
            </a:pPr>
            <a:r>
              <a:rPr lang="en-US" sz="2200" b="1" dirty="0">
                <a:solidFill>
                  <a:srgbClr val="2E86AB"/>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4434840" y="2468880"/>
            <a:ext cx="1417320" cy="594360"/>
          </a:xfrm>
          <a:prstGeom prst="rect">
            <a:avLst/>
          </a:prstGeom>
          <a:noFill/>
          <a:ln/>
        </p:spPr>
        <p:txBody>
          <a:bodyPr wrap="square" lIns="0" tIns="0" rIns="0" bIns="0"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Cửa sổ 16 khung</a:t>
            </a:r>
            <a:endParaRPr lang="en-US" sz="1350" dirty="0"/>
          </a:p>
        </p:txBody>
      </p:sp>
      <p:sp>
        <p:nvSpPr>
          <p:cNvPr id="15" name="Text 13"/>
          <p:cNvSpPr txBox="1"/>
          <p:nvPr/>
        </p:nvSpPr>
        <p:spPr>
          <a:xfrm>
            <a:off x="4434840" y="3108960"/>
            <a:ext cx="141732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trượt mỗi 2/15 giây (~1 khung)</a:t>
            </a:r>
            <a:endParaRPr lang="en-US" sz="1150" dirty="0"/>
          </a:p>
        </p:txBody>
      </p:sp>
      <p:sp>
        <p:nvSpPr>
          <p:cNvPr id="16" name="Shape 14"/>
          <p:cNvSpPr/>
          <p:nvPr/>
        </p:nvSpPr>
        <p:spPr>
          <a:xfrm>
            <a:off x="6172200" y="1828800"/>
            <a:ext cx="1691640" cy="2194560"/>
          </a:xfrm>
          <a:prstGeom prst="roundRect">
            <a:avLst>
              <a:gd name="adj" fmla="val 5405"/>
            </a:avLst>
          </a:prstGeom>
          <a:solidFill>
            <a:srgbClr val="2E86AB"/>
          </a:solidFill>
          <a:ln/>
        </p:spPr>
      </p:sp>
      <p:sp>
        <p:nvSpPr>
          <p:cNvPr id="17" name="Text 15"/>
          <p:cNvSpPr txBox="1"/>
          <p:nvPr/>
        </p:nvSpPr>
        <p:spPr>
          <a:xfrm>
            <a:off x="6309360" y="1920240"/>
            <a:ext cx="5486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6309360" y="2468880"/>
            <a:ext cx="1417320" cy="59436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VideoMAE-K400</a:t>
            </a:r>
            <a:endParaRPr lang="en-US" sz="1350" dirty="0"/>
          </a:p>
        </p:txBody>
      </p:sp>
      <p:sp>
        <p:nvSpPr>
          <p:cNvPr id="19" name="Text 17"/>
          <p:cNvSpPr txBox="1"/>
          <p:nvPr/>
        </p:nvSpPr>
        <p:spPr>
          <a:xfrm>
            <a:off x="6309360" y="3108960"/>
            <a:ext cx="1417320" cy="8229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mỗi cửa sổ thành vector 768 chiều</a:t>
            </a:r>
            <a:endParaRPr lang="en-US" sz="1150" dirty="0"/>
          </a:p>
        </p:txBody>
      </p:sp>
      <p:sp>
        <p:nvSpPr>
          <p:cNvPr id="20" name="Shape 18"/>
          <p:cNvSpPr/>
          <p:nvPr/>
        </p:nvSpPr>
        <p:spPr>
          <a:xfrm>
            <a:off x="8046720" y="1828800"/>
            <a:ext cx="1691640" cy="2194560"/>
          </a:xfrm>
          <a:prstGeom prst="roundRect">
            <a:avLst>
              <a:gd name="adj" fmla="val 5405"/>
            </a:avLst>
          </a:prstGeom>
          <a:solidFill>
            <a:srgbClr val="E8EDF7"/>
          </a:solidFill>
          <a:ln/>
        </p:spPr>
      </p:sp>
      <p:sp>
        <p:nvSpPr>
          <p:cNvPr id="21" name="Text 19"/>
          <p:cNvSpPr txBox="1"/>
          <p:nvPr/>
        </p:nvSpPr>
        <p:spPr>
          <a:xfrm>
            <a:off x="8183880" y="1920240"/>
            <a:ext cx="548640" cy="457200"/>
          </a:xfrm>
          <a:prstGeom prst="rect">
            <a:avLst/>
          </a:prstGeom>
          <a:noFill/>
          <a:ln/>
        </p:spPr>
        <p:txBody>
          <a:bodyPr wrap="square" lIns="0" tIns="0" rIns="0" bIns="0" rtlCol="0" anchor="ctr"/>
          <a:lstStyle/>
          <a:p>
            <a:pPr indent="0" marL="0">
              <a:buNone/>
            </a:pPr>
            <a:r>
              <a:rPr lang="en-US" sz="2200" b="1" dirty="0">
                <a:solidFill>
                  <a:srgbClr val="2E86AB"/>
                </a:solidFill>
                <a:latin typeface="Cambria" pitchFamily="34" charset="0"/>
                <a:ea typeface="Cambria" pitchFamily="34" charset="-122"/>
                <a:cs typeface="Cambria" pitchFamily="34" charset="-120"/>
              </a:rPr>
              <a:t>5</a:t>
            </a:r>
            <a:endParaRPr lang="en-US" sz="2200" dirty="0"/>
          </a:p>
        </p:txBody>
      </p:sp>
      <p:sp>
        <p:nvSpPr>
          <p:cNvPr id="22" name="Text 20"/>
          <p:cNvSpPr txBox="1"/>
          <p:nvPr/>
        </p:nvSpPr>
        <p:spPr>
          <a:xfrm>
            <a:off x="8183880" y="2468880"/>
            <a:ext cx="1417320" cy="594360"/>
          </a:xfrm>
          <a:prstGeom prst="rect">
            <a:avLst/>
          </a:prstGeom>
          <a:noFill/>
          <a:ln/>
        </p:spPr>
        <p:txBody>
          <a:bodyPr wrap="square" lIns="0" tIns="0" rIns="0" bIns="0"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Lưu file .h5</a:t>
            </a:r>
            <a:endParaRPr lang="en-US" sz="1350" dirty="0"/>
          </a:p>
        </p:txBody>
      </p:sp>
      <p:sp>
        <p:nvSpPr>
          <p:cNvPr id="23" name="Text 21"/>
          <p:cNvSpPr txBox="1"/>
          <p:nvPr/>
        </p:nvSpPr>
        <p:spPr>
          <a:xfrm>
            <a:off x="8183880" y="3108960"/>
            <a:ext cx="141732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mỗi video 1 file, kích thước T×768</a:t>
            </a:r>
            <a:endParaRPr lang="en-US" sz="1150" dirty="0"/>
          </a:p>
        </p:txBody>
      </p:sp>
      <p:sp>
        <p:nvSpPr>
          <p:cNvPr id="24" name="Shape 22"/>
          <p:cNvSpPr/>
          <p:nvPr/>
        </p:nvSpPr>
        <p:spPr>
          <a:xfrm>
            <a:off x="9921240" y="1828800"/>
            <a:ext cx="1691640" cy="2194560"/>
          </a:xfrm>
          <a:prstGeom prst="roundRect">
            <a:avLst>
              <a:gd name="adj" fmla="val 5405"/>
            </a:avLst>
          </a:prstGeom>
          <a:solidFill>
            <a:srgbClr val="E8EDF7"/>
          </a:solidFill>
          <a:ln/>
        </p:spPr>
      </p:sp>
      <p:sp>
        <p:nvSpPr>
          <p:cNvPr id="25" name="Text 23"/>
          <p:cNvSpPr txBox="1"/>
          <p:nvPr/>
        </p:nvSpPr>
        <p:spPr>
          <a:xfrm>
            <a:off x="10058400" y="1920240"/>
            <a:ext cx="548640" cy="457200"/>
          </a:xfrm>
          <a:prstGeom prst="rect">
            <a:avLst/>
          </a:prstGeom>
          <a:noFill/>
          <a:ln/>
        </p:spPr>
        <p:txBody>
          <a:bodyPr wrap="square" lIns="0" tIns="0" rIns="0" bIns="0" rtlCol="0" anchor="ctr"/>
          <a:lstStyle/>
          <a:p>
            <a:pPr indent="0" marL="0">
              <a:buNone/>
            </a:pPr>
            <a:r>
              <a:rPr lang="en-US" sz="2200" b="1" dirty="0">
                <a:solidFill>
                  <a:srgbClr val="2E86AB"/>
                </a:solidFill>
                <a:latin typeface="Cambria" pitchFamily="34" charset="0"/>
                <a:ea typeface="Cambria" pitchFamily="34" charset="-122"/>
                <a:cs typeface="Cambria" pitchFamily="34" charset="-120"/>
              </a:rPr>
              <a:t>6</a:t>
            </a:r>
            <a:endParaRPr lang="en-US" sz="2200" dirty="0"/>
          </a:p>
        </p:txBody>
      </p:sp>
      <p:sp>
        <p:nvSpPr>
          <p:cNvPr id="26" name="Text 24"/>
          <p:cNvSpPr txBox="1"/>
          <p:nvPr/>
        </p:nvSpPr>
        <p:spPr>
          <a:xfrm>
            <a:off x="10058400" y="2468880"/>
            <a:ext cx="1417320" cy="594360"/>
          </a:xfrm>
          <a:prstGeom prst="rect">
            <a:avLst/>
          </a:prstGeom>
          <a:noFill/>
          <a:ln/>
        </p:spPr>
        <p:txBody>
          <a:bodyPr wrap="square" lIns="0" tIns="0" rIns="0" bIns="0"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Baseline</a:t>
            </a:r>
            <a:endParaRPr lang="en-US" sz="1350" dirty="0"/>
          </a:p>
        </p:txBody>
      </p:sp>
      <p:sp>
        <p:nvSpPr>
          <p:cNvPr id="27" name="Text 25"/>
          <p:cNvSpPr txBox="1"/>
          <p:nvPr/>
        </p:nvSpPr>
        <p:spPr>
          <a:xfrm>
            <a:off x="10058400" y="3108960"/>
            <a:ext cx="141732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18 vector liên tiếp vào FeatureTransformer</a:t>
            </a:r>
            <a:endParaRPr lang="en-US" sz="1150" dirty="0"/>
          </a:p>
        </p:txBody>
      </p:sp>
      <p:sp>
        <p:nvSpPr>
          <p:cNvPr id="28" name="Shape 26"/>
          <p:cNvSpPr/>
          <p:nvPr/>
        </p:nvSpPr>
        <p:spPr>
          <a:xfrm>
            <a:off x="548640" y="4434840"/>
            <a:ext cx="11064240" cy="1554480"/>
          </a:xfrm>
          <a:prstGeom prst="roundRect">
            <a:avLst>
              <a:gd name="adj" fmla="val 5882"/>
            </a:avLst>
          </a:prstGeom>
          <a:solidFill>
            <a:srgbClr val="1B2A4A"/>
          </a:solidFill>
          <a:ln/>
        </p:spPr>
      </p:sp>
      <p:sp>
        <p:nvSpPr>
          <p:cNvPr id="29" name="Text 27"/>
          <p:cNvSpPr txBox="1"/>
          <p:nvPr/>
        </p:nvSpPr>
        <p:spPr>
          <a:xfrm>
            <a:off x="868680" y="4434840"/>
            <a:ext cx="10424160" cy="1554480"/>
          </a:xfrm>
          <a:prstGeom prst="rect">
            <a:avLst/>
          </a:prstGeom>
          <a:noFill/>
          <a:ln/>
        </p:spPr>
        <p:txBody>
          <a:bodyPr wrap="square" lIns="0" tIns="0" rIns="0" bIns="0" rtlCol="0" anchor="ctr"/>
          <a:lstStyle/>
          <a:p>
            <a:pPr indent="0" marL="0">
              <a:buNone/>
            </a:pPr>
            <a:r>
              <a:rPr lang="en-US" sz="1350" b="1" dirty="0">
                <a:solidFill>
                  <a:srgbClr val="2E86AB"/>
                </a:solidFill>
                <a:latin typeface="Calibri" pitchFamily="34" charset="0"/>
                <a:ea typeface="Calibri" pitchFamily="34" charset="-122"/>
                <a:cs typeface="Calibri" pitchFamily="34" charset="-120"/>
              </a:rPr>
              <a:t>Giữ đúng cấu hình của paper:  </a:t>
            </a:r>
            <a:pPr indent="0" marL="0">
              <a:buNone/>
            </a:pPr>
            <a:r>
              <a:rPr lang="en-US" sz="1350" dirty="0">
                <a:solidFill>
                  <a:srgbClr val="E4E9F5"/>
                </a:solidFill>
                <a:latin typeface="Calibri" pitchFamily="34" charset="0"/>
                <a:ea typeface="Calibri" pitchFamily="34" charset="-122"/>
                <a:cs typeface="Calibri" pitchFamily="34" charset="-120"/>
              </a:rPr>
              <a:t>7,5 fps, 16 khung hình mỗi cửa sổ, bước trượt 2/15 giây (Table 12). Baseline là FeatureTransformer 2 lớp từ repo chính thức omnifall-experiments, huấn luyện tới hội tụ. Sau đó logits được lưu lại để bước conditioning dùng mà không cần chạy lại video.</a:t>
            </a:r>
            <a:endParaRPr lang="en-US" sz="1350" dirty="0"/>
          </a:p>
        </p:txBody>
      </p:sp>
      <p:sp>
        <p:nvSpPr>
          <p:cNvPr id="30" name="Text 2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XỬ LÝ DỮ LIỆU</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Mỗi bộ có một kiểu đặt tên và dung lượng riêng</a:t>
            </a:r>
            <a:endParaRPr lang="en-US" sz="3000" dirty="0"/>
          </a:p>
        </p:txBody>
      </p:sp>
      <p:sp>
        <p:nvSpPr>
          <p:cNvPr id="4" name="Text 2"/>
          <p:cNvSpPr txBox="1"/>
          <p:nvPr/>
        </p:nvSpPr>
        <p:spPr>
          <a:xfrm>
            <a:off x="548640" y="1645920"/>
            <a:ext cx="2651760" cy="822960"/>
          </a:xfrm>
          <a:prstGeom prst="rect">
            <a:avLst/>
          </a:prstGeom>
          <a:noFill/>
          <a:ln/>
        </p:spPr>
        <p:txBody>
          <a:bodyPr wrap="square" lIns="0" tIns="0" rIns="0" bIns="0" rtlCol="0" anchor="t"/>
          <a:lstStyle/>
          <a:p>
            <a:pPr indent="0" marL="0">
              <a:buNone/>
            </a:pPr>
            <a:r>
              <a:rPr lang="en-US" sz="1400" b="1" dirty="0">
                <a:solidFill>
                  <a:srgbClr val="1B2A4A"/>
                </a:solidFill>
                <a:latin typeface="Cambria" pitchFamily="34" charset="0"/>
                <a:ea typeface="Cambria" pitchFamily="34" charset="-122"/>
                <a:cs typeface="Cambria" pitchFamily="34" charset="-120"/>
              </a:rPr>
              <a:t>Khớp tên video ↔ nhãn</a:t>
            </a:r>
            <a:endParaRPr lang="en-US" sz="1400" dirty="0"/>
          </a:p>
        </p:txBody>
      </p:sp>
      <p:sp>
        <p:nvSpPr>
          <p:cNvPr id="5" name="Text 3"/>
          <p:cNvSpPr txBox="1"/>
          <p:nvPr/>
        </p:nvSpPr>
        <p:spPr>
          <a:xfrm>
            <a:off x="3291840" y="1645920"/>
            <a:ext cx="8321040" cy="8229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GMDCSA24: “Subject 1/ADL/01.mp4” ↔ “Subject_1/ADL/01”. Le2i: “video (N).avi” ↔ “video_N”. CAUCAFall: khớp theo tên file vì cấu trúc thư mục khác nhãn.</a:t>
            </a:r>
            <a:endParaRPr lang="en-US" sz="1250" dirty="0"/>
          </a:p>
        </p:txBody>
      </p:sp>
      <p:sp>
        <p:nvSpPr>
          <p:cNvPr id="6" name="Text 4"/>
          <p:cNvSpPr txBox="1"/>
          <p:nvPr/>
        </p:nvSpPr>
        <p:spPr>
          <a:xfrm>
            <a:off x="548640" y="2542032"/>
            <a:ext cx="2651760" cy="822960"/>
          </a:xfrm>
          <a:prstGeom prst="rect">
            <a:avLst/>
          </a:prstGeom>
          <a:noFill/>
          <a:ln/>
        </p:spPr>
        <p:txBody>
          <a:bodyPr wrap="square" lIns="0" tIns="0" rIns="0" bIns="0" rtlCol="0" anchor="t"/>
          <a:lstStyle/>
          <a:p>
            <a:pPr indent="0" marL="0">
              <a:buNone/>
            </a:pPr>
            <a:r>
              <a:rPr lang="en-US" sz="1400" b="1" dirty="0">
                <a:solidFill>
                  <a:srgbClr val="1B2A4A"/>
                </a:solidFill>
                <a:latin typeface="Cambria" pitchFamily="34" charset="0"/>
                <a:ea typeface="Cambria" pitchFamily="34" charset="-122"/>
                <a:cs typeface="Cambria" pitchFamily="34" charset="-120"/>
              </a:rPr>
              <a:t>OF-Synthetic</a:t>
            </a:r>
            <a:endParaRPr lang="en-US" sz="1400" dirty="0"/>
          </a:p>
        </p:txBody>
      </p:sp>
      <p:sp>
        <p:nvSpPr>
          <p:cNvPr id="7" name="Text 5"/>
          <p:cNvSpPr txBox="1"/>
          <p:nvPr/>
        </p:nvSpPr>
        <p:spPr>
          <a:xfrm>
            <a:off x="3291840" y="2542032"/>
            <a:ext cx="8321040" cy="8229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12.000 video nằm trong 1 file tar ~9,7GB. Đọc trực tiếp từng video từ tar rồi trích đặc trưng, không giải nén toàn bộ (ổ đĩa không đủ chỗ).</a:t>
            </a:r>
            <a:endParaRPr lang="en-US" sz="1250" dirty="0"/>
          </a:p>
        </p:txBody>
      </p:sp>
      <p:sp>
        <p:nvSpPr>
          <p:cNvPr id="8" name="Text 6"/>
          <p:cNvSpPr txBox="1"/>
          <p:nvPr/>
        </p:nvSpPr>
        <p:spPr>
          <a:xfrm>
            <a:off x="548640" y="3438144"/>
            <a:ext cx="2651760" cy="822960"/>
          </a:xfrm>
          <a:prstGeom prst="rect">
            <a:avLst/>
          </a:prstGeom>
          <a:noFill/>
          <a:ln/>
        </p:spPr>
        <p:txBody>
          <a:bodyPr wrap="square" lIns="0" tIns="0" rIns="0" bIns="0" rtlCol="0" anchor="t"/>
          <a:lstStyle/>
          <a:p>
            <a:pPr indent="0" marL="0">
              <a:buNone/>
            </a:pPr>
            <a:r>
              <a:rPr lang="en-US" sz="1400" b="1" dirty="0">
                <a:solidFill>
                  <a:srgbClr val="1B2A4A"/>
                </a:solidFill>
                <a:latin typeface="Cambria" pitchFamily="34" charset="0"/>
                <a:ea typeface="Cambria" pitchFamily="34" charset="-122"/>
                <a:cs typeface="Cambria" pitchFamily="34" charset="-120"/>
              </a:rPr>
              <a:t>OOPS</a:t>
            </a:r>
            <a:endParaRPr lang="en-US" sz="1400" dirty="0"/>
          </a:p>
        </p:txBody>
      </p:sp>
      <p:sp>
        <p:nvSpPr>
          <p:cNvPr id="9" name="Text 7"/>
          <p:cNvSpPr txBox="1"/>
          <p:nvPr/>
        </p:nvSpPr>
        <p:spPr>
          <a:xfrm>
            <a:off x="3291840" y="3438144"/>
            <a:ext cx="8321040" cy="8229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Archive gốc ~45GB. Tải dạng stream, chỉ giữ 818 video thuộc OF-ItW (~2,6GB), đổi tên theo quy ước của OmniFall.</a:t>
            </a:r>
            <a:endParaRPr lang="en-US" sz="1250" dirty="0"/>
          </a:p>
        </p:txBody>
      </p:sp>
      <p:sp>
        <p:nvSpPr>
          <p:cNvPr id="10" name="Text 8"/>
          <p:cNvSpPr txBox="1"/>
          <p:nvPr/>
        </p:nvSpPr>
        <p:spPr>
          <a:xfrm>
            <a:off x="548640" y="4334256"/>
            <a:ext cx="2651760" cy="822960"/>
          </a:xfrm>
          <a:prstGeom prst="rect">
            <a:avLst/>
          </a:prstGeom>
          <a:noFill/>
          <a:ln/>
        </p:spPr>
        <p:txBody>
          <a:bodyPr wrap="square" lIns="0" tIns="0" rIns="0" bIns="0" rtlCol="0" anchor="t"/>
          <a:lstStyle/>
          <a:p>
            <a:pPr indent="0" marL="0">
              <a:buNone/>
            </a:pPr>
            <a:r>
              <a:rPr lang="en-US" sz="1400" b="1" dirty="0">
                <a:solidFill>
                  <a:srgbClr val="1B2A4A"/>
                </a:solidFill>
                <a:latin typeface="Cambria" pitchFamily="34" charset="0"/>
                <a:ea typeface="Cambria" pitchFamily="34" charset="-122"/>
                <a:cs typeface="Cambria" pitchFamily="34" charset="-120"/>
              </a:rPr>
              <a:t>Nhãn</a:t>
            </a:r>
            <a:endParaRPr lang="en-US" sz="1400" dirty="0"/>
          </a:p>
        </p:txBody>
      </p:sp>
      <p:sp>
        <p:nvSpPr>
          <p:cNvPr id="11" name="Text 9"/>
          <p:cNvSpPr txBox="1"/>
          <p:nvPr/>
        </p:nvSpPr>
        <p:spPr>
          <a:xfrm>
            <a:off x="3291840" y="4334256"/>
            <a:ext cx="8321040" cy="8229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Gộp 16 lớp về 10 lớp lõi. Nhãn tính theo giây, không theo chỉ số khung hình.</a:t>
            </a:r>
            <a:endParaRPr lang="en-US" sz="1250" dirty="0"/>
          </a:p>
        </p:txBody>
      </p:sp>
      <p:sp>
        <p:nvSpPr>
          <p:cNvPr id="12" name="Text 10"/>
          <p:cNvSpPr txBox="1"/>
          <p:nvPr/>
        </p:nvSpPr>
        <p:spPr>
          <a:xfrm>
            <a:off x="548640" y="5230368"/>
            <a:ext cx="2651760" cy="822960"/>
          </a:xfrm>
          <a:prstGeom prst="rect">
            <a:avLst/>
          </a:prstGeom>
          <a:noFill/>
          <a:ln/>
        </p:spPr>
        <p:txBody>
          <a:bodyPr wrap="square" lIns="0" tIns="0" rIns="0" bIns="0" rtlCol="0" anchor="t"/>
          <a:lstStyle/>
          <a:p>
            <a:pPr indent="0" marL="0">
              <a:buNone/>
            </a:pPr>
            <a:r>
              <a:rPr lang="en-US" sz="1400" b="1" dirty="0">
                <a:solidFill>
                  <a:srgbClr val="1B2A4A"/>
                </a:solidFill>
                <a:latin typeface="Cambria" pitchFamily="34" charset="0"/>
                <a:ea typeface="Cambria" pitchFamily="34" charset="-122"/>
                <a:cs typeface="Cambria" pitchFamily="34" charset="-120"/>
              </a:rPr>
              <a:t>Dọn dẹp</a:t>
            </a:r>
            <a:endParaRPr lang="en-US" sz="1400" dirty="0"/>
          </a:p>
        </p:txBody>
      </p:sp>
      <p:sp>
        <p:nvSpPr>
          <p:cNvPr id="13" name="Text 11"/>
          <p:cNvSpPr txBox="1"/>
          <p:nvPr/>
        </p:nvSpPr>
        <p:spPr>
          <a:xfrm>
            <a:off x="3291840" y="5230368"/>
            <a:ext cx="8321040" cy="82296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Chỉ xoá video gốc sau khi đếm đủ số file .h5 (vd 12.000/12.000, 818/818) để không mất dữ liệu.</a:t>
            </a:r>
            <a:endParaRPr lang="en-US" sz="1250" dirty="0"/>
          </a:p>
        </p:txBody>
      </p:sp>
      <p:sp>
        <p:nvSpPr>
          <p:cNvPr id="14" name="Text 1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KẾT QUẢ: DỮ LIỆU TEST</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Tập test lệch mạnh: lying và lie_down gần như không có</a:t>
            </a:r>
            <a:endParaRPr lang="en-US" sz="3000" dirty="0"/>
          </a:p>
        </p:txBody>
      </p:sp>
      <p:graphicFrame>
        <p:nvGraphicFramePr>
          <p:cNvPr id="4" name="Chart 0" descr=""/>
          <p:cNvGraphicFramePr/>
          <p:nvPr/>
        </p:nvGraphicFramePr>
        <p:xfrm>
          <a:off x="548640" y="16002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737360"/>
            <a:ext cx="3749040" cy="1280160"/>
          </a:xfrm>
          <a:prstGeom prst="roundRect">
            <a:avLst>
              <a:gd name="adj" fmla="val 7143"/>
            </a:avLst>
          </a:prstGeom>
          <a:solidFill>
            <a:srgbClr val="E8EDF7"/>
          </a:solidFill>
          <a:ln/>
        </p:spPr>
      </p:sp>
      <p:sp>
        <p:nvSpPr>
          <p:cNvPr id="6" name="Text 3"/>
          <p:cNvSpPr txBox="1"/>
          <p:nvPr/>
        </p:nvSpPr>
        <p:spPr>
          <a:xfrm>
            <a:off x="8092440" y="1828800"/>
            <a:ext cx="3291840" cy="640080"/>
          </a:xfrm>
          <a:prstGeom prst="rect">
            <a:avLst/>
          </a:prstGeom>
          <a:noFill/>
          <a:ln/>
        </p:spPr>
        <p:txBody>
          <a:bodyPr wrap="square" lIns="0" tIns="0" rIns="0" bIns="0" rtlCol="0" anchor="ctr"/>
          <a:lstStyle/>
          <a:p>
            <a:pPr indent="0" marL="0">
              <a:buNone/>
            </a:pPr>
            <a:r>
              <a:rPr lang="en-US" sz="3200" b="1" dirty="0">
                <a:solidFill>
                  <a:srgbClr val="C8213B"/>
                </a:solidFill>
                <a:latin typeface="Cambria" pitchFamily="34" charset="0"/>
                <a:ea typeface="Cambria" pitchFamily="34" charset="-122"/>
                <a:cs typeface="Cambria" pitchFamily="34" charset="-120"/>
              </a:rPr>
              <a:t>318</a:t>
            </a:r>
            <a:endParaRPr lang="en-US" sz="3200" dirty="0"/>
          </a:p>
        </p:txBody>
      </p:sp>
      <p:sp>
        <p:nvSpPr>
          <p:cNvPr id="7" name="Text 4"/>
          <p:cNvSpPr txBox="1"/>
          <p:nvPr/>
        </p:nvSpPr>
        <p:spPr>
          <a:xfrm>
            <a:off x="8092440" y="2514600"/>
            <a:ext cx="3291840" cy="36576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segment fallen</a:t>
            </a:r>
            <a:endParaRPr lang="en-US" sz="1300" dirty="0"/>
          </a:p>
        </p:txBody>
      </p:sp>
      <p:sp>
        <p:nvSpPr>
          <p:cNvPr id="8" name="Shape 5"/>
          <p:cNvSpPr/>
          <p:nvPr/>
        </p:nvSpPr>
        <p:spPr>
          <a:xfrm>
            <a:off x="7863840" y="3200400"/>
            <a:ext cx="3749040" cy="1280160"/>
          </a:xfrm>
          <a:prstGeom prst="roundRect">
            <a:avLst>
              <a:gd name="adj" fmla="val 7143"/>
            </a:avLst>
          </a:prstGeom>
          <a:solidFill>
            <a:srgbClr val="E8EDF7"/>
          </a:solidFill>
          <a:ln/>
        </p:spPr>
      </p:sp>
      <p:sp>
        <p:nvSpPr>
          <p:cNvPr id="9" name="Text 6"/>
          <p:cNvSpPr txBox="1"/>
          <p:nvPr/>
        </p:nvSpPr>
        <p:spPr>
          <a:xfrm>
            <a:off x="8092440" y="3291840"/>
            <a:ext cx="3291840" cy="640080"/>
          </a:xfrm>
          <a:prstGeom prst="rect">
            <a:avLst/>
          </a:prstGeom>
          <a:noFill/>
          <a:ln/>
        </p:spPr>
        <p:txBody>
          <a:bodyPr wrap="square" lIns="0" tIns="0" rIns="0" bIns="0" rtlCol="0" anchor="ctr"/>
          <a:lstStyle/>
          <a:p>
            <a:pPr indent="0" marL="0">
              <a:buNone/>
            </a:pPr>
            <a:r>
              <a:rPr lang="en-US" sz="3200" b="1" dirty="0">
                <a:solidFill>
                  <a:srgbClr val="D98E04"/>
                </a:solidFill>
                <a:latin typeface="Cambria" pitchFamily="34" charset="0"/>
                <a:ea typeface="Cambria" pitchFamily="34" charset="-122"/>
                <a:cs typeface="Cambria" pitchFamily="34" charset="-120"/>
              </a:rPr>
              <a:t>28</a:t>
            </a:r>
            <a:endParaRPr lang="en-US" sz="3200" dirty="0"/>
          </a:p>
        </p:txBody>
      </p:sp>
      <p:sp>
        <p:nvSpPr>
          <p:cNvPr id="10" name="Text 7"/>
          <p:cNvSpPr txBox="1"/>
          <p:nvPr/>
        </p:nvSpPr>
        <p:spPr>
          <a:xfrm>
            <a:off x="8092440" y="3977640"/>
            <a:ext cx="3291840" cy="36576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segment lying + lie_down</a:t>
            </a:r>
            <a:endParaRPr lang="en-US" sz="1300" dirty="0"/>
          </a:p>
        </p:txBody>
      </p:sp>
      <p:sp>
        <p:nvSpPr>
          <p:cNvPr id="11" name="Text 8"/>
          <p:cNvSpPr txBox="1"/>
          <p:nvPr/>
        </p:nvSpPr>
        <p:spPr>
          <a:xfrm>
            <a:off x="7863840" y="4754880"/>
            <a:ext cx="3749040" cy="128016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Vì vậy kết luận chủ yếu dựa trên cặp fall ↔ fallen. Vế fallen ↔ lying chưa kiểm chứng được trên tập test này.</a:t>
            </a:r>
            <a:endParaRPr lang="en-US" sz="1250" dirty="0"/>
          </a:p>
        </p:txBody>
      </p:sp>
      <p:sp>
        <p:nvSpPr>
          <p:cNvPr id="12" name="Text 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KẾT QUẢ: ẢNH HƯỞNG CỦA DỮ LIỆU</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Thêm dữ liệu không phải lúc nào cũng tốt hơn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1783080"/>
        </p:xfrm>
        <a:graphic>
          <a:graphicData uri="http://schemas.openxmlformats.org/drawingml/2006/table">
            <a:tbl>
              <a:tblPr/>
              <a:tblGrid>
                <a:gridCol w="4754880"/>
                <a:gridCol w="2103120"/>
                <a:gridCol w="2103120"/>
                <a:gridCol w="2103120"/>
              </a:tblGrid>
              <a:tr h="59436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Baseline huấn luyện trên</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Fallen-F1 (%)</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Fall-F1 (%)</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Fall∪Fallen F1 (%)</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594360">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3 bộ staged + OF-Syn (khuyến nghị)</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26,6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45,3</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55,5</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94360">
                <a:tc>
                  <a:txBody>
                    <a:bodyPr/>
                    <a:lstStyle/>
                    <a:p>
                      <a:pPr algn="l" indent="0" marL="0">
                        <a:buNone/>
                      </a:pPr>
                      <a:r>
                        <a:rPr lang="en-US" sz="1500" b="1" dirty="0">
                          <a:solidFill>
                            <a:srgbClr val="C8213B"/>
                          </a:solidFill>
                          <a:latin typeface="Calibri" pitchFamily="34" charset="0"/>
                          <a:ea typeface="Calibri" pitchFamily="34" charset="-122"/>
                          <a:cs typeface="Calibri" pitchFamily="34" charset="-120"/>
                        </a:rPr>
                        <a:t>Thêm MCFD (4 bộ staged + OF-Syn)</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500" dirty="0">
                          <a:solidFill>
                            <a:srgbClr val="C8213B"/>
                          </a:solidFill>
                          <a:latin typeface="Calibri" pitchFamily="34" charset="0"/>
                          <a:ea typeface="Calibri" pitchFamily="34" charset="-122"/>
                          <a:cs typeface="Calibri" pitchFamily="34" charset="-120"/>
                        </a:rPr>
                        <a:t>21,8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500" dirty="0">
                          <a:solidFill>
                            <a:srgbClr val="C8213B"/>
                          </a:solidFill>
                          <a:latin typeface="Calibri" pitchFamily="34" charset="0"/>
                          <a:ea typeface="Calibri" pitchFamily="34" charset="-122"/>
                          <a:cs typeface="Calibri" pitchFamily="34" charset="-120"/>
                        </a:rPr>
                        <a:t>41,3</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c>
                  <a:txBody>
                    <a:bodyPr/>
                    <a:lstStyle/>
                    <a:p>
                      <a:pPr algn="ctr" indent="0" marL="0">
                        <a:buNone/>
                      </a:pPr>
                      <a:r>
                        <a:rPr lang="en-US" sz="1500" dirty="0">
                          <a:solidFill>
                            <a:srgbClr val="C8213B"/>
                          </a:solidFill>
                          <a:latin typeface="Calibri" pitchFamily="34" charset="0"/>
                          <a:ea typeface="Calibri" pitchFamily="34" charset="-122"/>
                          <a:cs typeface="Calibri" pitchFamily="34" charset="-120"/>
                        </a:rPr>
                        <a:t>52,8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CEEF0"/>
                    </a:solidFill>
                  </a:tcPr>
                </a:tc>
              </a:tr>
            </a:tbl>
          </a:graphicData>
        </a:graphic>
      </p:graphicFrame>
      <p:sp>
        <p:nvSpPr>
          <p:cNvPr id="5" name="Text 2"/>
          <p:cNvSpPr txBox="1"/>
          <p:nvPr/>
        </p:nvSpPr>
        <p:spPr>
          <a:xfrm>
            <a:off x="548640" y="3657600"/>
            <a:ext cx="11064240" cy="548640"/>
          </a:xfrm>
          <a:prstGeom prst="rect">
            <a:avLst/>
          </a:prstGeom>
          <a:noFill/>
          <a:ln/>
        </p:spPr>
        <p:txBody>
          <a:bodyPr wrap="square" lIns="0" tIns="0" rIns="0" bIns="0" rtlCol="0" anchor="ctr"/>
          <a:lstStyle/>
          <a:p>
            <a:pPr indent="0" marL="0">
              <a:buNone/>
            </a:pPr>
            <a:r>
              <a:rPr lang="en-US" sz="1350" dirty="0">
                <a:solidFill>
                  <a:srgbClr val="44506B"/>
                </a:solidFill>
                <a:latin typeface="Calibri" pitchFamily="34" charset="0"/>
                <a:ea typeface="Calibri" pitchFamily="34" charset="-122"/>
                <a:cs typeface="Calibri" pitchFamily="34" charset="-120"/>
              </a:rPr>
              <a:t>Cả ba chỉ số đều giảm. Thêm bộ conditioning learnable (Hybrid) trên bản có MCFD cũng không cứu được: Fall∪Fallen chỉ 51,7%.</a:t>
            </a:r>
            <a:endParaRPr lang="en-US" sz="1350" dirty="0"/>
          </a:p>
        </p:txBody>
      </p:sp>
      <p:sp>
        <p:nvSpPr>
          <p:cNvPr id="6" name="Shape 3"/>
          <p:cNvSpPr/>
          <p:nvPr/>
        </p:nvSpPr>
        <p:spPr>
          <a:xfrm>
            <a:off x="548640" y="4434840"/>
            <a:ext cx="11064240" cy="1645920"/>
          </a:xfrm>
          <a:prstGeom prst="roundRect">
            <a:avLst>
              <a:gd name="adj" fmla="val 5556"/>
            </a:avLst>
          </a:prstGeom>
          <a:solidFill>
            <a:srgbClr val="1B2A4A"/>
          </a:solidFill>
          <a:ln/>
        </p:spPr>
      </p:sp>
      <p:sp>
        <p:nvSpPr>
          <p:cNvPr id="7" name="Text 4"/>
          <p:cNvSpPr txBox="1"/>
          <p:nvPr/>
        </p:nvSpPr>
        <p:spPr>
          <a:xfrm>
            <a:off x="868680" y="4434840"/>
            <a:ext cx="10424160" cy="1645920"/>
          </a:xfrm>
          <a:prstGeom prst="rect">
            <a:avLst/>
          </a:prstGeom>
          <a:noFill/>
          <a:ln/>
        </p:spPr>
        <p:txBody>
          <a:bodyPr wrap="square" lIns="0" tIns="0" rIns="0" bIns="0" rtlCol="0" anchor="ctr"/>
          <a:lstStyle/>
          <a:p>
            <a:pPr indent="0" marL="0">
              <a:buNone/>
            </a:pPr>
            <a:r>
              <a:rPr lang="en-US" sz="1350" b="1" dirty="0">
                <a:solidFill>
                  <a:srgbClr val="2E86AB"/>
                </a:solidFill>
                <a:latin typeface="Calibri" pitchFamily="34" charset="0"/>
                <a:ea typeface="Calibri" pitchFamily="34" charset="-122"/>
                <a:cs typeface="Calibri" pitchFamily="34" charset="-120"/>
              </a:rPr>
              <a:t>Giả thuyết (chưa kiểm chứng riêng):  </a:t>
            </a:r>
            <a:pPr indent="0" marL="0">
              <a:buNone/>
            </a:pPr>
            <a:r>
              <a:rPr lang="en-US" sz="1350" dirty="0">
                <a:solidFill>
                  <a:srgbClr val="E4E9F5"/>
                </a:solidFill>
                <a:latin typeface="Calibri" pitchFamily="34" charset="0"/>
                <a:ea typeface="Calibri" pitchFamily="34" charset="-122"/>
                <a:cs typeface="Calibri" pitchFamily="34" charset="-120"/>
              </a:rPr>
              <a:t>MCFD chỉ có 1 người thực hiện, quay bằng 8 camera Kinect đời cũ. Mô hình có thể học đặc điểm riêng của người đó và loại camera đó, làm giảm khả năng áp dụng sang video ngoài đời. Đa dạng người thực hiện quan trọng hơn số lượng video.</a:t>
            </a:r>
            <a:endParaRPr lang="en-US" sz="1350" dirty="0"/>
          </a:p>
        </p:txBody>
      </p:sp>
      <p:sp>
        <p:nvSpPr>
          <p:cNvPr id="8" name="Text 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KẾT QUẢ: MÔ HÌNH TRÊN TẬP TEST</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Với dữ liệu như trên, các phương pháp cho kết quả này</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2194560"/>
        </p:xfrm>
        <a:graphic>
          <a:graphicData uri="http://schemas.openxmlformats.org/drawingml/2006/table">
            <a:tbl>
              <a:tblPr/>
              <a:tblGrid>
                <a:gridCol w="2011680"/>
                <a:gridCol w="1280160"/>
                <a:gridCol w="1280160"/>
                <a:gridCol w="1280160"/>
              </a:tblGrid>
              <a:tr h="5486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Phương pháp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Fallen-F1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Fall-F1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Fall∪Fallen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548640">
                <a:tc>
                  <a:txBody>
                    <a:bodyPr/>
                    <a:lstStyle/>
                    <a:p>
                      <a:pPr algn="l" indent="0" marL="0">
                        <a:buNone/>
                      </a:pPr>
                      <a:r>
                        <a:rPr lang="en-US" sz="1400" dirty="0">
                          <a:solidFill>
                            <a:srgbClr val="44506B"/>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44506B"/>
                          </a:solidFill>
                          <a:latin typeface="Calibri" pitchFamily="34" charset="0"/>
                          <a:ea typeface="Calibri" pitchFamily="34" charset="-122"/>
                          <a:cs typeface="Calibri" pitchFamily="34" charset="-120"/>
                        </a:rPr>
                        <a:t>26,6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44506B"/>
                          </a:solidFill>
                          <a:latin typeface="Calibri" pitchFamily="34" charset="0"/>
                          <a:ea typeface="Calibri" pitchFamily="34" charset="-122"/>
                          <a:cs typeface="Calibri" pitchFamily="34" charset="-120"/>
                        </a:rPr>
                        <a:t>45,3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44506B"/>
                          </a:solidFill>
                          <a:latin typeface="Calibri" pitchFamily="34" charset="0"/>
                          <a:ea typeface="Calibri" pitchFamily="34" charset="-122"/>
                          <a:cs typeface="Calibri" pitchFamily="34" charset="-120"/>
                        </a:rPr>
                        <a:t>55,5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400" dirty="0">
                          <a:solidFill>
                            <a:srgbClr val="44506B"/>
                          </a:solidFill>
                          <a:latin typeface="Calibri" pitchFamily="34" charset="0"/>
                          <a:ea typeface="Calibri" pitchFamily="34" charset="-122"/>
                          <a:cs typeface="Calibri" pitchFamily="34" charset="-120"/>
                        </a:rPr>
                        <a:t>Rule-based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400" dirty="0">
                          <a:solidFill>
                            <a:srgbClr val="44506B"/>
                          </a:solidFill>
                          <a:latin typeface="Calibri" pitchFamily="34" charset="0"/>
                          <a:ea typeface="Calibri" pitchFamily="34" charset="-122"/>
                          <a:cs typeface="Calibri" pitchFamily="34" charset="-120"/>
                        </a:rPr>
                        <a:t>30,0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400" dirty="0">
                          <a:solidFill>
                            <a:srgbClr val="44506B"/>
                          </a:solidFill>
                          <a:latin typeface="Calibri" pitchFamily="34" charset="0"/>
                          <a:ea typeface="Calibri" pitchFamily="34" charset="-122"/>
                          <a:cs typeface="Calibri" pitchFamily="34" charset="-120"/>
                        </a:rPr>
                        <a:t>45,3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400" dirty="0">
                          <a:solidFill>
                            <a:srgbClr val="44506B"/>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r>
              <a:tr h="5486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Hybrid v8 (3 seed)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34,3 ± 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44,6 ± 0,9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57,1 ± 0,8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r>
            </a:tbl>
          </a:graphicData>
        </a:graphic>
      </p:graphicFrame>
      <p:sp>
        <p:nvSpPr>
          <p:cNvPr id="5" name="Text 2"/>
          <p:cNvSpPr txBox="1"/>
          <p:nvPr/>
        </p:nvSpPr>
        <p:spPr>
          <a:xfrm>
            <a:off x="548640" y="3977640"/>
            <a:ext cx="5852160" cy="548640"/>
          </a:xfrm>
          <a:prstGeom prst="rect">
            <a:avLst/>
          </a:prstGeom>
          <a:noFill/>
          <a:ln/>
        </p:spPr>
        <p:txBody>
          <a:bodyPr wrap="square" lIns="0" tIns="0" rIns="0" bIns="0" rtlCol="0" anchor="ctr"/>
          <a:lstStyle/>
          <a:p>
            <a:pPr indent="0" marL="0">
              <a:buNone/>
            </a:pPr>
            <a:r>
              <a:rPr lang="en-US" sz="1100" i="1" dirty="0">
                <a:solidFill>
                  <a:srgbClr val="8791A8"/>
                </a:solidFill>
                <a:latin typeface="Calibri" pitchFamily="34" charset="0"/>
                <a:ea typeface="Calibri" pitchFamily="34" charset="-122"/>
                <a:cs typeface="Calibri" pitchFamily="34" charset="-120"/>
              </a:rPr>
              <a:t>F1 tính theo %, trên 572 video / 2.804 segment. Hybrid v8: trung bình ± độ lệch chuẩn qua 3 seed.</a:t>
            </a:r>
            <a:endParaRPr lang="en-US" sz="1100" dirty="0"/>
          </a:p>
        </p:txBody>
      </p:sp>
      <p:sp>
        <p:nvSpPr>
          <p:cNvPr id="6" name="Text 3"/>
          <p:cNvSpPr txBox="1"/>
          <p:nvPr/>
        </p:nvSpPr>
        <p:spPr>
          <a:xfrm>
            <a:off x="548640" y="4663440"/>
            <a:ext cx="5852160" cy="14630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44506B"/>
                </a:solidFill>
                <a:latin typeface="Calibri" pitchFamily="34" charset="0"/>
                <a:ea typeface="Calibri" pitchFamily="34" charset="-122"/>
                <a:cs typeface="Calibri" pitchFamily="34" charset="-120"/>
              </a:rPr>
              <a:t>Fallen-F1 tăng 7,7 điểm so với baseline</a:t>
            </a:r>
            <a:endParaRPr lang="en-US" sz="1300" dirty="0"/>
          </a:p>
          <a:p>
            <a:pPr marL="342900" indent="-342900">
              <a:spcAft>
                <a:spcPts val="800"/>
              </a:spcAft>
              <a:buSzPct val="100000"/>
              <a:buChar char="•"/>
            </a:pPr>
            <a:r>
              <a:rPr lang="en-US" sz="1300" dirty="0">
                <a:solidFill>
                  <a:srgbClr val="44506B"/>
                </a:solidFill>
                <a:latin typeface="Calibri" pitchFamily="34" charset="0"/>
                <a:ea typeface="Calibri" pitchFamily="34" charset="-122"/>
                <a:cs typeface="Calibri" pitchFamily="34" charset="-120"/>
              </a:rPr>
              <a:t>Fall∪Fallen tăng 1,6 điểm; Fall-F1 giảm 0,7 điểm</a:t>
            </a:r>
            <a:endParaRPr lang="en-US" sz="1300" dirty="0"/>
          </a:p>
          <a:p>
            <a:pPr marL="342900" indent="-342900">
              <a:spcAft>
                <a:spcPts val="800"/>
              </a:spcAft>
              <a:buSzPct val="100000"/>
              <a:buChar char="•"/>
            </a:pPr>
            <a:r>
              <a:rPr lang="en-US" sz="1300" dirty="0">
                <a:solidFill>
                  <a:srgbClr val="44506B"/>
                </a:solidFill>
                <a:latin typeface="Calibri" pitchFamily="34" charset="0"/>
                <a:ea typeface="Calibri" pitchFamily="34" charset="-122"/>
                <a:cs typeface="Calibri" pitchFamily="34" charset="-120"/>
              </a:rPr>
              <a:t>Con số tuyệt đối còn thấp: dữ liệu ngoài đời rất khó</a:t>
            </a:r>
            <a:endParaRPr lang="en-US" sz="1300" dirty="0"/>
          </a:p>
        </p:txBody>
      </p:sp>
      <p:pic>
        <p:nvPicPr>
          <p:cNvPr id="7" name="Image 0" descr="C:\Users\MYPC\Downloads\omnifall-conditioning\omnifall-conditioning\figures\confusion_matrix_4class.png">    </p:cNvPr>
          <p:cNvPicPr>
            <a:picLocks noChangeAspect="1"/>
          </p:cNvPicPr>
          <p:nvPr/>
        </p:nvPicPr>
        <p:blipFill>
          <a:blip r:embed="rId1"/>
          <a:stretch>
            <a:fillRect/>
          </a:stretch>
        </p:blipFill>
        <p:spPr>
          <a:xfrm>
            <a:off x="6766560" y="2011680"/>
            <a:ext cx="4846320" cy="2768072"/>
          </a:xfrm>
          <a:prstGeom prst="rect">
            <a:avLst/>
          </a:prstGeom>
        </p:spPr>
      </p:pic>
      <p:sp>
        <p:nvSpPr>
          <p:cNvPr id="8" name="Text 4"/>
          <p:cNvSpPr txBox="1"/>
          <p:nvPr/>
        </p:nvSpPr>
        <p:spPr>
          <a:xfrm>
            <a:off x="6766560" y="4871192"/>
            <a:ext cx="4846320" cy="365760"/>
          </a:xfrm>
          <a:prstGeom prst="rect">
            <a:avLst/>
          </a:prstGeom>
          <a:noFill/>
          <a:ln/>
        </p:spPr>
        <p:txBody>
          <a:bodyPr wrap="square" lIns="0" tIns="0" rIns="0" bIns="0" rtlCol="0" anchor="ctr"/>
          <a:lstStyle/>
          <a:p>
            <a:pPr algn="ctr" indent="0" marL="0">
              <a:buNone/>
            </a:pPr>
            <a:r>
              <a:rPr lang="en-US" sz="1100" i="1" dirty="0">
                <a:solidFill>
                  <a:srgbClr val="8791A8"/>
                </a:solidFill>
                <a:latin typeface="Calibri" pitchFamily="34" charset="0"/>
                <a:ea typeface="Calibri" pitchFamily="34" charset="-122"/>
                <a:cs typeface="Calibri" pitchFamily="34" charset="-120"/>
              </a:rPr>
              <a:t>Confusion matrix 4 lớp, Baseline và Hybrid v8</a:t>
            </a:r>
            <a:endParaRPr lang="en-US" sz="1100" dirty="0"/>
          </a:p>
        </p:txBody>
      </p:sp>
      <p:sp>
        <p:nvSpPr>
          <p:cNvPr id="9" name="Text 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HẠN CHẾ CỦA DỮ LIỆU</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Những điều bộ dữ liệu này chưa cho phép kết luận</a:t>
            </a:r>
            <a:endParaRPr lang="en-US" sz="3000" dirty="0"/>
          </a:p>
        </p:txBody>
      </p:sp>
      <p:sp>
        <p:nvSpPr>
          <p:cNvPr id="4" name="Shape 2"/>
          <p:cNvSpPr/>
          <p:nvPr/>
        </p:nvSpPr>
        <p:spPr>
          <a:xfrm>
            <a:off x="548640" y="1645920"/>
            <a:ext cx="73152" cy="914400"/>
          </a:xfrm>
          <a:prstGeom prst="rect">
            <a:avLst/>
          </a:prstGeom>
          <a:solidFill>
            <a:srgbClr val="C8213B"/>
          </a:solidFill>
          <a:ln/>
        </p:spPr>
      </p:sp>
      <p:sp>
        <p:nvSpPr>
          <p:cNvPr id="5" name="Text 3"/>
          <p:cNvSpPr txBox="1"/>
          <p:nvPr/>
        </p:nvSpPr>
        <p:spPr>
          <a:xfrm>
            <a:off x="868680" y="1645920"/>
            <a:ext cx="3108960" cy="91440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Lying quá ít</a:t>
            </a:r>
            <a:endParaRPr lang="en-US" sz="1500" dirty="0"/>
          </a:p>
        </p:txBody>
      </p:sp>
      <p:sp>
        <p:nvSpPr>
          <p:cNvPr id="6" name="Text 4"/>
          <p:cNvSpPr txBox="1"/>
          <p:nvPr/>
        </p:nvSpPr>
        <p:spPr>
          <a:xfrm>
            <a:off x="4114800" y="1645920"/>
            <a:ext cx="7498080" cy="91440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Test chỉ có 17 lying và 11 lie_down. Chưa đánh giá được việc phân biệt fallen với lying, dù đó là động lực ban đầu của đề tài.</a:t>
            </a:r>
            <a:endParaRPr lang="en-US" sz="1300" dirty="0"/>
          </a:p>
        </p:txBody>
      </p:sp>
      <p:sp>
        <p:nvSpPr>
          <p:cNvPr id="7" name="Shape 5"/>
          <p:cNvSpPr/>
          <p:nvPr/>
        </p:nvSpPr>
        <p:spPr>
          <a:xfrm>
            <a:off x="548640" y="2743200"/>
            <a:ext cx="73152" cy="914400"/>
          </a:xfrm>
          <a:prstGeom prst="rect">
            <a:avLst/>
          </a:prstGeom>
          <a:solidFill>
            <a:srgbClr val="D98E04"/>
          </a:solidFill>
          <a:ln/>
        </p:spPr>
      </p:sp>
      <p:sp>
        <p:nvSpPr>
          <p:cNvPr id="8" name="Text 6"/>
          <p:cNvSpPr txBox="1"/>
          <p:nvPr/>
        </p:nvSpPr>
        <p:spPr>
          <a:xfrm>
            <a:off x="868680" y="2743200"/>
            <a:ext cx="3108960" cy="91440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Train lệch về dữ liệu tổng hợp</a:t>
            </a:r>
            <a:endParaRPr lang="en-US" sz="1500" dirty="0"/>
          </a:p>
        </p:txBody>
      </p:sp>
      <p:sp>
        <p:nvSpPr>
          <p:cNvPr id="9" name="Text 7"/>
          <p:cNvSpPr txBox="1"/>
          <p:nvPr/>
        </p:nvSpPr>
        <p:spPr>
          <a:xfrm>
            <a:off x="4114800" y="2743200"/>
            <a:ext cx="7498080" cy="91440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9.600 trên 9.877 video train (97%) là OF-Synthetic. Chỉ 277 video staged thật, ít người thực hiện, ít góc camera.</a:t>
            </a:r>
            <a:endParaRPr lang="en-US" sz="1300" dirty="0"/>
          </a:p>
        </p:txBody>
      </p:sp>
      <p:sp>
        <p:nvSpPr>
          <p:cNvPr id="10" name="Shape 8"/>
          <p:cNvSpPr/>
          <p:nvPr/>
        </p:nvSpPr>
        <p:spPr>
          <a:xfrm>
            <a:off x="548640" y="3840480"/>
            <a:ext cx="73152" cy="914400"/>
          </a:xfrm>
          <a:prstGeom prst="rect">
            <a:avLst/>
          </a:prstGeom>
          <a:solidFill>
            <a:srgbClr val="D98E04"/>
          </a:solidFill>
          <a:ln/>
        </p:spPr>
      </p:sp>
      <p:sp>
        <p:nvSpPr>
          <p:cNvPr id="11" name="Text 9"/>
          <p:cNvSpPr txBox="1"/>
          <p:nvPr/>
        </p:nvSpPr>
        <p:spPr>
          <a:xfrm>
            <a:off x="868680" y="3840480"/>
            <a:ext cx="3108960" cy="91440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Test chỉ một kiểu ngoài đời</a:t>
            </a:r>
            <a:endParaRPr lang="en-US" sz="1500" dirty="0"/>
          </a:p>
        </p:txBody>
      </p:sp>
      <p:sp>
        <p:nvSpPr>
          <p:cNvPr id="12" name="Text 10"/>
          <p:cNvSpPr txBox="1"/>
          <p:nvPr/>
        </p:nvSpPr>
        <p:spPr>
          <a:xfrm>
            <a:off x="4114800" y="3840480"/>
            <a:ext cx="7498080" cy="91440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OF-ItW lấy từ video tai nạn trên mạng. Chưa thử với camera giám sát trong nhà thật.</a:t>
            </a:r>
            <a:endParaRPr lang="en-US" sz="1300" dirty="0"/>
          </a:p>
        </p:txBody>
      </p:sp>
      <p:sp>
        <p:nvSpPr>
          <p:cNvPr id="13" name="Shape 11"/>
          <p:cNvSpPr/>
          <p:nvPr/>
        </p:nvSpPr>
        <p:spPr>
          <a:xfrm>
            <a:off x="548640" y="4937760"/>
            <a:ext cx="73152" cy="914400"/>
          </a:xfrm>
          <a:prstGeom prst="rect">
            <a:avLst/>
          </a:prstGeom>
          <a:solidFill>
            <a:srgbClr val="D98E04"/>
          </a:solidFill>
          <a:ln/>
        </p:spPr>
      </p:sp>
      <p:sp>
        <p:nvSpPr>
          <p:cNvPr id="14" name="Text 12"/>
          <p:cNvSpPr txBox="1"/>
          <p:nvPr/>
        </p:nvSpPr>
        <p:spPr>
          <a:xfrm>
            <a:off x="868680" y="4937760"/>
            <a:ext cx="3108960" cy="91440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Thiếu 5 bộ staged</a:t>
            </a:r>
            <a:endParaRPr lang="en-US" sz="1500" dirty="0"/>
          </a:p>
        </p:txBody>
      </p:sp>
      <p:sp>
        <p:nvSpPr>
          <p:cNvPr id="15" name="Text 13"/>
          <p:cNvSpPr txBox="1"/>
          <p:nvPr/>
        </p:nvSpPr>
        <p:spPr>
          <a:xfrm>
            <a:off x="4114800" y="4937760"/>
            <a:ext cx="7498080" cy="914400"/>
          </a:xfrm>
          <a:prstGeom prst="rect">
            <a:avLst/>
          </a:prstGeom>
          <a:noFill/>
          <a:ln/>
        </p:spPr>
        <p:txBody>
          <a:bodyPr wrap="square" lIns="0" tIns="0" rIns="0" bIns="0" rtlCol="0" anchor="t"/>
          <a:lstStyle/>
          <a:p>
            <a:pPr indent="0" marL="0">
              <a:buNone/>
            </a:pPr>
            <a:r>
              <a:rPr lang="en-US" sz="1300" dirty="0">
                <a:solidFill>
                  <a:srgbClr val="44506B"/>
                </a:solidFill>
                <a:latin typeface="Calibri" pitchFamily="34" charset="0"/>
                <a:ea typeface="Calibri" pitchFamily="34" charset="-122"/>
                <a:cs typeface="Calibri" pitchFamily="34" charset="-120"/>
              </a:rPr>
              <a:t>Chỉ 3 trong 8 bộ staged dùng được. Chưa biết kết quả đổi thế nào nếu có đủ CMDFall, UP-Fall, EDF, OCCU.</a:t>
            </a:r>
            <a:endParaRPr lang="en-US" sz="1300" dirty="0"/>
          </a:p>
        </p:txBody>
      </p:sp>
      <p:sp>
        <p:nvSpPr>
          <p:cNvPr id="16" name="Text 1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LIÊN KẾT NGUỒN</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Nơi lấy dữ liệu và mã nguồn</a:t>
            </a:r>
            <a:endParaRPr lang="en-US" sz="3000" dirty="0"/>
          </a:p>
        </p:txBody>
      </p:sp>
      <p:sp>
        <p:nvSpPr>
          <p:cNvPr id="4" name="Text 2"/>
          <p:cNvSpPr txBox="1"/>
          <p:nvPr/>
        </p:nvSpPr>
        <p:spPr>
          <a:xfrm>
            <a:off x="640080" y="1600200"/>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Bài báo OmniFall (arXiv)</a:t>
            </a:r>
            <a:endParaRPr lang="en-US" sz="1350" dirty="0"/>
          </a:p>
        </p:txBody>
      </p:sp>
      <p:sp>
        <p:nvSpPr>
          <p:cNvPr id="5" name="Text 3"/>
          <p:cNvSpPr txBox="1"/>
          <p:nvPr/>
        </p:nvSpPr>
        <p:spPr>
          <a:xfrm>
            <a:off x="4206240" y="1600200"/>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https://arxiv.org/abs/2505.19889</a:t>
            </a:r>
            <a:endParaRPr lang="en-US" sz="1250" dirty="0"/>
          </a:p>
        </p:txBody>
      </p:sp>
      <p:sp>
        <p:nvSpPr>
          <p:cNvPr id="6" name="Text 4"/>
          <p:cNvSpPr txBox="1"/>
          <p:nvPr/>
        </p:nvSpPr>
        <p:spPr>
          <a:xfrm>
            <a:off x="640080" y="2112264"/>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Trang dự án OmniFall</a:t>
            </a:r>
            <a:endParaRPr lang="en-US" sz="1350" dirty="0"/>
          </a:p>
        </p:txBody>
      </p:sp>
      <p:sp>
        <p:nvSpPr>
          <p:cNvPr id="7" name="Text 5"/>
          <p:cNvSpPr txBox="1"/>
          <p:nvPr/>
        </p:nvSpPr>
        <p:spPr>
          <a:xfrm>
            <a:off x="4206240" y="2112264"/>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https://dsch.ai/omnifall/</a:t>
            </a:r>
            <a:endParaRPr lang="en-US" sz="1250" dirty="0"/>
          </a:p>
        </p:txBody>
      </p:sp>
      <p:sp>
        <p:nvSpPr>
          <p:cNvPr id="8" name="Text 6"/>
          <p:cNvSpPr txBox="1"/>
          <p:nvPr/>
        </p:nvSpPr>
        <p:spPr>
          <a:xfrm>
            <a:off x="640080" y="2624328"/>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Dataset trên Hugging Face</a:t>
            </a:r>
            <a:endParaRPr lang="en-US" sz="1350" dirty="0"/>
          </a:p>
        </p:txBody>
      </p:sp>
      <p:sp>
        <p:nvSpPr>
          <p:cNvPr id="9" name="Text 7"/>
          <p:cNvSpPr txBox="1"/>
          <p:nvPr/>
        </p:nvSpPr>
        <p:spPr>
          <a:xfrm>
            <a:off x="4206240" y="2624328"/>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https://huggingface.co/datasets/simplexsigil2/omnifall</a:t>
            </a:r>
            <a:endParaRPr lang="en-US" sz="1250" dirty="0"/>
          </a:p>
        </p:txBody>
      </p:sp>
      <p:sp>
        <p:nvSpPr>
          <p:cNvPr id="10" name="Text 8"/>
          <p:cNvSpPr txBox="1"/>
          <p:nvPr/>
        </p:nvSpPr>
        <p:spPr>
          <a:xfrm>
            <a:off x="640080" y="3136392"/>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Mã baseline chính thức</a:t>
            </a:r>
            <a:endParaRPr lang="en-US" sz="1350" dirty="0"/>
          </a:p>
        </p:txBody>
      </p:sp>
      <p:sp>
        <p:nvSpPr>
          <p:cNvPr id="11" name="Text 9"/>
          <p:cNvSpPr txBox="1"/>
          <p:nvPr/>
        </p:nvSpPr>
        <p:spPr>
          <a:xfrm>
            <a:off x="4206240" y="3136392"/>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https://github.com/simplexsigil/omnifall-experiments</a:t>
            </a:r>
            <a:endParaRPr lang="en-US" sz="1250" dirty="0"/>
          </a:p>
        </p:txBody>
      </p:sp>
      <p:sp>
        <p:nvSpPr>
          <p:cNvPr id="12" name="Text 10"/>
          <p:cNvSpPr txBox="1"/>
          <p:nvPr/>
        </p:nvSpPr>
        <p:spPr>
          <a:xfrm>
            <a:off x="640080" y="3648456"/>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OOPS (nguồn OF-ItW)</a:t>
            </a:r>
            <a:endParaRPr lang="en-US" sz="1350" dirty="0"/>
          </a:p>
        </p:txBody>
      </p:sp>
      <p:sp>
        <p:nvSpPr>
          <p:cNvPr id="13" name="Text 11"/>
          <p:cNvSpPr txBox="1"/>
          <p:nvPr/>
        </p:nvSpPr>
        <p:spPr>
          <a:xfrm>
            <a:off x="4206240" y="3648456"/>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https://oops.cs.columbia.edu</a:t>
            </a:r>
            <a:endParaRPr lang="en-US" sz="1250" dirty="0"/>
          </a:p>
        </p:txBody>
      </p:sp>
      <p:sp>
        <p:nvSpPr>
          <p:cNvPr id="14" name="Text 12"/>
          <p:cNvSpPr txBox="1"/>
          <p:nvPr/>
        </p:nvSpPr>
        <p:spPr>
          <a:xfrm>
            <a:off x="640080" y="4160520"/>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GMDCSA24</a:t>
            </a:r>
            <a:endParaRPr lang="en-US" sz="1350" dirty="0"/>
          </a:p>
        </p:txBody>
      </p:sp>
      <p:sp>
        <p:nvSpPr>
          <p:cNvPr id="15" name="Text 13"/>
          <p:cNvSpPr txBox="1"/>
          <p:nvPr/>
        </p:nvSpPr>
        <p:spPr>
          <a:xfrm>
            <a:off x="4206240" y="4160520"/>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https://github.com/ekramalam/GMDCSA24-A-Dataset-for-Human-Fall-Detection-in-Videos</a:t>
            </a:r>
            <a:endParaRPr lang="en-US" sz="1250" dirty="0"/>
          </a:p>
        </p:txBody>
      </p:sp>
      <p:sp>
        <p:nvSpPr>
          <p:cNvPr id="16" name="Text 14"/>
          <p:cNvSpPr txBox="1"/>
          <p:nvPr/>
        </p:nvSpPr>
        <p:spPr>
          <a:xfrm>
            <a:off x="640080" y="4672584"/>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Le2i (bản trên Kaggle)</a:t>
            </a:r>
            <a:endParaRPr lang="en-US" sz="1350" dirty="0"/>
          </a:p>
        </p:txBody>
      </p:sp>
      <p:sp>
        <p:nvSpPr>
          <p:cNvPr id="17" name="Text 15"/>
          <p:cNvSpPr txBox="1"/>
          <p:nvPr/>
        </p:nvSpPr>
        <p:spPr>
          <a:xfrm>
            <a:off x="4206240" y="4672584"/>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https://www.kaggle.com/datasets/tuyenldvn/falldataset-imvia</a:t>
            </a:r>
            <a:endParaRPr lang="en-US" sz="1250" dirty="0"/>
          </a:p>
        </p:txBody>
      </p:sp>
      <p:sp>
        <p:nvSpPr>
          <p:cNvPr id="18" name="Text 16"/>
          <p:cNvSpPr txBox="1"/>
          <p:nvPr/>
        </p:nvSpPr>
        <p:spPr>
          <a:xfrm>
            <a:off x="640080" y="5184648"/>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CAUCAFall (Kaggle)</a:t>
            </a:r>
            <a:endParaRPr lang="en-US" sz="1350" dirty="0"/>
          </a:p>
        </p:txBody>
      </p:sp>
      <p:sp>
        <p:nvSpPr>
          <p:cNvPr id="19" name="Text 17"/>
          <p:cNvSpPr txBox="1"/>
          <p:nvPr/>
        </p:nvSpPr>
        <p:spPr>
          <a:xfrm>
            <a:off x="4206240" y="5184648"/>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https://www.kaggle.com/datasets/tuyenldvn/caucafall</a:t>
            </a:r>
            <a:endParaRPr lang="en-US" sz="1250" dirty="0"/>
          </a:p>
        </p:txBody>
      </p:sp>
      <p:sp>
        <p:nvSpPr>
          <p:cNvPr id="20" name="Text 18"/>
          <p:cNvSpPr txBox="1"/>
          <p:nvPr/>
        </p:nvSpPr>
        <p:spPr>
          <a:xfrm>
            <a:off x="640080" y="5696712"/>
            <a:ext cx="34747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VideoMAE-K400 (backbone)</a:t>
            </a:r>
            <a:endParaRPr lang="en-US" sz="1350" dirty="0"/>
          </a:p>
        </p:txBody>
      </p:sp>
      <p:sp>
        <p:nvSpPr>
          <p:cNvPr id="21" name="Text 19"/>
          <p:cNvSpPr txBox="1"/>
          <p:nvPr/>
        </p:nvSpPr>
        <p:spPr>
          <a:xfrm>
            <a:off x="4206240" y="5696712"/>
            <a:ext cx="7498080" cy="457200"/>
          </a:xfrm>
          <a:prstGeom prst="rect">
            <a:avLst/>
          </a:prstGeom>
          <a:noFill/>
          <a:ln/>
        </p:spPr>
        <p:txBody>
          <a:bodyPr wrap="square" lIns="0" tIns="0" rIns="0" bIns="0" rtlCol="0" anchor="ctr"/>
          <a:lstStyle/>
          <a:p>
            <a:pPr indent="0" marL="0">
              <a:buNone/>
            </a:pPr>
            <a:r>
              <a:rPr lang="en-US" sz="1250" u="sng" dirty="0">
                <a:solidFill>
                  <a:srgbClr val="8EC9E8"/>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https://huggingface.co/MCG-NJU/videomae-base-finetuned-kinetics</a:t>
            </a:r>
            <a:endParaRPr lang="en-US" sz="1250" dirty="0"/>
          </a:p>
        </p:txBody>
      </p:sp>
      <p:sp>
        <p:nvSpPr>
          <p:cNvPr id="22" name="Text 20"/>
          <p:cNvSpPr txBox="1"/>
          <p:nvPr/>
        </p:nvSpPr>
        <p:spPr>
          <a:xfrm>
            <a:off x="640080" y="6263640"/>
            <a:ext cx="7315200" cy="365760"/>
          </a:xfrm>
          <a:prstGeom prst="rect">
            <a:avLst/>
          </a:prstGeom>
          <a:noFill/>
          <a:ln/>
        </p:spPr>
        <p:txBody>
          <a:bodyPr wrap="square" lIns="0" tIns="0" rIns="0" bIns="0" rtlCol="0" anchor="ctr"/>
          <a:lstStyle/>
          <a:p>
            <a:pPr indent="0" marL="0">
              <a:buNone/>
            </a:pPr>
            <a:r>
              <a:rPr lang="en-US" sz="1600" b="1" dirty="0">
                <a:solidFill>
                  <a:srgbClr val="AEB9D4"/>
                </a:solidFill>
                <a:latin typeface="Cambria" pitchFamily="34" charset="0"/>
                <a:ea typeface="Cambria" pitchFamily="34" charset="-122"/>
                <a:cs typeface="Cambria" pitchFamily="34" charset="-120"/>
              </a:rPr>
              <a:t>Cảm ơn đã lắng nghe</a:t>
            </a:r>
            <a:endParaRPr lang="en-US" sz="1600" dirty="0"/>
          </a:p>
        </p:txBody>
      </p:sp>
      <p:sp>
        <p:nvSpPr>
          <p:cNvPr id="23" name="Text 21"/>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EB9D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2026-10-07T03:17:24Z</dcterms:created>
  <dcterms:modified xsi:type="dcterms:W3CDTF">2026-10-07T03:17:24Z</dcterms:modified>
</cp:coreProperties>
</file>